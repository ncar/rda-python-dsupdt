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329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sf_ncar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96" y="402336"/>
            <a:ext cx="1892808" cy="521208"/>
          </a:xfrm>
          <a:prstGeom prst="rect">
            <a:avLst/>
          </a:prstGeom>
        </p:spPr>
      </p:pic>
      <p:pic>
        <p:nvPicPr>
          <p:cNvPr id="3" name="Image 1" descr="gdex_lockup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184" y="6126480"/>
            <a:ext cx="960120" cy="4846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12648" y="6437376"/>
            <a:ext cx="0" cy="201168"/>
          </a:xfrm>
          <a:prstGeom prst="line">
            <a:avLst/>
          </a:prstGeom>
          <a:noFill/>
          <a:ln w="9525">
            <a:solidFill>
              <a:srgbClr val="00357A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_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sf_ncar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96" y="402336"/>
            <a:ext cx="1892808" cy="5212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" y="6437376"/>
            <a:ext cx="0" cy="201168"/>
          </a:xfrm>
          <a:prstGeom prst="line">
            <a:avLst/>
          </a:prstGeom>
          <a:noFill/>
          <a:ln w="9525">
            <a:solidFill>
              <a:srgbClr val="00357A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CAR/rda-python-dsupd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dex-docs-dsupdt.readthedocs.io" TargetMode="External"/><Relationship Id="rId4" Type="http://schemas.openxmlformats.org/officeDocument/2006/relationships/hyperlink" Target="https://pypi.org/project/rda-python-dsupd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github.com/NCAR/rda-python-dsupd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dex-docs-dsupdt.readthedocs.io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CAR/rda-python-dsupdt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_ear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0"/>
            <a:ext cx="9107424" cy="6858000"/>
          </a:xfrm>
          <a:prstGeom prst="rect">
            <a:avLst/>
          </a:prstGeom>
        </p:spPr>
      </p:pic>
      <p:pic>
        <p:nvPicPr>
          <p:cNvPr id="3" name="Image 1" descr="co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686800" cy="6858000"/>
          </a:xfrm>
          <a:prstGeom prst="rect">
            <a:avLst/>
          </a:prstGeom>
        </p:spPr>
      </p:pic>
      <p:pic>
        <p:nvPicPr>
          <p:cNvPr id="4" name="Image 2" descr="nsf_ncar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758952"/>
            <a:ext cx="3794760" cy="1042416"/>
          </a:xfrm>
          <a:prstGeom prst="rect">
            <a:avLst/>
          </a:prstGeom>
        </p:spPr>
      </p:pic>
      <p:pic>
        <p:nvPicPr>
          <p:cNvPr id="5" name="Image 3" descr="gdex_lock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722376"/>
            <a:ext cx="2212848" cy="111556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2258568"/>
            <a:ext cx="210312" cy="3429000"/>
          </a:xfrm>
          <a:prstGeom prst="rect">
            <a:avLst/>
          </a:prstGeom>
          <a:solidFill>
            <a:srgbClr val="FAA1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"/>
          <p:cNvSpPr/>
          <p:nvPr/>
        </p:nvSpPr>
        <p:spPr>
          <a:xfrm>
            <a:off x="923544" y="2002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UPDATED AUGUST 2026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923544" y="23317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dsupdt: Periodic Dataset Updates for the GDEX Servers</a:t>
            </a:r>
            <a:endParaRPr lang="en-US" sz="2900" dirty="0"/>
          </a:p>
        </p:txBody>
      </p:sp>
      <p:sp>
        <p:nvSpPr>
          <p:cNvPr id="9" name="Text 3"/>
          <p:cNvSpPr/>
          <p:nvPr/>
        </p:nvSpPr>
        <p:spPr>
          <a:xfrm>
            <a:off x="923544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→ Build → Archive, scheduled and automated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923544" y="4581144"/>
            <a:ext cx="804672" cy="0"/>
          </a:xfrm>
          <a:prstGeom prst="line">
            <a:avLst/>
          </a:prstGeom>
          <a:noFill/>
          <a:ln w="38100">
            <a:solidFill>
              <a:srgbClr val="42C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923544" y="4828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Zaihua Ji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23544" y="5148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Engineer  •  zji@ucar.edu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23544" y="5559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 • GENERAL USAGE • COMPANION UTILITY TO DSARCH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923544" y="6217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Orchestrated by the dscheck daemon: dsupdt retrieves data from remote servers, assembles archive-ready local files, and hands them to dsarch for archiving onto the GDEX Servers.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dsupdt?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</a:t>
            </a:r>
            <a:r>
              <a:rPr lang="en-US" sz="16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performs </a:t>
            </a:r>
            <a:r>
              <a:rPr lang="en-US" sz="16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periodic dataset updates</a:t>
            </a:r>
            <a:r>
              <a:rPr lang="en-US" sz="16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it retrieves data from remote servers, assembles archive-ready local files, and hands them to </a:t>
            </a:r>
            <a:r>
              <a:rPr lang="en-US" sz="16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dsarch</a:t>
            </a:r>
            <a:r>
              <a:rPr lang="en-US" sz="16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archiving onto the GDEX Servers.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4846320" cy="2788920"/>
          </a:xfrm>
          <a:prstGeom prst="roundRect">
            <a:avLst>
              <a:gd name="adj" fmla="val 3279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109728" cy="2788920"/>
          </a:xfrm>
          <a:prstGeom prst="rect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401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Configured per dataset in GDEXDB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785616"/>
            <a:ext cx="4279392" cy="0"/>
          </a:xfrm>
          <a:prstGeom prst="line">
            <a:avLst/>
          </a:prstGeom>
          <a:noFill/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895344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operational datasets run under </a:t>
            </a:r>
            <a:r>
              <a:rPr lang="en-US" sz="12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/ dsarch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configuration spans three record types.</a:t>
            </a:r>
            <a:endParaRPr lang="en-US" sz="1250" dirty="0"/>
          </a:p>
          <a:p>
            <a:pPr marL="190500" indent="-1905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 records from the CLI (</a:t>
            </a:r>
            <a:r>
              <a:rPr lang="en-US" sz="12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-GA / -SA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or the web Config Editor (next slide).</a:t>
            </a:r>
            <a:endParaRPr lang="en-US" sz="1250" dirty="0"/>
          </a:p>
          <a:p>
            <a:pPr marL="190500" indent="-1905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the owning specialist may run an update record (override with </a:t>
            </a:r>
            <a:r>
              <a:rPr lang="en-US" sz="12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-MD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).</a:t>
            </a:r>
            <a:endParaRPr lang="en-US" sz="1250" dirty="0"/>
          </a:p>
          <a:p>
            <a:pPr marL="190500" indent="-1905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files must be named </a:t>
            </a:r>
            <a:r>
              <a:rPr lang="en-US" sz="12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dNNNNNN.*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guard against the wrong dataset.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15000" y="15087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16168" y="1728216"/>
            <a:ext cx="566928" cy="566928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16168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1122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controls, local &amp; remote file records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15087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08008" y="1728216"/>
            <a:ext cx="566928" cy="56692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08008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921240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21240" y="21122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copy / fetch server files to a working area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31089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16168" y="3328416"/>
            <a:ext cx="566928" cy="566928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16168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 &amp; Build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37124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specialist routines, tar &amp; compress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31089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08008" y="3328416"/>
            <a:ext cx="566928" cy="56692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08008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☁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92124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21240" y="37124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 local files to dsarch → GDEX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15000" y="47091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16168" y="4928616"/>
            <a:ext cx="566928" cy="566928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16168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✗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4910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29400" y="53126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temporary files after success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06840" y="47091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08008" y="4928616"/>
            <a:ext cx="566928" cy="56692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208008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921240" y="4910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921240" y="53126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remote-file availability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IT &amp; LEARN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 &amp; Resources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2736" cy="128016"/>
          </a:xfrm>
          <a:prstGeom prst="rect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75688"/>
            <a:ext cx="566928" cy="566928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2549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code, issues, and contributions.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37033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NCAR/rda-python-dsupdt.git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3054096" cy="0"/>
          </a:xfrm>
          <a:prstGeom prst="line">
            <a:avLst/>
          </a:prstGeom>
          <a:noFill/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85546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050" b="1" u="sng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github.com/NCAR/rda-python-dsupdt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69164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3602736" cy="128016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075688"/>
            <a:ext cx="566928" cy="566928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20756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PyPI Package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82549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 the released package with pip.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370332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0016" y="37033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rda_python_dsupdt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4800600"/>
            <a:ext cx="3054096" cy="0"/>
          </a:xfrm>
          <a:prstGeom prst="line">
            <a:avLst/>
          </a:prstGeom>
          <a:noFill/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485546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050" b="1" u="sng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pypi.org/project/rda-python-dsupdt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169164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38160" y="1691640"/>
            <a:ext cx="3602736" cy="128016"/>
          </a:xfrm>
          <a:prstGeom prst="rect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12480" y="2075688"/>
            <a:ext cx="566928" cy="566928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248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98280" y="20756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2825496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the Docs, built from the GitHub repo gdex-docs-dsupdt.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12480" y="4800600"/>
            <a:ext cx="3054096" cy="0"/>
          </a:xfrm>
          <a:prstGeom prst="line">
            <a:avLst/>
          </a:prstGeom>
          <a:noFill/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485546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5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en-US" sz="1050" b="1" u="sng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gdex-docs-dsupdt.readthedocs.io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58704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console command:  </a:t>
            </a: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installing the package puts the  </a:t>
            </a:r>
            <a:r>
              <a:rPr lang="en-US" sz="13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</a:t>
            </a: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command on your  </a:t>
            </a:r>
            <a:r>
              <a:rPr lang="en-US" sz="13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— run  </a:t>
            </a:r>
            <a:r>
              <a:rPr lang="en-US" sz="13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-h</a:t>
            </a: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to get started.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Five-Stage Update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DCEBF7"/>
          </a:solidFill>
          <a:ln w="2540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9576" y="2267712"/>
            <a:ext cx="640080" cy="64008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79576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 Files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original files on the remote server or a local area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2011680"/>
            <a:ext cx="2834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16352" y="201168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DCEBF7"/>
          </a:solidFill>
          <a:ln w="254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93008" y="2267712"/>
            <a:ext cx="640080" cy="640080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3008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07792" y="29992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Files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34747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staged in the working directory (-WD)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11680"/>
            <a:ext cx="2834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29784" y="201168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DCEBF7"/>
          </a:solidFill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06440" y="2267712"/>
            <a:ext cx="640080" cy="64008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21224" y="29992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Files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66944" y="34747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validated, converted, tarred / compressed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41464" y="2011680"/>
            <a:ext cx="2834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9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443216" y="201168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DCEBF7"/>
          </a:solidFill>
          <a:ln w="25400">
            <a:solidFill>
              <a:srgbClr val="C2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19872" y="2267712"/>
            <a:ext cx="640080" cy="640080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19872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534656" y="29992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dsarch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80376" y="34747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action AS / AW / AQ applied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54896" y="2011680"/>
            <a:ext cx="2834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756648" y="201168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011837"/>
          </a:solidFill>
          <a:ln w="25400">
            <a:solidFill>
              <a:srgbClr val="01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433304" y="2267712"/>
            <a:ext cx="640080" cy="640080"/>
          </a:xfrm>
          <a:prstGeom prst="ellipse">
            <a:avLst/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33304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848088" y="299923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GDEX Servers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93808" y="347472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3D7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published &amp; discoverable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89204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1520" y="5138928"/>
            <a:ext cx="731520" cy="73152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51389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⌘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645920" y="50749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command runs the whole chain. 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-UF (-UpdateFile)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performs all stages end-to-end. The individual steps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-DR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-BL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-PB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-AF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-CF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let you drive each stage separately.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Record Types in GDEXDB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0057C2"/>
            </a:solidFill>
            <a:prstDash val="solid"/>
          </a:ln>
          <a:effectLst>
            <a:outerShdw blurRad="762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11880" cy="502920"/>
          </a:xfrm>
          <a:prstGeom prst="rect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Control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dcupdt   </a:t>
            </a: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-SC / -GC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Schedules when updates run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frequency, offset, retry, valid interval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&amp; error controls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Launched by the dscheck daemon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5112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0092DB"/>
            </a:solidFill>
            <a:prstDash val="solid"/>
          </a:ln>
          <a:effectLst>
            <a:outerShdw blurRad="762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25112" y="15544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25112" y="2103120"/>
            <a:ext cx="3611880" cy="502920"/>
          </a:xfrm>
          <a:prstGeom prst="rect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53712" y="16824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File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53712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dlupdt   </a:t>
            </a: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-SL / -GL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9432" y="28346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config for an update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file name &amp; dsarch action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/ build / clean commands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Tracks next end date/hour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93024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762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93024" y="15544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93024" y="2103120"/>
            <a:ext cx="3611880" cy="50292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21624" y="16824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File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21624" y="2121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drupdt   </a:t>
            </a: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-SR / -GR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67344" y="28346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when remote ≠ local name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Many remotes → one local file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 file &amp; download order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Remote-file frequency (many → one)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581558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→ edit → Set:  </a:t>
            </a:r>
            <a:r>
              <a:rPr lang="en-US" sz="130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-GA (-GetAll)</a:t>
            </a:r>
            <a:r>
              <a:rPr lang="en-US" sz="13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dumps all three sections;  </a:t>
            </a:r>
            <a:r>
              <a:rPr lang="en-US" sz="130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-SA (-SetAll)</a:t>
            </a:r>
            <a:r>
              <a:rPr lang="en-US" sz="13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applies an edited file back to GDEXDB.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Anatomy of a Command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</a:t>
            </a:r>
            <a:r>
              <a:rPr lang="en-US" sz="2200" dirty="0">
                <a:solidFill>
                  <a:srgbClr val="C3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[-DS dNNNNNN] </a:t>
            </a:r>
            <a:r>
              <a:rPr lang="en-US" sz="2200" b="1" dirty="0">
                <a:solidFill>
                  <a:srgbClr val="C25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&lt;Action&gt; </a:t>
            </a:r>
            <a:r>
              <a:rPr lang="en-US" sz="220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[Mode…] </a:t>
            </a:r>
            <a:r>
              <a:rPr lang="en-US" sz="2200" b="1" dirty="0">
                <a:solidFill>
                  <a:srgbClr val="C3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[Info…]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DCEBF7"/>
          </a:solidFill>
          <a:ln w="25400">
            <a:solidFill>
              <a:srgbClr val="C2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898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83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51760" y="2926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per run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Selects the task. Takes no value. E.g. -UF, -GC, -SL, -AF. Some actions imply others.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2697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DCEBF7"/>
          </a:solidFill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2898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519672" y="2926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or more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81144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Modifies behavior; takes no value. E.g. -MU, -FU, -RA, -NE, -GZ.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93024" y="2697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DCEBF7"/>
          </a:solidFill>
          <a:ln w="254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49056" y="2898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5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387584" y="29260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87584" y="2926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Carries 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49056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Supplies values: dataset, indices, dates, file names, commands. E.g. -CI, -ED, -LF.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07492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13892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Notation &amp; filters   </a:t>
            </a:r>
            <a:r>
              <a:rPr lang="en-US" sz="13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(A|B)</a:t>
            </a: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short|long form  •  option names are case-insensitive, values are not  •  Get-style filters accept  </a:t>
            </a:r>
            <a:r>
              <a:rPr lang="en-US" sz="13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&lt; &gt; &lt;&gt;</a:t>
            </a: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•  the first  </a:t>
            </a:r>
            <a:r>
              <a:rPr lang="en-US" sz="13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-DS</a:t>
            </a: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may omit its option name.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2011680"/>
            <a:ext cx="384048" cy="384048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a single option's help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2121408"/>
            <a:ext cx="4434840" cy="502920"/>
          </a:xfrm>
          <a:prstGeom prst="roundRect">
            <a:avLst>
              <a:gd name="adj" fmla="val 9091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17320" y="21214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-h -UF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73952" y="2011680"/>
            <a:ext cx="384048" cy="38404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update control records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2121408"/>
            <a:ext cx="4434840" cy="502920"/>
          </a:xfrm>
          <a:prstGeom prst="roundRect">
            <a:avLst>
              <a:gd name="adj" fmla="val 9091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21214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d540000 -GC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" y="3511296"/>
            <a:ext cx="384048" cy="38404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369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local file records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80160" y="3621024"/>
            <a:ext cx="4434840" cy="502920"/>
          </a:xfrm>
          <a:prstGeom prst="roundRect">
            <a:avLst>
              <a:gd name="adj" fmla="val 9091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36210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d540000 -GL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054096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73952" y="3511296"/>
            <a:ext cx="384048" cy="384048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7395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32369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download–build–archive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3621024"/>
            <a:ext cx="4434840" cy="502920"/>
          </a:xfrm>
          <a:prstGeom prst="roundRect">
            <a:avLst>
              <a:gd name="adj" fmla="val 9091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8040" y="36210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d540000 -UF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553712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" y="5010912"/>
            <a:ext cx="384048" cy="384048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all elapsed periods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280160" y="5120640"/>
            <a:ext cx="4434840" cy="502920"/>
          </a:xfrm>
          <a:prstGeom prst="roundRect">
            <a:avLst>
              <a:gd name="adj" fmla="val 9091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17320" y="5120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d540000 -UF -MU -IE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4553712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635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73952" y="5010912"/>
            <a:ext cx="384048" cy="384048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73952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4088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remote-file availability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040880" y="5120640"/>
            <a:ext cx="4434840" cy="502920"/>
          </a:xfrm>
          <a:prstGeom prst="roundRect">
            <a:avLst>
              <a:gd name="adj" fmla="val 9091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78040" y="5120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d540000 -CU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0167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Tip:  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 </a:t>
            </a:r>
            <a:r>
              <a:rPr lang="en-US" sz="11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with no arguments to page the full guide through  </a:t>
            </a:r>
            <a:r>
              <a:rPr lang="en-US" sz="11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 Omit  </a:t>
            </a:r>
            <a:r>
              <a:rPr lang="en-US" sz="11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-DS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on Get actions to list records for all your datasets.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DCEBF7"/>
          </a:solidFill>
          <a:ln w="2540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640080" cy="64008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3154680" cy="566928"/>
          </a:xfrm>
          <a:prstGeom prst="roundRect">
            <a:avLst>
              <a:gd name="adj" fmla="val 8065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d277000 -GA -OF d277000.all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Dump all control/local/remote records to a file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10312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25112" y="15544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DCEBF7"/>
          </a:solidFill>
          <a:ln w="25400">
            <a:solidFill>
              <a:srgbClr val="C2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81144" y="1810512"/>
            <a:ext cx="640080" cy="640080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81144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✎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30952" y="1828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53712" y="2606040"/>
            <a:ext cx="3154680" cy="566928"/>
          </a:xfrm>
          <a:prstGeom prst="roundRect">
            <a:avLst>
              <a:gd name="adj" fmla="val 8065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72584" y="260604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d277000.all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1144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Adjust values; sections [DCUPDT] [DLUPDT] [DRUPDT]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91272" y="210312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93024" y="15544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DCEBF7"/>
          </a:solidFill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49056" y="1810512"/>
            <a:ext cx="640080" cy="64008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49056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98864" y="1828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9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421624" y="2606040"/>
            <a:ext cx="3154680" cy="566928"/>
          </a:xfrm>
          <a:prstGeom prst="roundRect">
            <a:avLst>
              <a:gd name="adj" fmla="val 8065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40496" y="260604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d277000 -SA -IF d277000.all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49056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 the edited file back to GDEXDB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file (-IF) format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114800" y="4709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 line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Dataset&lt;=&gt;d277000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14800" y="49834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single-value assignment  ( -ES sets '&lt;=&gt;' 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SC&lt;!&gt;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14800" y="52578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 / Mode marker  ( -AO sets '&lt;!&gt;' 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2960" y="5532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col1&lt;:&gt;col2&lt;:&gt;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114800" y="5532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tabular header row  ( -DV sets '&lt;:&gt;' 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2960" y="5806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dNNNNNN.*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14800" y="5806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name must start with the dataset number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Config Editor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three record types can be edited in a browser — no </a:t>
            </a:r>
            <a:r>
              <a:rPr lang="en-US" sz="150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-GA / -SA</a:t>
            </a: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Get/Edit/Set round-trip. Open the </a:t>
            </a: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RDAMS PostgreSQL Configuration Editor</a:t>
            </a: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expand the </a:t>
            </a:r>
            <a:r>
              <a:rPr lang="en-US" sz="15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</a:t>
            </a: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menu.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148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gdex.ucar.edu/rda_pg_config</a:t>
            </a:r>
            <a:r>
              <a:rPr lang="en-US" sz="1300" dirty="0">
                <a:solidFill>
                  <a:srgbClr val="42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›  DSUPDT  ›  Update Control | Local File | Remote File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DCEBF7"/>
          </a:solidFill>
          <a:ln w="2540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611880" cy="54864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3611880" cy="201168"/>
          </a:xfrm>
          <a:prstGeom prst="rect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92608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Control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36210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dsupdt_control.php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dcupdt • -SC / -GC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2793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frequency, next-due, actions, e-mail &amp; error controls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5112" y="2926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DCEBF7"/>
          </a:solidFill>
          <a:ln w="254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25112" y="2926080"/>
            <a:ext cx="3611880" cy="54864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25112" y="3273552"/>
            <a:ext cx="3611880" cy="201168"/>
          </a:xfrm>
          <a:prstGeom prst="rect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292608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File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53712" y="36210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dsupdt_localfile.php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53712" y="3931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dlupdt • -SL / -GL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53712" y="42793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names, patterns, build / convert commands, archive action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93024" y="2926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DCEBF7"/>
          </a:solidFill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93024" y="2926080"/>
            <a:ext cx="3611880" cy="548640"/>
          </a:xfrm>
          <a:prstGeom prst="roundRect">
            <a:avLst>
              <a:gd name="adj" fmla="val 16667"/>
            </a:avLst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93024" y="3273552"/>
            <a:ext cx="3611880" cy="201168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94192" y="292608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File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421624" y="36210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dsupdt_remotefile.php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21624" y="3931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drupdt • -SR / -GR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21624" y="42793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&amp; server names, download command &amp; order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5623560"/>
            <a:ext cx="457200" cy="45720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✎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53949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Split-pane editor: 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a dataset &amp; record on top, edit fields below. A record is </a:t>
            </a:r>
            <a:r>
              <a:rPr lang="en-US" sz="12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locked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while open; add, edit, save, or delete, then release. Writes go straight to GDEXDB — identical to the CLI.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 • DCUPDT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Control Record  (-SC)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Schedules automatic actions launched by </a:t>
            </a:r>
            <a:r>
              <a:rPr lang="en-US" sz="14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dscheck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 New record: index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+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-NC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 Existing index is modified in place.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42793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Long name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Purpose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ActionName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dsupdt task: UF, DR, BL, PB, CL, CU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-FQ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Frequency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update frequency — how often updates run, e.g. 1W, 1M, 1M/3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-CO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ControlOffset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delay after period end, e.g. 2D10H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-CT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ControlTime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next scheduled run  YYYY-MM-DD HH:NN:SS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-RI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RetryInterval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wait before retry after a failure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-VI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ValidInterval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validating window for re-checking archived files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-PI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ParentIndex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run only after parent control completes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-UC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UpdateControl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one letter per preset Mode option: A B C E F G M N O Y Z — see “Key Mode Options at a Glance”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EMailControl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 / S / E / B / N report level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-EC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ErrorControl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 ignore / Q quit / N normal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-KF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KeepFile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 / R / B / N which files to keep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-HN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HostName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restrict/allow processing hosts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 • DLUPDT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File Record  (-SL)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configuration to update a file. Link to a control via </a:t>
            </a:r>
            <a:r>
              <a:rPr lang="en-US" sz="14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-CI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so its scheduled action runs automatically.  New: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0 + -NL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532120" cy="307238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Long name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Purpose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-LF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LocalFile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name, may embed temporal patterns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ActionName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dsarch action: AS, AW, AQ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-OP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Options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options string passed to dsarch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DownloadCommand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fetch/copy/generate the file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-FQ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Frequency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local data-file frequency, e.g. 1M, 6H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EndDate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end date of next update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-EH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EndHour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 hour (sub-daily cadence)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920240"/>
          <a:ext cx="5532120" cy="307238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Long name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Purpose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DueInterval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 → ready lead time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-VI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ValidInterval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re-check / hold-open window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AgeTime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min remote-file age to fetch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-WD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WorkDir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staging dir (root $UPDTWKP)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-PR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ProcessRemote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user validate/convert cmd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-BC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BuildCommand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user build cmd (vs tar)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92D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-CL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CleanCommand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remove temp files after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  </a:t>
            </a: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-LF / -RF / -DC / -DE (default delimiters </a:t>
            </a:r>
            <a:r>
              <a:rPr lang="en-US" sz="125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are substituted at update time, e.g. </a:t>
            </a:r>
            <a:r>
              <a:rPr lang="en-US" sz="12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file.&lt;YYYYMM&gt;.ext → file.200710.ext</a:t>
            </a: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 • DRUPDT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File Record  (-SR)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a remote record only in these three cases: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DCEBF7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6656" y="2276856"/>
            <a:ext cx="603504" cy="603504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" y="22768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89888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 name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24414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or server file name differs from the local file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DCEBF7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44568" y="2276856"/>
            <a:ext cx="603504" cy="603504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4568" y="22768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Many → 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24414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several remote files are tarred into one local 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3024" y="18745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DCEBF7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0" y="2276856"/>
            <a:ext cx="603504" cy="603504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22768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25712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Multiple servers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25712" y="24414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file available from several servers (-DO order)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11274552" cy="271576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Long name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Purpose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-LI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LocalIndex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local record this remote belongs to (required)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-RF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RemoteFile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remote name(s); join many with '::' ; '!' = shell cmd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-SF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ServerFile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name on server if different from remote name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DownloadCommand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overrides the local record's command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DownloadOrder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try lowest index first, then ascending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-TI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TimeInterval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remote-file frequency — only when many remotes → one local, e.g. 6H, 5D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-BT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BeginTime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window start (with -TI)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EndTime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3565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window end (with -TI)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ACTIONS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Update Action Family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C25E00"/>
          </a:solidFill>
          <a:ln w="12700">
            <a:solidFill>
              <a:srgbClr val="C25E00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File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BE2E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end-to-end: download → build → archive → clean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5544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57C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93008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93008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Remote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93008" y="2377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fetch/copy/generate remote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5544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92DB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5936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Local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45936" y="2377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validate, convert, tar/compress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15984" y="15544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98864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98864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Both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98864" y="2377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+ build in one step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57C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-AF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File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 local files to dsarch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31089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92DB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93008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-CF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93008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File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493008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temporary working files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31089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45936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-CU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45936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Update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45936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remote-file availability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15984" y="310896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53565A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98864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98864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Unlock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198864" y="3931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locks from aborted runs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892040"/>
            <a:ext cx="11274552" cy="1188720"/>
          </a:xfrm>
          <a:prstGeom prst="roundRect">
            <a:avLst>
              <a:gd name="adj" fmla="val 7692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-UF bundles the four steps.  </a:t>
            </a: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Stepping manually is useful for debugging or re-running a single stage. All actions accept </a:t>
            </a:r>
            <a:r>
              <a:rPr lang="en-US" sz="13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-CI / -LI / -LF / -XO</a:t>
            </a: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target records, and </a:t>
            </a:r>
            <a:r>
              <a:rPr lang="en-US" sz="13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-ED / -EH / -CD / -CH</a:t>
            </a:r>
            <a:r>
              <a:rPr lang="en-US" sz="13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override dates at run time.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ACTIONS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-UF Deep Dive: One Command, Full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each due local file record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/ copy the server file</a:t>
            </a:r>
            <a:endParaRPr lang="en-US" sz="1400" dirty="0"/>
          </a:p>
          <a:p>
            <a:pPr marL="254000" indent="-2540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 &amp; convert (-PR) into a remote file</a:t>
            </a:r>
            <a:endParaRPr lang="en-US" sz="1400" dirty="0"/>
          </a:p>
          <a:p>
            <a:pPr marL="254000" indent="-2540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the local file (tar / compress or -BC)</a:t>
            </a:r>
            <a:endParaRPr lang="en-US" sz="1400" dirty="0"/>
          </a:p>
          <a:p>
            <a:pPr marL="254000" indent="-2540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via dsarch using the record's action</a:t>
            </a:r>
            <a:endParaRPr lang="en-US" sz="1400" dirty="0"/>
          </a:p>
          <a:p>
            <a:pPr marL="254000" indent="-2540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temporary files (-CL)</a:t>
            </a:r>
            <a:endParaRPr lang="en-US" sz="1400" dirty="0"/>
          </a:p>
          <a:p>
            <a:pPr marL="254000" indent="-2540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 data end date/hour &amp; next-due times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554480"/>
          <a:ext cx="5532120" cy="42245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Mode/Info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E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Effect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-MU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process every elapsed period (else newest only)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-FU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force at least one update even if not due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-CP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allow the current, not-yet-complete period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-RA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re-archive (pass -RA to dsarch)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-RD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re-download even if the file exists locally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only periods not yet archived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-IE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skip failures &amp; continue (with -MU)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-QE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stop the dataset on first error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-PL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fork N child processes for parallel records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83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-CC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add carbon-copy email recipients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99632" y="5943600"/>
            <a:ext cx="5532120" cy="384048"/>
          </a:xfrm>
          <a:prstGeom prst="roundRect">
            <a:avLst>
              <a:gd name="adj" fmla="val 14286"/>
            </a:avLst>
          </a:prstGeom>
          <a:solidFill>
            <a:srgbClr val="0035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82512" y="59436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d337000 -UF -MU -IE -CC schuster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Archiving &amp; Content Metadata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Once a local file is built, </a:t>
            </a:r>
            <a:r>
              <a:rPr lang="en-US" sz="15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</a:t>
            </a: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hands it to </a:t>
            </a:r>
            <a:r>
              <a:rPr lang="en-US" sz="15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dsarch</a:t>
            </a: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archive onto GDEX, then optionally gathers content metadata so the new data is discoverable.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295144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to GDEX  —  dsarch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08760" y="2660904"/>
            <a:ext cx="9857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calls dsarch with the record's action (AS / AW / AQ). -OP appends extra dsarch options; -RA forces re-archiving. This is the step that publishes each file.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529584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Gather content metadata  —  gatherxml  (-GX)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08760" y="3895344"/>
            <a:ext cx="9857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Optional. When -GX is set in the local record's Options, dsupdt runs gatherxml on the just-archived file to index its variables and spatial / temporal coverage.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548640" cy="548640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764024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Refresh the search index  —  scm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5129784"/>
            <a:ext cx="9857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archiving, dsupdt runs the search-metadata command (scm -d DS -</a:t>
            </a:r>
            <a:r>
              <a:rPr lang="en-US" sz="1250" dirty="0" err="1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rw</a:t>
            </a: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to summarize / refresh the dataset's web tables so the new content is searchable.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89788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 steps are non-fatal: 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gatherxml or scm failure is reported in the e-mail but never blocks or retries the archive.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Temporal &amp; Generic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Placeholders in file names, download commands, and descriptions are substituted at update time. Default delimiters </a:t>
            </a:r>
            <a:r>
              <a:rPr lang="en-US" sz="14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(change with -PD).  By default patterns use the period's </a:t>
            </a: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date/hour.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74066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Pattern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Basis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Meaning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&lt;YYYYMM&gt;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 date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4-digit year + 2-digit month → 200710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&lt;YYYY/MM/DD&gt;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 date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path-style date components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&lt;CYYYY.MM.DDC&gt;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current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wrap in C … C to use the current date/hour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&lt;BYYYY.MM.DDB&gt;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begin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wrap in B … B to use the period's begin time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&lt;M*M&gt;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fraction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per-fraction id: C=A,B,C  c=a,b,c  N=1,2,3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&lt;HH&gt;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end hour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2-digit hour for sub-daily cadence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&lt;P0&gt; &lt;P1&gt;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runtime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generic values supplied via -GP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5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&lt;S01:03S&gt;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92D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serial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57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expand one name into 01,02,03 (padded to start width)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2103120"/>
            <a:ext cx="3639312" cy="3246120"/>
          </a:xfrm>
          <a:prstGeom prst="roundRect">
            <a:avLst>
              <a:gd name="adj" fmla="val 2817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32104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269748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3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-LF </a:t>
            </a:r>
            <a:r>
              <a:rPr lang="en-US" sz="14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uv.&lt;YYYYMM&gt;.bln
</a:t>
            </a:r>
            <a:r>
              <a:rPr lang="en-US" sz="1400" dirty="0">
                <a:solidFill>
                  <a:srgbClr val="C3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date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2007-10-31
</a:t>
            </a:r>
            <a:r>
              <a:rPr lang="en-US" sz="1400" b="1" dirty="0">
                <a:solidFill>
                  <a:srgbClr val="C25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becomes
</a:t>
            </a:r>
            <a:r>
              <a:rPr lang="en-US" sz="140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uv.200710.bln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548640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Dynamic work dir:  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a server path carries a date the remote name lacks, embed that date in -WD so different dates don't overwrite each other.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 Commands with  '!'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 fields are shell commands by design </a:t>
            </a:r>
            <a:r>
              <a:rPr lang="en-US" sz="140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(-DC / -BC / -CL)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 Any value field can also become a command by prefixing it with </a:t>
            </a:r>
            <a:r>
              <a:rPr lang="en-US" sz="1400" b="1" dirty="0">
                <a:solidFill>
                  <a:srgbClr val="C25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'!'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dsupdt runs it and uses the stdout as the value.  Temporal patterns are substituted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250545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5054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2441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Command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19456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each remote file is fetched from the server (wget, cp, mftp, …).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2331720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64224" y="250545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64224" y="25054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36992" y="2441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Command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36992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 utility that assembles / converts the local file after download.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" y="342900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Command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19456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Post-archive cleanup command for temporary or intermediate files.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3255264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64224" y="342900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64224" y="34290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-RF  '!…'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36992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File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36992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 resolved at run time — e.g. pick the newest matching server file.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178808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" y="4352544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" y="43525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-LF  '!…'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9456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File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194560" y="4562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 the local file name from a script instead of a fixed pattern.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99632" y="4178808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64224" y="4352544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64224" y="43525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-DE  '!…'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36992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note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936992" y="4562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 a data note dynamically from command output.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5212080"/>
            <a:ext cx="11274552" cy="1170432"/>
          </a:xfrm>
          <a:prstGeom prst="roundRect">
            <a:avLst>
              <a:gd name="adj" fmla="val 7813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5349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  —  pick the newest matching file at update time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5742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3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d540000 SR -LI 1 </a:t>
            </a:r>
            <a:r>
              <a:rPr lang="en-US" sz="1350" dirty="0">
                <a:solidFill>
                  <a:srgbClr val="C3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-RF </a:t>
            </a:r>
            <a:r>
              <a:rPr lang="en-US" sz="135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'!ls -t /glade/incoming/&lt;YYYYMM&gt;*.grib | head -1'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Scheduling &amp; Execution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production the whole chain is automated — currently under </a:t>
            </a:r>
            <a:r>
              <a:rPr lang="en-US" sz="15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PBS batch control</a:t>
            </a:r>
            <a:r>
              <a:rPr lang="en-US" sz="15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0057C2"/>
            </a:solidFill>
            <a:prstDash val="solid"/>
          </a:ln>
          <a:effectLst>
            <a:outerShdw blurRad="762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422904" cy="731520"/>
          </a:xfrm>
          <a:prstGeom prst="roundRect">
            <a:avLst>
              <a:gd name="adj" fmla="val 12500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3422904" cy="347472"/>
          </a:xfrm>
          <a:prstGeom prst="rect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0848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196596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Control Record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965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Holds the schedule — frequency (-FQ), due interval (-DI), next-due time; local records link to it via -CI. A cron / daemon dsupdt run in delayed mode (-BP) records each due command in GDEXDB.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462272"/>
            <a:ext cx="3020568" cy="502920"/>
          </a:xfrm>
          <a:prstGeom prst="roundRect">
            <a:avLst>
              <a:gd name="adj" fmla="val 9091"/>
            </a:avLst>
          </a:prstGeom>
          <a:solidFill>
            <a:srgbClr val="C7E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" y="4462272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generates a dscheck record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98392" y="3017520"/>
            <a:ext cx="466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383024" y="1920240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762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3024" y="1920240"/>
            <a:ext cx="3422904" cy="731520"/>
          </a:xfrm>
          <a:prstGeom prst="roundRect">
            <a:avLst>
              <a:gd name="adj" fmla="val 12500"/>
            </a:avLst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3024" y="2304288"/>
            <a:ext cx="3422904" cy="34747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5904" y="20848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65904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9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41392" y="196596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dscheck daemon / cron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611624" y="2788920"/>
            <a:ext cx="2965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Polls GDEXDB, dispatches each recorded command, and retries on failure — -d [hosts] [retries 1-99]. This is the centralized, automatic launcher.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84192" y="4462272"/>
            <a:ext cx="3020568" cy="502920"/>
          </a:xfrm>
          <a:prstGeom prst="roundRect">
            <a:avLst>
              <a:gd name="adj" fmla="val 9091"/>
            </a:avLst>
          </a:prstGeom>
          <a:solidFill>
            <a:srgbClr val="C7E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12208" y="4462272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starts the real dsupdt 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24216" y="3017520"/>
            <a:ext cx="466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308848" y="1920240"/>
            <a:ext cx="342290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C25E00"/>
            </a:solidFill>
            <a:prstDash val="solid"/>
          </a:ln>
          <a:effectLst>
            <a:outerShdw blurRad="76200" dist="25400" dir="5400000" algn="bl" rotWithShape="0">
              <a:srgbClr val="C3D7EE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08848" y="1920240"/>
            <a:ext cx="3422904" cy="731520"/>
          </a:xfrm>
          <a:prstGeom prst="roundRect">
            <a:avLst>
              <a:gd name="adj" fmla="val 12500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08848" y="2304288"/>
            <a:ext cx="3422904" cy="347472"/>
          </a:xfrm>
          <a:prstGeom prst="rect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91728" y="20848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91728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67216" y="196596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PBS batch job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537448" y="2788920"/>
            <a:ext cx="2965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dsupdt process currently runs as a PBS batch job — -d PBS with -QS qsub options; -PL forks parallel records for heavy datasets.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10016" y="4462272"/>
            <a:ext cx="3020568" cy="502920"/>
          </a:xfrm>
          <a:prstGeom prst="roundRect">
            <a:avLst>
              <a:gd name="adj" fmla="val 9091"/>
            </a:avLst>
          </a:prstGeom>
          <a:solidFill>
            <a:srgbClr val="C7E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38032" y="4462272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runs download → build → archive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11274552" cy="822960"/>
          </a:xfrm>
          <a:prstGeom prst="roundRect">
            <a:avLst>
              <a:gd name="adj" fmla="val 11111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800" y="5623560"/>
            <a:ext cx="457200" cy="45720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80160" y="53949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/ manual: 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</a:t>
            </a:r>
            <a:r>
              <a:rPr lang="en-US" sz="125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-UF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yourself — or from a plain cron job on a specific host — for one-off runs, re-archiving, and debugging. No control record or dscheck needed.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 Interval &amp; Multi-Period Updates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DCEBF7"/>
          </a:solidFill>
          <a:ln w="1905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7099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-FQ  Frequency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103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size of one update period (1D, 6H, 1M, …)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79192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DCEBF7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788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-MU  MultipleUpdate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18211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every elapsed period, not just the newest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758184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DCEBF7"/>
          </a:solidFill>
          <a:ln w="19050">
            <a:solidFill>
              <a:srgbClr val="C2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3867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5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-VI  ValidInterval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42611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 back this far to re-check / re-archive late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837176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DCEBF7"/>
          </a:solidFill>
          <a:ln w="1905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49469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-DI  DueInterval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" y="53400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 time from period end until data is expected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5422392" cy="2788920"/>
          </a:xfrm>
          <a:prstGeom prst="roundRect">
            <a:avLst>
              <a:gd name="adj" fmla="val 3279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Re-check window  (VI = 4D, FQ = 1D)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2651760"/>
            <a:ext cx="4754880" cy="0"/>
          </a:xfrm>
          <a:prstGeom prst="line">
            <a:avLst/>
          </a:prstGeom>
          <a:noFill/>
          <a:ln w="25400">
            <a:solidFill>
              <a:srgbClr val="979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28816" y="2551176"/>
            <a:ext cx="201168" cy="201168"/>
          </a:xfrm>
          <a:prstGeom prst="ellipse">
            <a:avLst/>
          </a:prstGeom>
          <a:solidFill>
            <a:srgbClr val="42C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17536" y="2551176"/>
            <a:ext cx="201168" cy="201168"/>
          </a:xfrm>
          <a:prstGeom prst="ellipse">
            <a:avLst/>
          </a:prstGeom>
          <a:solidFill>
            <a:srgbClr val="42C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06256" y="2551176"/>
            <a:ext cx="201168" cy="201168"/>
          </a:xfrm>
          <a:prstGeom prst="ellipse">
            <a:avLst/>
          </a:prstGeom>
          <a:solidFill>
            <a:srgbClr val="42C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094976" y="2551176"/>
            <a:ext cx="201168" cy="201168"/>
          </a:xfrm>
          <a:prstGeom prst="ellipse">
            <a:avLst/>
          </a:prstGeom>
          <a:solidFill>
            <a:srgbClr val="42C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283696" y="2551176"/>
            <a:ext cx="201168" cy="201168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3D7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− VI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3564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3D7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3200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BE2E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period is re-checked. Already-archived periods report “no newer file”; a newer source file triggers </a:t>
            </a:r>
            <a:r>
              <a:rPr lang="en-US" sz="1250" b="1" dirty="0">
                <a:solidFill>
                  <a:srgbClr val="009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re-archive</a:t>
            </a:r>
            <a:r>
              <a:rPr lang="en-US" sz="1250" dirty="0">
                <a:solidFill>
                  <a:srgbClr val="DBE2E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 VI = 0 → single period, no newer-file check.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526280"/>
            <a:ext cx="5422392" cy="1508760"/>
          </a:xfrm>
          <a:prstGeom prst="roundRect">
            <a:avLst>
              <a:gd name="adj" fmla="val 6061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7960" y="4645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Partial updates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983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-MR Y</a:t>
            </a:r>
            <a:r>
              <a:rPr lang="en-US" sz="12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 many-to-one build tolerates missing remotes. If -VI is also set, the update is held open until the files arrive or the window expires.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5989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25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-IE / -QE / -EC</a:t>
            </a:r>
            <a:r>
              <a:rPr lang="en-US" sz="12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govern how errors interact with multi-period runs: skip &amp; continue, quit, or normal.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Temporal Intervals Fit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advances one </a:t>
            </a:r>
            <a:r>
              <a:rPr lang="en-US" sz="14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Frequency (FQ)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per period. A single </a:t>
            </a:r>
            <a:r>
              <a:rPr lang="en-US" sz="140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-MU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run walks every elapsed period inside the </a:t>
            </a:r>
            <a:r>
              <a:rPr lang="en-US" sz="1400" b="1" dirty="0">
                <a:solidFill>
                  <a:srgbClr val="1A65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 Interval (VI)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look-back window, while the </a:t>
            </a:r>
            <a:r>
              <a:rPr lang="en-US" sz="1400" b="1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 Interval (DI)</a:t>
            </a:r>
            <a:r>
              <a:rPr lang="en-US" sz="14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sets when each period becomes due.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93008" y="2331720"/>
            <a:ext cx="6547104" cy="1417320"/>
          </a:xfrm>
          <a:prstGeom prst="roundRect">
            <a:avLst>
              <a:gd name="adj" fmla="val 5161"/>
            </a:avLst>
          </a:prstGeom>
          <a:solidFill>
            <a:srgbClr val="DBE2E9"/>
          </a:solidFill>
          <a:ln w="15875">
            <a:solidFill>
              <a:srgbClr val="C25E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30168" y="2395728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5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 — look-back re-check window   (now − VI → now)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10332720" cy="0"/>
          </a:xfrm>
          <a:prstGeom prst="line">
            <a:avLst/>
          </a:prstGeom>
          <a:noFill/>
          <a:ln w="25400">
            <a:solidFill>
              <a:srgbClr val="979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2862072"/>
            <a:ext cx="1554480" cy="0"/>
          </a:xfrm>
          <a:prstGeom prst="line">
            <a:avLst/>
          </a:prstGeom>
          <a:noFill/>
          <a:ln w="1905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2862072"/>
            <a:ext cx="0" cy="201168"/>
          </a:xfrm>
          <a:prstGeom prst="line">
            <a:avLst/>
          </a:prstGeom>
          <a:noFill/>
          <a:ln w="1905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0" y="2862072"/>
            <a:ext cx="0" cy="201168"/>
          </a:xfrm>
          <a:prstGeom prst="line">
            <a:avLst/>
          </a:prstGeom>
          <a:noFill/>
          <a:ln w="1905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532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FQ — one period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9848" y="31272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" y="3127248"/>
            <a:ext cx="237744" cy="237744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365760" cy="0"/>
          </a:xfrm>
          <a:prstGeom prst="line">
            <a:avLst/>
          </a:prstGeom>
          <a:noFill/>
          <a:ln w="15875">
            <a:solidFill>
              <a:srgbClr val="0097A7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07-09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24328" y="31272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84248" y="3127248"/>
            <a:ext cx="237744" cy="237744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40280" y="3246120"/>
            <a:ext cx="365760" cy="0"/>
          </a:xfrm>
          <a:prstGeom prst="line">
            <a:avLst/>
          </a:prstGeom>
          <a:noFill/>
          <a:ln w="15875">
            <a:solidFill>
              <a:srgbClr val="0097A7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9456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78808" y="31272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38728" y="3127248"/>
            <a:ext cx="237744" cy="237744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94760" y="3246120"/>
            <a:ext cx="365760" cy="0"/>
          </a:xfrm>
          <a:prstGeom prst="line">
            <a:avLst/>
          </a:prstGeom>
          <a:noFill/>
          <a:ln w="15875">
            <a:solidFill>
              <a:srgbClr val="0092D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07-11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2286000"/>
            <a:ext cx="0" cy="1508760"/>
          </a:xfrm>
          <a:prstGeom prst="line">
            <a:avLst/>
          </a:prstGeom>
          <a:noFill/>
          <a:ln w="19050">
            <a:solidFill>
              <a:srgbClr val="0092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 Date (GMT)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2916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GMT → Denver (−6h)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33288" y="31272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25E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93208" y="3127248"/>
            <a:ext cx="237744" cy="237744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49240" y="3246120"/>
            <a:ext cx="365760" cy="0"/>
          </a:xfrm>
          <a:prstGeom prst="line">
            <a:avLst/>
          </a:prstGeom>
          <a:noFill/>
          <a:ln w="15875">
            <a:solidFill>
              <a:srgbClr val="C25E0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87768" y="31272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25E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47688" y="3127248"/>
            <a:ext cx="237744" cy="237744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03720" y="3246120"/>
            <a:ext cx="365760" cy="0"/>
          </a:xfrm>
          <a:prstGeom prst="line">
            <a:avLst/>
          </a:prstGeom>
          <a:noFill/>
          <a:ln w="15875">
            <a:solidFill>
              <a:srgbClr val="C25E0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07-13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42248" y="31272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25E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02168" y="3127248"/>
            <a:ext cx="237744" cy="237744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458200" y="3246120"/>
            <a:ext cx="365760" cy="0"/>
          </a:xfrm>
          <a:prstGeom prst="line">
            <a:avLst/>
          </a:prstGeom>
          <a:noFill/>
          <a:ln w="15875">
            <a:solidFill>
              <a:srgbClr val="C25E0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41248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07-14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396728" y="312724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56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756648" y="31272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35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012680" y="3246120"/>
            <a:ext cx="365760" cy="0"/>
          </a:xfrm>
          <a:prstGeom prst="line">
            <a:avLst/>
          </a:prstGeom>
          <a:noFill/>
          <a:ln w="15875">
            <a:solidFill>
              <a:srgbClr val="53565A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966960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07-15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75520" y="2286000"/>
            <a:ext cx="0" cy="1508760"/>
          </a:xfrm>
          <a:prstGeom prst="line">
            <a:avLst/>
          </a:prstGeom>
          <a:noFill/>
          <a:ln w="19050">
            <a:solidFill>
              <a:srgbClr val="0035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985248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98280" y="2286000"/>
            <a:ext cx="0" cy="1508760"/>
          </a:xfrm>
          <a:prstGeom prst="line">
            <a:avLst/>
          </a:prstGeom>
          <a:noFill/>
          <a:ln w="15875">
            <a:solidFill>
              <a:srgbClr val="5356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55280" y="18470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 cutoff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(now − DI)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0" y="3813048"/>
            <a:ext cx="777240" cy="0"/>
          </a:xfrm>
          <a:prstGeom prst="line">
            <a:avLst/>
          </a:prstGeom>
          <a:noFill/>
          <a:ln w="22225">
            <a:solidFill>
              <a:srgbClr val="0092D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20440" y="3904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 — next-due = local period end + DI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784080" y="3950208"/>
            <a:ext cx="182880" cy="182880"/>
          </a:xfrm>
          <a:prstGeom prst="rect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818120" y="3922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 — job runs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18120" y="4142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period start + CO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003536" y="4041648"/>
            <a:ext cx="1316736" cy="0"/>
          </a:xfrm>
          <a:prstGeom prst="line">
            <a:avLst/>
          </a:prstGeom>
          <a:noFill/>
          <a:ln w="19050">
            <a:solidFill>
              <a:srgbClr val="0057C2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347704" y="3959352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966960" y="3749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Update FQ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744200" y="4133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0080" y="4434840"/>
            <a:ext cx="201168" cy="201168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14400" y="4379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Archived earlier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429000" y="4434840"/>
            <a:ext cx="201168" cy="20116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703320" y="4379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Re-checked — no newer source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217920" y="4434840"/>
            <a:ext cx="201168" cy="201168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92240" y="4379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Archived / re-archived this run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006840" y="4434840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356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281160" y="4379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yet due (waiting DI)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57200" y="4718304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DCEBF7"/>
          </a:solidFill>
          <a:ln w="12700">
            <a:solidFill>
              <a:srgbClr val="00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8368" y="4773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ControlTime  —  when the job itself runs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8368" y="5029200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-CT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sets the run time (YYYY-MM-DD HH:NN:SS). Each success steps it by one </a:t>
            </a:r>
            <a:r>
              <a:rPr lang="en-US" sz="10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-FQ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(Next CT = CT + FQ); </a:t>
            </a:r>
            <a:r>
              <a:rPr lang="en-US" sz="10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-CO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only offsets the run from the period start (daily → day start + CO), so it cancels in the step. Failure retries after </a:t>
            </a:r>
            <a:r>
              <a:rPr lang="en-US" sz="105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-RI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  e.g.  </a:t>
            </a:r>
            <a:r>
              <a:rPr lang="en-US" sz="1050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d609000 -SU -CT "2026-07-11 09:00:00" -FQ 1D -CO 9H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58368" y="54498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65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zones:  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data end date/hour (End Date, </a:t>
            </a:r>
            <a:r>
              <a:rPr lang="en-US" sz="1050" b="1" dirty="0">
                <a:solidFill>
                  <a:srgbClr val="1A6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-ED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</a:t>
            </a:r>
            <a:r>
              <a:rPr lang="en-US" sz="1050" b="1" dirty="0">
                <a:solidFill>
                  <a:srgbClr val="1A6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-EH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 is server time (GMT), while </a:t>
            </a:r>
            <a:r>
              <a:rPr lang="en-US" sz="1050" b="1" dirty="0">
                <a:solidFill>
                  <a:srgbClr val="1A65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-CT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local time the job runs (Denver, MDT = GMT−6h in summer) — don’t mix the two.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57200" y="5870448"/>
            <a:ext cx="9966960" cy="512064"/>
          </a:xfrm>
          <a:prstGeom prst="roundRect">
            <a:avLst>
              <a:gd name="adj" fmla="val 14286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8368" y="5870448"/>
            <a:ext cx="9564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run re-checks every period in the VI window: </a:t>
            </a:r>
            <a:r>
              <a:rPr lang="en-US" sz="10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already-archived periods report “no newer file”, newly available periods are archived, and periods still within DI of now are left for the next run.  </a:t>
            </a:r>
            <a:r>
              <a:rPr lang="en-US" sz="1000" i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 = 0 → only the most recent period.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Reporting  (-MC / -EMailControl)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2128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97864" y="1755648"/>
            <a:ext cx="731520" cy="7315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97864" y="1755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8529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detailed report, always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1554480"/>
            <a:ext cx="22128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092DB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47872" y="1755648"/>
            <a:ext cx="731520" cy="731520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7872" y="1755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98648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16936" y="28529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 only, no detail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7216" y="1554480"/>
            <a:ext cx="22128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C25E00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97880" y="1755648"/>
            <a:ext cx="731520" cy="731520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97880" y="1755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248656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66944" y="28529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detailed report, only on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07224" y="1554480"/>
            <a:ext cx="22128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057C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47888" y="1755648"/>
            <a:ext cx="731520" cy="73152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47888" y="1755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98664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 on error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16952" y="28529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summary, only on 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7232" y="1554480"/>
            <a:ext cx="22128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53565A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597896" y="1755648"/>
            <a:ext cx="731520" cy="731520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97896" y="1755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948672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0" y="28529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email at all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sections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3950208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950208"/>
            <a:ext cx="1737360" cy="621792"/>
          </a:xfrm>
          <a:prstGeom prst="roundRect">
            <a:avLst>
              <a:gd name="adj" fmla="val 8824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9502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377440" y="3950208"/>
            <a:ext cx="9189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errors — survives in every mode; raw failures are prefixed with the failing command / dataset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626864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4626864"/>
            <a:ext cx="1737360" cy="621792"/>
          </a:xfrm>
          <a:prstGeom prst="roundRect">
            <a:avLst>
              <a:gd name="adj" fmla="val 8824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62686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377440" y="4626864"/>
            <a:ext cx="9189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headline count + rolled-up “N files ARCHIVED” range lines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53035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5303520"/>
            <a:ext cx="1737360" cy="621792"/>
          </a:xfrm>
          <a:prstGeom prst="roundRect">
            <a:avLst>
              <a:gd name="adj" fmla="val 8824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53035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377440" y="5303520"/>
            <a:ext cx="9189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per-file lines; consecutive no-op re-checks collapse into one range line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599846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Related:  </a:t>
            </a:r>
            <a:r>
              <a:rPr lang="en-US" sz="115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-EE</a:t>
            </a: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(=E),  </a:t>
            </a:r>
            <a:r>
              <a:rPr lang="en-US" sz="115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-SE</a:t>
            </a: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(=S),  </a:t>
            </a:r>
            <a:r>
              <a:rPr lang="en-US" sz="115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-NE</a:t>
            </a: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(=N),  </a:t>
            </a:r>
            <a:r>
              <a:rPr lang="en-US" sz="115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-CC</a:t>
            </a: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adds carbon-copy recipients.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Email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worked example (-MC A) — d609000, one 4D valid-interval run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635240" cy="4572000"/>
          </a:xfrm>
          <a:prstGeom prst="roundRect">
            <a:avLst>
              <a:gd name="adj" fmla="val 1600"/>
            </a:avLst>
          </a:prstGeom>
          <a:solidFill>
            <a:srgbClr val="011837"/>
          </a:solidFill>
          <a:ln w="12700">
            <a:solidFill>
              <a:srgbClr val="2C4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700784"/>
            <a:ext cx="7232904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6 local files archived for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DSUPDT of D609000-C57 on casper61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MESSAGE: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similar errors: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Failed Metadata Gathering: …t18z…grib2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Failed Metadata Gathering: …t00z…grib2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gatherxml: connection timed out to metadata DB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b="1" dirty="0">
                <a:solidFill>
                  <a:srgbClr val="42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d609000: 6 of 18 local files ARCHIVED(AW) for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[2026-07-16:12(UTC) .. 2026-07-17:06(UTC)]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b="1" dirty="0">
                <a:solidFill>
                  <a:srgbClr val="42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 INFORMATION: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d609000-L480: 12 update periods UNCHANGED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[..07-13:12(UTC) .. 07-16:06(UTC)] already archived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b="1" dirty="0">
                <a:solidFill>
                  <a:srgbClr val="7FD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d609000-L480: 6 files ARCHIVED(AW) for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7FD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07-16:12(UTC) - 4 new, 2 changed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7FD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- 2 Failed Metadata Gathering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9A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C3D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d609000-C57: Next Control Time 2026-07-17 03:00:00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275320" y="14813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read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75320" y="1719072"/>
            <a:ext cx="3456432" cy="585216"/>
          </a:xfrm>
          <a:prstGeom prst="roundRect">
            <a:avLst>
              <a:gd name="adj" fmla="val 9375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75320" y="1719072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0035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94776" y="1719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  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headline count archived across all periods this run.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2359152"/>
            <a:ext cx="3456432" cy="585216"/>
          </a:xfrm>
          <a:prstGeom prst="roundRect">
            <a:avLst>
              <a:gd name="adj" fmla="val 9375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75320" y="2359152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94776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  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identical repeated failures merge into one “N similar errors” block.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2999232"/>
            <a:ext cx="3456432" cy="585216"/>
          </a:xfrm>
          <a:prstGeom prst="roundRect">
            <a:avLst>
              <a:gd name="adj" fmla="val 9375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2999232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94776" y="29992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  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combined line per record: M of N + period range.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75320" y="3639312"/>
            <a:ext cx="3456432" cy="585216"/>
          </a:xfrm>
          <a:prstGeom prst="roundRect">
            <a:avLst>
              <a:gd name="adj" fmla="val 9375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75320" y="3639312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94776" y="36393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Roll-up  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no-op re-check periods collapse into one UNCHANGED 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75320" y="4279392"/>
            <a:ext cx="3456432" cy="585216"/>
          </a:xfrm>
          <a:prstGeom prst="roundRect">
            <a:avLst>
              <a:gd name="adj" fmla="val 9375"/>
            </a:avLst>
          </a:prstGeom>
          <a:solidFill>
            <a:srgbClr val="DCEBF7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75320" y="4279392"/>
            <a:ext cx="109728" cy="585216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94776" y="427939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&gt;4 files  </a:t>
            </a:r>
            <a:r>
              <a:rPr lang="en-US" sz="105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than 4 archived files in one period roll into one summary line with a new/changed/used tally.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5320" y="488289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status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93608" y="5266944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93608" y="526694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31352" y="5193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 new file  </a:t>
            </a: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fresh download, no prior copy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93608" y="5541264"/>
            <a:ext cx="128016" cy="128016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93608" y="5541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31352" y="5468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5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 change file  </a:t>
            </a: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server file changed, redownloaded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93608" y="5815584"/>
            <a:ext cx="128016" cy="128016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93608" y="581558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31352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5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file used  </a:t>
            </a:r>
            <a:r>
              <a:rPr lang="en-US" sz="10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local copy current, nothing fetched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1447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remote record?  </a:t>
            </a:r>
            <a:r>
              <a:rPr lang="en-US" sz="110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status folds into the archived line:   </a:t>
            </a:r>
            <a:r>
              <a:rPr lang="en-US" sz="1100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ARCHIVED(AW) for … - local file used - Metadata Gathered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2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Mode Options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4416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mode below can be given on the command line.  The left group can also be </a:t>
            </a:r>
            <a:r>
              <a:rPr lang="en-US" sz="13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preset per control record</a:t>
            </a: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each is one letter of </a:t>
            </a:r>
            <a:r>
              <a:rPr lang="en-US" sz="1300" b="1" dirty="0">
                <a:solidFill>
                  <a:srgbClr val="005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-UC</a:t>
            </a: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(UpdateControl) on the </a:t>
            </a:r>
            <a:r>
              <a:rPr lang="en-US" sz="13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-SC</a:t>
            </a:r>
            <a:r>
              <a:rPr lang="en-US" sz="13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record.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32120" cy="329184"/>
          </a:xfrm>
          <a:prstGeom prst="roundRect">
            <a:avLst>
              <a:gd name="adj" fmla="val 13889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" y="1737360"/>
            <a:ext cx="5276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PRESETTABLE VIA  -UC  IN THE CONTROL RECORD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9496" y="215798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9496" y="21579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2139696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33856" y="21579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215798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38528" y="2139696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all remote files, not just the first missing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9496" y="2505456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" y="25054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6968" y="2487168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33856" y="25054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33856" y="2505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38528" y="248716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period begin time for patterns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9496" y="2852928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" y="28529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6968" y="283464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33856" y="28529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33856" y="285292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938528" y="283464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 current, not-yet-due period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496" y="3200400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496" y="32004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6968" y="3182112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33856" y="320040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33856" y="32004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938528" y="318211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reset end date/hour from file time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529584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9496" y="3547872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9496" y="3547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86968" y="3529584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33856" y="354787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33856" y="35478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-FU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938528" y="352958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force one update even if not due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877056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9496" y="389534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9496" y="38953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86968" y="3877056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33856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33856" y="38953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-GZ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938528" y="3877056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GMT as controlling time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224528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39496" y="4242816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9496" y="42428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86968" y="4224528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133856" y="42428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133856" y="424281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-MU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938528" y="4224528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all elapsed periods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4572000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39496" y="4590288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39496" y="45902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86968" y="45720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33856" y="45902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133856" y="45902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-CN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938528" y="457200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re-download only if changed on server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7200" y="4919472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39496" y="4937760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39496" y="4937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886968" y="4919472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133856" y="493776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133856" y="49377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-MO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938528" y="491947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not-yet-archived periods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" y="5266944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39496" y="5285232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39496" y="5285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886968" y="5266944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133856" y="528523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133856" y="52852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-NY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1938528" y="5266944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skip Feb 29 in leap years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57200" y="5614416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39496" y="56327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39496" y="56327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886968" y="5614416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133856" y="56327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133856" y="56327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-VS 0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1938528" y="5614416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 zero-byte files as valid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199632" y="1737360"/>
            <a:ext cx="5532120" cy="329184"/>
          </a:xfrm>
          <a:prstGeom prst="roundRect">
            <a:avLst>
              <a:gd name="adj" fmla="val 13889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327648" y="1737360"/>
            <a:ext cx="5276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COMMAND LINE ONLY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199632" y="2139696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281928" y="21579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281928" y="215798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-RA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7086600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force re-archive via dsarch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199632" y="2487168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281928" y="25054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281928" y="25054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-RD</a:t>
            </a:r>
            <a:endParaRPr lang="en-US" sz="1150" dirty="0"/>
          </a:p>
        </p:txBody>
      </p:sp>
      <p:sp>
        <p:nvSpPr>
          <p:cNvPr id="93" name="Text 91"/>
          <p:cNvSpPr/>
          <p:nvPr/>
        </p:nvSpPr>
        <p:spPr>
          <a:xfrm>
            <a:off x="7086600" y="2487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re-download existing remote file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199632" y="2834640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6281928" y="28529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281928" y="285292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-IE</a:t>
            </a:r>
            <a:endParaRPr lang="en-US" sz="1150" dirty="0"/>
          </a:p>
        </p:txBody>
      </p:sp>
      <p:sp>
        <p:nvSpPr>
          <p:cNvPr id="97" name="Text 95"/>
          <p:cNvSpPr/>
          <p:nvPr/>
        </p:nvSpPr>
        <p:spPr>
          <a:xfrm>
            <a:off x="7086600" y="2834640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skip errors, continue (with -MU)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199632" y="3182112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281928" y="320040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281928" y="32004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-QE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7086600" y="3182112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quit dataset on first error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6199632" y="3529584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6281928" y="354787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281928" y="35478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-KR</a:t>
            </a:r>
            <a:endParaRPr lang="en-US" sz="1150" dirty="0"/>
          </a:p>
        </p:txBody>
      </p:sp>
      <p:sp>
        <p:nvSpPr>
          <p:cNvPr id="105" name="Text 103"/>
          <p:cNvSpPr/>
          <p:nvPr/>
        </p:nvSpPr>
        <p:spPr>
          <a:xfrm>
            <a:off x="7086600" y="3529584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remote file (copy, not move)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199632" y="3877056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6281928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6281928" y="389534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-KS</a:t>
            </a:r>
            <a:endParaRPr lang="en-US" sz="1150" dirty="0"/>
          </a:p>
        </p:txBody>
      </p:sp>
      <p:sp>
        <p:nvSpPr>
          <p:cNvPr id="109" name="Text 107"/>
          <p:cNvSpPr/>
          <p:nvPr/>
        </p:nvSpPr>
        <p:spPr>
          <a:xfrm>
            <a:off x="7086600" y="387705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server file (copy, not move)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199632" y="4224528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6281928" y="42428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281928" y="424281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-UT</a:t>
            </a:r>
            <a:endParaRPr lang="en-US" sz="1150" dirty="0"/>
          </a:p>
        </p:txBody>
      </p:sp>
      <p:sp>
        <p:nvSpPr>
          <p:cNvPr id="113" name="Text 111"/>
          <p:cNvSpPr/>
          <p:nvPr/>
        </p:nvSpPr>
        <p:spPr>
          <a:xfrm>
            <a:off x="7086600" y="422452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force end/next-due time advance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6199632" y="4572000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281928" y="45902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6281928" y="45902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-BG</a:t>
            </a:r>
            <a:endParaRPr lang="en-US" sz="1150" dirty="0"/>
          </a:p>
        </p:txBody>
      </p:sp>
      <p:sp>
        <p:nvSpPr>
          <p:cNvPr id="117" name="Text 115"/>
          <p:cNvSpPr/>
          <p:nvPr/>
        </p:nvSpPr>
        <p:spPr>
          <a:xfrm>
            <a:off x="7086600" y="4572000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background; suppress screen output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6199632" y="4919472"/>
            <a:ext cx="5532120" cy="310896"/>
          </a:xfrm>
          <a:prstGeom prst="roundRect">
            <a:avLst>
              <a:gd name="adj" fmla="val 14706"/>
            </a:avLst>
          </a:prstGeom>
          <a:solidFill>
            <a:srgbClr val="DCEBF7"/>
          </a:solidFill>
          <a:ln w="9525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281928" y="493776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6281928" y="49377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-NE</a:t>
            </a:r>
            <a:endParaRPr lang="en-US" sz="1150" dirty="0"/>
          </a:p>
        </p:txBody>
      </p:sp>
      <p:sp>
        <p:nvSpPr>
          <p:cNvPr id="121" name="Text 119"/>
          <p:cNvSpPr/>
          <p:nvPr/>
        </p:nvSpPr>
        <p:spPr>
          <a:xfrm>
            <a:off x="7086600" y="4919472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suppress notification email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6199632" y="5321808"/>
            <a:ext cx="5532120" cy="621792"/>
          </a:xfrm>
          <a:prstGeom prst="roundRect">
            <a:avLst>
              <a:gd name="adj" fmla="val 7353"/>
            </a:avLst>
          </a:prstGeom>
          <a:solidFill>
            <a:srgbClr val="C7E4F5"/>
          </a:solidFill>
          <a:ln w="12700">
            <a:solidFill>
              <a:srgbClr val="A9D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6345936" y="5321808"/>
            <a:ext cx="5239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 control-record presets:  </a:t>
            </a:r>
            <a:r>
              <a:rPr lang="en-US" sz="11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-MC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email level, </a:t>
            </a:r>
            <a:r>
              <a:rPr lang="en-US" sz="11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-EC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error control, </a:t>
            </a:r>
            <a:r>
              <a:rPr lang="en-US" sz="11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-KF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keep-file — set once on </a:t>
            </a:r>
            <a:r>
              <a:rPr lang="en-US" sz="1100" b="1" dirty="0">
                <a:solidFill>
                  <a:srgbClr val="003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-SC</a:t>
            </a:r>
            <a:r>
              <a:rPr lang="en-US" sz="1100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instead of on every run.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950" dirty="0"/>
          </a:p>
        </p:txBody>
      </p:sp>
      <p:sp>
        <p:nvSpPr>
          <p:cNvPr id="125" name="Text 123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5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 &amp; Prerequisites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6656" y="1773936"/>
            <a:ext cx="566928" cy="566928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dsarch/dsupdt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2140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operational datasets run under dsupdt/dsarch control; dsupdt hands its local files to dsarch for archiving onto GDEX.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5544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19088" y="1773936"/>
            <a:ext cx="566928" cy="56692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14032" y="1737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$UPDTWKP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4032" y="212140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Root for working dirs (unset → -WD used as-is). Hourly files sharing a name across days need a date pattern in -WD to keep each workdir/server-file pair unique, e.g. -WD $UPDTWKP/zji/ds084.1/&lt;YYYYMMDD&gt;.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" y="3328416"/>
            <a:ext cx="566928" cy="566928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67588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the owning specialist may run a record. Use -MD to override, or -LN to run on behalf of another (auto-adds -MD to dsarch).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31089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19088" y="3328416"/>
            <a:ext cx="566928" cy="566928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14032" y="3291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dNNNNNN.*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14032" y="367588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files must start with the dataset number and match -DS — a guard against operating on the wrong dataset.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656" y="4882896"/>
            <a:ext cx="566928" cy="566928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" y="4882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846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-PL parallelism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23036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Fork N child processes, each handling one record, for datasets with many independent, time-consuming updates.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9632" y="46634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9D6F2"/>
            </a:solidFill>
            <a:prstDash val="solid"/>
          </a:ln>
          <a:effectLst>
            <a:outerShdw blurRad="50800" dist="25400" dir="5400000" algn="bl" rotWithShape="0">
              <a:srgbClr val="C3D7E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19088" y="4882896"/>
            <a:ext cx="566928" cy="566928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19088" y="4882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✉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14032" y="4846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-DB / logs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14032" y="523036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Debug logging via -DB level [path] [file]; default log path $GDEXHOME/dssdb/log, file pgdss.dbg.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Troubleshooting &amp; Recovery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0057C2"/>
            </a:solidFill>
            <a:prstDash val="solid"/>
          </a:ln>
          <a:effectLst>
            <a:outerShdw blurRad="63500" dist="25400" dir="5400000" algn="bl" rotWithShape="0">
              <a:srgbClr val="C3D7E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00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Stuck lock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crashed run may leave PID/host on a record, blocking reprocessing on another host.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743200"/>
            <a:ext cx="5020056" cy="621792"/>
          </a:xfrm>
          <a:prstGeom prst="roundRect">
            <a:avLst>
              <a:gd name="adj" fmla="val 7353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274320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-UL -CI 57</a:t>
            </a:r>
            <a:endParaRPr lang="en-US" sz="11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-UL -LI 33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55448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0092DB"/>
            </a:solidFill>
            <a:prstDash val="solid"/>
          </a:ln>
          <a:effectLst>
            <a:outerShdw blurRad="63500" dist="25400" dir="5400000" algn="bl" rotWithShape="0">
              <a:srgbClr val="C3D7E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28232" y="1783080"/>
            <a:ext cx="502920" cy="502920"/>
          </a:xfrm>
          <a:prstGeom prst="ellipse">
            <a:avLst/>
          </a:prstGeom>
          <a:solidFill>
            <a:srgbClr val="009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68312" y="1755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data ready?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73952" y="2331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remote-file availability before committing to an update.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55664" y="2743200"/>
            <a:ext cx="5020056" cy="621792"/>
          </a:xfrm>
          <a:prstGeom prst="roundRect">
            <a:avLst>
              <a:gd name="adj" fmla="val 7353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74320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d540000 -CU -CA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C25E00"/>
            </a:solidFill>
            <a:prstDash val="solid"/>
          </a:ln>
          <a:effectLst>
            <a:outerShdw blurRad="63500" dist="25400" dir="5400000" algn="bl" rotWithShape="0">
              <a:srgbClr val="C3D7E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C25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950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Re-run a period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Substitute a different date to re-archive or recover a deleted action.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3232" y="4937760"/>
            <a:ext cx="5020056" cy="621792"/>
          </a:xfrm>
          <a:prstGeom prst="roundRect">
            <a:avLst>
              <a:gd name="adj" fmla="val 7353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493776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d540000 -UF -CD 2026-07-01 -RA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3749040"/>
            <a:ext cx="5532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5400000" algn="bl" rotWithShape="0">
              <a:srgbClr val="C3D7E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2823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68312" y="39502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Retry on failure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73952" y="4526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356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 records retry automatically after -RI; -EC sets error behavior.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55664" y="4937760"/>
            <a:ext cx="5020056" cy="621792"/>
          </a:xfrm>
          <a:prstGeom prst="roundRect">
            <a:avLst>
              <a:gd name="adj" fmla="val 7353"/>
            </a:avLst>
          </a:prstGeom>
          <a:solidFill>
            <a:srgbClr val="01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93776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9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d540000 -SC -CI 5 -RI 12H -EC 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5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5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terio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dex_lock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65760"/>
            <a:ext cx="1024128" cy="521208"/>
          </a:xfrm>
          <a:prstGeom prst="rect">
            <a:avLst/>
          </a:prstGeom>
        </p:spPr>
      </p:pic>
      <p:pic>
        <p:nvPicPr>
          <p:cNvPr id="4" name="Image 2" descr="nsf_ncar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393192"/>
            <a:ext cx="1892808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950" dirty="0"/>
          </a:p>
        </p:txBody>
      </p:sp>
      <p:sp>
        <p:nvSpPr>
          <p:cNvPr id="6" name="Shape 1"/>
          <p:cNvSpPr/>
          <p:nvPr/>
        </p:nvSpPr>
        <p:spPr>
          <a:xfrm>
            <a:off x="612648" y="6437376"/>
            <a:ext cx="0" cy="20116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1527048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RECAP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527048" y="1554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Config to Archive</a:t>
            </a:r>
            <a:endParaRPr lang="en-US" sz="4000" dirty="0"/>
          </a:p>
        </p:txBody>
      </p:sp>
      <p:sp>
        <p:nvSpPr>
          <p:cNvPr id="10" name="Shape 5"/>
          <p:cNvSpPr/>
          <p:nvPr/>
        </p:nvSpPr>
        <p:spPr>
          <a:xfrm>
            <a:off x="1527048" y="2606040"/>
            <a:ext cx="502920" cy="502920"/>
          </a:xfrm>
          <a:prstGeom prst="ellipse">
            <a:avLst/>
          </a:prstGeom>
          <a:solidFill>
            <a:srgbClr val="0035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52704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2212848" y="2606040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  </a:t>
            </a:r>
            <a:r>
              <a:rPr lang="en-US" sz="150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record types: control (dcupdt), local (dlupdt), remote (drupdt)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527048" y="3319272"/>
            <a:ext cx="502920" cy="502920"/>
          </a:xfrm>
          <a:prstGeom prst="ellipse">
            <a:avLst/>
          </a:prstGeom>
          <a:solidFill>
            <a:srgbClr val="0035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527048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2212848" y="3319272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 </a:t>
            </a:r>
            <a:r>
              <a:rPr lang="en-US" sz="150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-UF drives download → build → archive → clean in one command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527048" y="4032504"/>
            <a:ext cx="502920" cy="502920"/>
          </a:xfrm>
          <a:prstGeom prst="ellipse">
            <a:avLst/>
          </a:prstGeom>
          <a:solidFill>
            <a:srgbClr val="0035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1527048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12848" y="4032504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 </a:t>
            </a:r>
            <a:r>
              <a:rPr lang="en-US" sz="150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 to a control record; dscheck dispatches, retries, and reports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1527048" y="4745736"/>
            <a:ext cx="502920" cy="502920"/>
          </a:xfrm>
          <a:prstGeom prst="ellipse">
            <a:avLst/>
          </a:prstGeom>
          <a:solidFill>
            <a:srgbClr val="0035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527048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212848" y="4745736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Tune  </a:t>
            </a:r>
            <a:r>
              <a:rPr lang="en-US" sz="150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patterns, valid interval, parallelism, and email controls per record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527048" y="553212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00357A"/>
          </a:solidFill>
          <a:ln w="12700">
            <a:solidFill>
              <a:srgbClr val="42C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755648" y="55321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2C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more  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-h &lt;OPT&gt;</a:t>
            </a:r>
            <a:r>
              <a:rPr lang="en-US" sz="125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•   dsupdt.usg   •   </a:t>
            </a:r>
            <a:r>
              <a:rPr lang="en-US" sz="1250" u="sng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gdex-docs-dsupdt.readthedocs.io</a:t>
            </a:r>
            <a:r>
              <a:rPr lang="en-US" sz="125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•   </a:t>
            </a:r>
            <a:r>
              <a:rPr lang="en-US" sz="1250" u="sng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github.com/NCAR/rda-python-dsupdt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5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terio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dex_lock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65760"/>
            <a:ext cx="1024128" cy="521208"/>
          </a:xfrm>
          <a:prstGeom prst="rect">
            <a:avLst/>
          </a:prstGeom>
        </p:spPr>
      </p:pic>
      <p:pic>
        <p:nvPicPr>
          <p:cNvPr id="4" name="Image 2" descr="nsf_ncar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393192"/>
            <a:ext cx="1892808" cy="52120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603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950" dirty="0"/>
          </a:p>
        </p:txBody>
      </p:sp>
      <p:sp>
        <p:nvSpPr>
          <p:cNvPr id="6" name="Shape 1"/>
          <p:cNvSpPr/>
          <p:nvPr/>
        </p:nvSpPr>
        <p:spPr>
          <a:xfrm>
            <a:off x="612648" y="6437376"/>
            <a:ext cx="0" cy="20116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/>
          <p:cNvSpPr/>
          <p:nvPr/>
        </p:nvSpPr>
        <p:spPr>
          <a:xfrm>
            <a:off x="786384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DSUPDT  •  DEVELOPER &amp; GENERAL USAGE GUIDE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1527048" y="1078992"/>
            <a:ext cx="9144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Questions?</a:t>
            </a:r>
            <a:endParaRPr lang="en-US" sz="5400" dirty="0"/>
          </a:p>
        </p:txBody>
      </p:sp>
      <p:sp>
        <p:nvSpPr>
          <p:cNvPr id="9" name="Shape 4"/>
          <p:cNvSpPr/>
          <p:nvPr/>
        </p:nvSpPr>
        <p:spPr>
          <a:xfrm>
            <a:off x="1527048" y="4160520"/>
            <a:ext cx="804672" cy="0"/>
          </a:xfrm>
          <a:prstGeom prst="line">
            <a:avLst/>
          </a:prstGeom>
          <a:noFill/>
          <a:ln w="38100">
            <a:solidFill>
              <a:srgbClr val="42C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527048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 — dsupdt keeps the operational datasets current, every day.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1527048" y="516636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00357A"/>
          </a:solidFill>
          <a:ln w="12700">
            <a:solidFill>
              <a:srgbClr val="42C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755648" y="51663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Zaihua Ji   •   zji@ucar.edu   •   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dsupdt -h &lt;OPT&gt;</a:t>
            </a:r>
            <a:r>
              <a:rPr lang="en-US" sz="1250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•   dsupdt.usg   •   </a:t>
            </a:r>
            <a:r>
              <a:rPr lang="en-US" sz="1250" u="sng" dirty="0">
                <a:solidFill>
                  <a:srgbClr val="D5E8FA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github.com/NCAR/rda-python-dsupdt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4644</Words>
  <Application>Microsoft Macintosh PowerPoint</Application>
  <PresentationFormat>Widescreen</PresentationFormat>
  <Paragraphs>762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Zaihua Ji</cp:lastModifiedBy>
  <cp:revision>2</cp:revision>
  <dcterms:created xsi:type="dcterms:W3CDTF">2026-08-20T15:39:03Z</dcterms:created>
  <dcterms:modified xsi:type="dcterms:W3CDTF">2026-09-03T17:21:04Z</dcterms:modified>
</cp:coreProperties>
</file>