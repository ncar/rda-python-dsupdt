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NTERIOR-image-3.jpeg"/><Relationship Id="rId4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NTERIOR_NG-image-2.jpe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ERIOR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83496" y="402336"/>
            <a:ext cx="1892808" cy="521208"/>
          </a:xfrm>
          <a:prstGeom prst="rect">
            <a:avLst/>
          </a:prstGeom>
        </p:spPr>
      </p:pic>
      <p:pic>
        <p:nvPicPr>
          <p:cNvPr id="3" name="Image 1" descr="gdex_lockup_col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6184" y="6126480"/>
            <a:ext cx="960120" cy="484632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12648" y="6437376"/>
            <a:ext cx="0" cy="201168"/>
          </a:xfrm>
          <a:prstGeom prst="line">
            <a:avLst/>
          </a:prstGeom>
          <a:noFill/>
          <a:ln w="9525">
            <a:solidFill>
              <a:srgbClr val="00357A"/>
            </a:solidFill>
            <a:prstDash val="solid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ERIOR_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83496" y="402336"/>
            <a:ext cx="1892808" cy="5212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12648" y="6437376"/>
            <a:ext cx="0" cy="201168"/>
          </a:xfrm>
          <a:prstGeom prst="line">
            <a:avLst/>
          </a:prstGeom>
          <a:noFill/>
          <a:ln w="9525">
            <a:solidFill>
              <a:srgbClr val="00357A"/>
            </a:solidFill>
            <a:prstDash val="solid"/>
          </a:ln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NCAR/rda-python-dsupdt" TargetMode="External"/><Relationship Id="rId2" Type="http://schemas.openxmlformats.org/officeDocument/2006/relationships/hyperlink" Target="https://pypi.org/project/rda-python-dsupdt" TargetMode="External"/><Relationship Id="rId3" Type="http://schemas.openxmlformats.org/officeDocument/2006/relationships/hyperlink" Target="https://gdex-docs-dsupdt.readthedocs.io" TargetMode="Externa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4" Type="http://schemas.openxmlformats.org/officeDocument/2006/relationships/hyperlink" Target="https://gdex-docs-dsupdt.readthedocs.io" TargetMode="External"/><Relationship Id="rId5" Type="http://schemas.openxmlformats.org/officeDocument/2006/relationships/hyperlink" Target="https://github.com/NCAR/rda-python-dsupdt" TargetMode="External"/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4" Type="http://schemas.openxmlformats.org/officeDocument/2006/relationships/hyperlink" Target="https://github.com/NCAR/rda-python-dsupdt" TargetMode="External"/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1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ver_eart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81528" y="0"/>
            <a:ext cx="9107424" cy="6858000"/>
          </a:xfrm>
          <a:prstGeom prst="rect">
            <a:avLst/>
          </a:prstGeom>
        </p:spPr>
      </p:pic>
      <p:pic>
        <p:nvPicPr>
          <p:cNvPr id="3" name="Image 1" descr="cover_bl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686800" cy="6858000"/>
          </a:xfrm>
          <a:prstGeom prst="rect">
            <a:avLst/>
          </a:prstGeom>
        </p:spPr>
      </p:pic>
      <p:pic>
        <p:nvPicPr>
          <p:cNvPr id="4" name="Image 2" descr="nsf_ncar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758952"/>
            <a:ext cx="3794760" cy="1042416"/>
          </a:xfrm>
          <a:prstGeom prst="rect">
            <a:avLst/>
          </a:prstGeom>
        </p:spPr>
      </p:pic>
      <p:pic>
        <p:nvPicPr>
          <p:cNvPr id="5" name="Image 3" descr="gdex_lockup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722376"/>
            <a:ext cx="2212848" cy="1115568"/>
          </a:xfrm>
          <a:prstGeom prst="rect">
            <a:avLst/>
          </a:prstGeom>
        </p:spPr>
      </p:pic>
      <p:sp>
        <p:nvSpPr>
          <p:cNvPr id="6" name="Shape 0"/>
          <p:cNvSpPr/>
          <p:nvPr/>
        </p:nvSpPr>
        <p:spPr>
          <a:xfrm>
            <a:off x="0" y="2258568"/>
            <a:ext cx="210312" cy="3429000"/>
          </a:xfrm>
          <a:prstGeom prst="rect">
            <a:avLst/>
          </a:prstGeom>
          <a:solidFill>
            <a:srgbClr val="FAA119"/>
          </a:solidFill>
          <a:ln/>
        </p:spPr>
      </p:sp>
      <p:sp>
        <p:nvSpPr>
          <p:cNvPr id="7" name="Text 1"/>
          <p:cNvSpPr/>
          <p:nvPr/>
        </p:nvSpPr>
        <p:spPr>
          <a:xfrm>
            <a:off x="923544" y="20025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UPDATED AUGUST 2026</a:t>
            </a:r>
            <a:endParaRPr lang="en-US" sz="1100" dirty="0"/>
          </a:p>
        </p:txBody>
      </p:sp>
      <p:sp>
        <p:nvSpPr>
          <p:cNvPr id="8" name="Text 2"/>
          <p:cNvSpPr/>
          <p:nvPr/>
        </p:nvSpPr>
        <p:spPr>
          <a:xfrm>
            <a:off x="923544" y="2331720"/>
            <a:ext cx="50292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dsupdt: Periodic Dataset Updates for the GDEX Servers</a:t>
            </a:r>
            <a:endParaRPr lang="en-US" sz="2900" dirty="0"/>
          </a:p>
        </p:txBody>
      </p:sp>
      <p:sp>
        <p:nvSpPr>
          <p:cNvPr id="9" name="Text 3"/>
          <p:cNvSpPr/>
          <p:nvPr/>
        </p:nvSpPr>
        <p:spPr>
          <a:xfrm>
            <a:off x="923544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→ Build → Archive, scheduled and automated</a:t>
            </a:r>
            <a:endParaRPr lang="en-US" sz="1300" dirty="0"/>
          </a:p>
        </p:txBody>
      </p:sp>
      <p:sp>
        <p:nvSpPr>
          <p:cNvPr id="10" name="Shape 4"/>
          <p:cNvSpPr/>
          <p:nvPr/>
        </p:nvSpPr>
        <p:spPr>
          <a:xfrm>
            <a:off x="923544" y="4581144"/>
            <a:ext cx="804672" cy="0"/>
          </a:xfrm>
          <a:prstGeom prst="line">
            <a:avLst/>
          </a:prstGeom>
          <a:noFill/>
          <a:ln w="38100">
            <a:solidFill>
              <a:srgbClr val="42C0FF"/>
            </a:solidFill>
            <a:prstDash val="solid"/>
          </a:ln>
        </p:spPr>
      </p:sp>
      <p:sp>
        <p:nvSpPr>
          <p:cNvPr id="11" name="Text 5"/>
          <p:cNvSpPr/>
          <p:nvPr/>
        </p:nvSpPr>
        <p:spPr>
          <a:xfrm>
            <a:off x="923544" y="482803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Zaihua Ji</a:t>
            </a:r>
            <a:endParaRPr lang="en-US" sz="1600" dirty="0"/>
          </a:p>
        </p:txBody>
      </p:sp>
      <p:sp>
        <p:nvSpPr>
          <p:cNvPr id="12" name="Text 6"/>
          <p:cNvSpPr/>
          <p:nvPr/>
        </p:nvSpPr>
        <p:spPr>
          <a:xfrm>
            <a:off x="923544" y="514807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Software Engineer  •  zji@ucar.edu</a:t>
            </a:r>
            <a:endParaRPr lang="en-US" sz="1600" dirty="0"/>
          </a:p>
        </p:txBody>
      </p:sp>
      <p:sp>
        <p:nvSpPr>
          <p:cNvPr id="13" name="Text 7"/>
          <p:cNvSpPr/>
          <p:nvPr/>
        </p:nvSpPr>
        <p:spPr>
          <a:xfrm>
            <a:off x="923544" y="555955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 • GENERAL USAGE • COMPANION UTILITY TO DSARCH</a:t>
            </a:r>
            <a:endParaRPr lang="en-US" sz="950" dirty="0"/>
          </a:p>
        </p:txBody>
      </p:sp>
      <p:sp>
        <p:nvSpPr>
          <p:cNvPr id="14" name="Text 8"/>
          <p:cNvSpPr/>
          <p:nvPr/>
        </p:nvSpPr>
        <p:spPr>
          <a:xfrm>
            <a:off x="923544" y="62179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i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Orchestrated by the dscheck daemon: dsupdt retrieves data from remote servers, assembles archive-ready local files, and hands them to dsarch for archiving onto the GDEX Servers.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is dsupdt?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performs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periodic dataset updates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— it retrieves data from remote servers, assembles archive-ready local files, and hands them to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for archiving onto the GDEX Servers.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246120"/>
            <a:ext cx="4846320" cy="2788920"/>
          </a:xfrm>
          <a:prstGeom prst="roundRect">
            <a:avLst>
              <a:gd name="adj" fmla="val 3279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246120"/>
            <a:ext cx="109728" cy="2788920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401568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Configured per dataset in GDEXDB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31520" y="3785616"/>
            <a:ext cx="4279392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895344"/>
            <a:ext cx="4389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6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operational datasets run under </a:t>
            </a:r>
            <a:pPr indent="0" marL="0">
              <a:lnSpc>
                <a:spcPct val="106000"/>
              </a:lnSpc>
              <a:spcAft>
                <a:spcPts val="700"/>
              </a:spcAft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/ dsarch</a:t>
            </a:r>
            <a:pPr indent="0" marL="0">
              <a:lnSpc>
                <a:spcPct val="106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configuration spans three record types.</a:t>
            </a:r>
            <a:endParaRPr lang="en-US" sz="1250" dirty="0"/>
          </a:p>
          <a:p>
            <a:pPr marL="190500" indent="-190500">
              <a:lnSpc>
                <a:spcPct val="106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Edit records from the CLI (</a:t>
            </a:r>
            <a:pPr indent="0" marL="0">
              <a:lnSpc>
                <a:spcPct val="106000"/>
              </a:lnSpc>
              <a:spcAft>
                <a:spcPts val="700"/>
              </a:spcAft>
              <a:buNone/>
            </a:pPr>
            <a:r>
              <a:rPr lang="en-US" sz="12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06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 or the web Config Editor (next slide).</a:t>
            </a:r>
            <a:endParaRPr lang="en-US" sz="1250" dirty="0"/>
          </a:p>
          <a:p>
            <a:pPr marL="190500" indent="-190500">
              <a:lnSpc>
                <a:spcPct val="106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the owning specialist may run an update record (override with </a:t>
            </a:r>
            <a:pPr indent="0" marL="0">
              <a:lnSpc>
                <a:spcPct val="106000"/>
              </a:lnSpc>
              <a:spcAft>
                <a:spcPts val="700"/>
              </a:spcAft>
              <a:buNone/>
            </a:pPr>
            <a:r>
              <a:rPr lang="en-US" sz="12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-MD</a:t>
            </a:r>
            <a:pPr indent="0" marL="0">
              <a:lnSpc>
                <a:spcPct val="106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).</a:t>
            </a:r>
            <a:endParaRPr lang="en-US" sz="1250" dirty="0"/>
          </a:p>
          <a:p>
            <a:pPr marL="190500" indent="-190500">
              <a:lnSpc>
                <a:spcPct val="106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files must be named </a:t>
            </a:r>
            <a:pPr indent="0" marL="0">
              <a:lnSpc>
                <a:spcPct val="106000"/>
              </a:lnSpc>
              <a:spcAft>
                <a:spcPts val="700"/>
              </a:spcAft>
              <a:buNone/>
            </a:pPr>
            <a:r>
              <a:rPr lang="en-US" sz="12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pPr indent="0" marL="0">
              <a:lnSpc>
                <a:spcPct val="106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to guard against the wrong dataset.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71500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916168" y="17282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12" name="Text 10"/>
          <p:cNvSpPr/>
          <p:nvPr/>
        </p:nvSpPr>
        <p:spPr>
          <a:xfrm>
            <a:off x="591616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⚙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62940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Configure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62940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controls, local &amp; remote file records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00684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208008" y="17282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7" name="Text 15"/>
          <p:cNvSpPr/>
          <p:nvPr/>
        </p:nvSpPr>
        <p:spPr>
          <a:xfrm>
            <a:off x="920800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↓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92124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92124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copy / fetch server files to a working area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71500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916168" y="33284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2" name="Text 20"/>
          <p:cNvSpPr/>
          <p:nvPr/>
        </p:nvSpPr>
        <p:spPr>
          <a:xfrm>
            <a:off x="591616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⚡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62940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Validate &amp; Build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2940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specialist routines, tar &amp; compress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00684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208008" y="33284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27" name="Text 25"/>
          <p:cNvSpPr/>
          <p:nvPr/>
        </p:nvSpPr>
        <p:spPr>
          <a:xfrm>
            <a:off x="920800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☁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92124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92124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 local files to dsarch → GDEX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71500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916168" y="49286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2" name="Text 30"/>
          <p:cNvSpPr/>
          <p:nvPr/>
        </p:nvSpPr>
        <p:spPr>
          <a:xfrm>
            <a:off x="591616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✗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62940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Clean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62940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remove temporary files after success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00684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9208008" y="49286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37" name="Text 35"/>
          <p:cNvSpPr/>
          <p:nvPr/>
        </p:nvSpPr>
        <p:spPr>
          <a:xfrm>
            <a:off x="920800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992124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Check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992124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 remote-file availability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IT &amp; LEARN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 &amp; Resources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691640"/>
            <a:ext cx="3602736" cy="128016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075688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⌥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1732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Repository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 code, issues, and contributions.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3152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11" name="Text 9"/>
          <p:cNvSpPr/>
          <p:nvPr/>
        </p:nvSpPr>
        <p:spPr>
          <a:xfrm>
            <a:off x="859536" y="3703320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NCAR/rda-python-dsupdt.git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github.com/NCAR/rda-python-dsupdt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9768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297680" y="1691640"/>
            <a:ext cx="3602736" cy="128016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0" y="2075688"/>
            <a:ext cx="566928" cy="56692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25780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PyPI Package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 the released package with pip.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21" name="Text 19"/>
          <p:cNvSpPr/>
          <p:nvPr/>
        </p:nvSpPr>
        <p:spPr>
          <a:xfrm>
            <a:off x="4700016" y="3703320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rda_python_dsupdt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pypi.org/project/rda-python-dsupdt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13816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8160" y="1691640"/>
            <a:ext cx="3602736" cy="128016"/>
          </a:xfrm>
          <a:prstGeom prst="rect">
            <a:avLst/>
          </a:prstGeom>
          <a:solidFill>
            <a:srgbClr val="C25E00"/>
          </a:solidFill>
          <a:ln/>
        </p:spPr>
      </p:sp>
      <p:sp>
        <p:nvSpPr>
          <p:cNvPr id="26" name="Shape 24"/>
          <p:cNvSpPr/>
          <p:nvPr/>
        </p:nvSpPr>
        <p:spPr>
          <a:xfrm>
            <a:off x="8412480" y="2075688"/>
            <a:ext cx="566928" cy="566928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7" name="Text 25"/>
          <p:cNvSpPr/>
          <p:nvPr/>
        </p:nvSpPr>
        <p:spPr>
          <a:xfrm>
            <a:off x="841248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▤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09828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Documentation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41248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 the Docs, built from the GitHub repo gdex-docs-dsupdt.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41248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1248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gdex-docs-dsupdt.readthedocs.io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57200" y="587044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console command:  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installing the package puts the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command on your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— run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to get started.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Five-Stage Update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DCEBF7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9576" y="2267712"/>
            <a:ext cx="640080" cy="64008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1179576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 Files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original files on the remote server or a local area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14600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816352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DCEBF7"/>
          </a:solidFill>
          <a:ln w="25400">
            <a:solidFill>
              <a:srgbClr val="0092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93008" y="2267712"/>
            <a:ext cx="640080" cy="64008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2" name="Text 10"/>
          <p:cNvSpPr/>
          <p:nvPr/>
        </p:nvSpPr>
        <p:spPr>
          <a:xfrm>
            <a:off x="3493008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907792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Files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53512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staged in the working directory (-WD)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28032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5129784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06440" y="2267712"/>
            <a:ext cx="640080" cy="64008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8" name="Text 16"/>
          <p:cNvSpPr/>
          <p:nvPr/>
        </p:nvSpPr>
        <p:spPr>
          <a:xfrm>
            <a:off x="5806440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221224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66944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validated, converted, tarred / compressed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141464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7443216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DCEBF7"/>
          </a:solidFill>
          <a:ln w="25400">
            <a:solidFill>
              <a:srgbClr val="C25E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19872" y="2267712"/>
            <a:ext cx="640080" cy="64008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4" name="Text 22"/>
          <p:cNvSpPr/>
          <p:nvPr/>
        </p:nvSpPr>
        <p:spPr>
          <a:xfrm>
            <a:off x="8119872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534656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80376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 action AS / AW / AQ applied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54896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9756648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011837"/>
          </a:solidFill>
          <a:ln w="25400">
            <a:solidFill>
              <a:srgbClr val="01183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433304" y="2267712"/>
            <a:ext cx="640080" cy="640080"/>
          </a:xfrm>
          <a:prstGeom prst="ellipse">
            <a:avLst/>
          </a:prstGeom>
          <a:solidFill>
            <a:srgbClr val="011837"/>
          </a:solidFill>
          <a:ln/>
        </p:spPr>
      </p:sp>
      <p:sp>
        <p:nvSpPr>
          <p:cNvPr id="30" name="Text 28"/>
          <p:cNvSpPr/>
          <p:nvPr/>
        </p:nvSpPr>
        <p:spPr>
          <a:xfrm>
            <a:off x="10433304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848088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GDEX Servers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893808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published &amp; discoverable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4892040"/>
            <a:ext cx="11201400" cy="1234440"/>
          </a:xfrm>
          <a:prstGeom prst="roundRect">
            <a:avLst>
              <a:gd name="adj" fmla="val 7407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5138928"/>
            <a:ext cx="731520" cy="73152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51389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⌘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64592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command runs the whole chain. 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 (-UpdateFile)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performs all stages end-to-end. The individual steps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let you drive each stage separately.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Three Record Types in GDEXDB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57C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3611880" cy="502920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Control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-SC / -GC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Schedules when updates run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frequency, offset, retry, valid interval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Email &amp; error controls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Launched by the dscheck daemon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25112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92DB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92DB"/>
          </a:solidFill>
          <a:ln/>
        </p:spPr>
      </p:sp>
      <p:sp>
        <p:nvSpPr>
          <p:cNvPr id="12" name="Shape 10"/>
          <p:cNvSpPr/>
          <p:nvPr/>
        </p:nvSpPr>
        <p:spPr>
          <a:xfrm>
            <a:off x="4325112" y="2103120"/>
            <a:ext cx="3611880" cy="502920"/>
          </a:xfrm>
          <a:prstGeom prst="rect">
            <a:avLst/>
          </a:prstGeom>
          <a:solidFill>
            <a:srgbClr val="0092DB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-SL / -GL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9432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Minimum config for an update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 name &amp; dsarch action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/ build / clean commands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Tracks next end date/hour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193024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97A7"/>
          </a:solidFill>
          <a:ln/>
        </p:spPr>
      </p:sp>
      <p:sp>
        <p:nvSpPr>
          <p:cNvPr id="18" name="Shape 16"/>
          <p:cNvSpPr/>
          <p:nvPr/>
        </p:nvSpPr>
        <p:spPr>
          <a:xfrm>
            <a:off x="8193024" y="2103120"/>
            <a:ext cx="3611880" cy="502920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File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21624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-SR / -GR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67344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when remote ≠ local name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Many remotes → one local file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 file &amp; download order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Remote-file frequency (many → one)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57200" y="5815584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→ edit → Set:  </a:t>
            </a:r>
            <a:pPr algn="ctr" indent="0" marL="0">
              <a:buNone/>
            </a:pPr>
            <a:r>
              <a:rPr lang="en-US" sz="13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(-GetAll)</a:t>
            </a:r>
            <a:pPr algn="ctr" indent="0" marL="0">
              <a:buNone/>
            </a:pPr>
            <a:r>
              <a:rPr lang="en-US" sz="13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dumps all three sections;  </a:t>
            </a:r>
            <a:pPr algn="ctr" indent="0" marL="0">
              <a:buNone/>
            </a:pPr>
            <a:r>
              <a:rPr lang="en-US" sz="13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-SA (-SetAll)</a:t>
            </a:r>
            <a:pPr algn="ctr" indent="0" marL="0">
              <a:buNone/>
            </a:pPr>
            <a:r>
              <a:rPr lang="en-US" sz="13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applies an edited file back to GDEXDB.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Anatomy of a Command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11837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087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buNone/>
            </a:pPr>
            <a:r>
              <a:rPr lang="en-US" sz="22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[-DS dNNNNNN] </a:t>
            </a:r>
            <a:pPr indent="0" marL="0">
              <a:buNone/>
            </a:pPr>
            <a:r>
              <a:rPr lang="en-US" sz="22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&lt;Action&gt; </a:t>
            </a:r>
            <a:pPr indent="0" marL="0">
              <a:buNone/>
            </a:pPr>
            <a:r>
              <a:rPr lang="en-US" sz="22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[Mode…] </a:t>
            </a:r>
            <a:pPr indent="0" marL="0">
              <a:buNone/>
            </a:pPr>
            <a:r>
              <a:rPr lang="en-US" sz="2200" b="1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[Info…]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CEBF7"/>
          </a:solidFill>
          <a:ln w="25400">
            <a:solidFill>
              <a:srgbClr val="C25E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E83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651760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C25E00"/>
          </a:solidFill>
          <a:ln/>
        </p:spPr>
      </p:sp>
      <p:sp>
        <p:nvSpPr>
          <p:cNvPr id="9" name="Text 7"/>
          <p:cNvSpPr/>
          <p:nvPr/>
        </p:nvSpPr>
        <p:spPr>
          <a:xfrm>
            <a:off x="2651760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per run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Selects the task. Takes no value. E.g. -UF, -GC, -SL, -AF. Some actions imply others.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25112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81144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97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519672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0097A7"/>
          </a:solidFill>
          <a:ln/>
        </p:spPr>
      </p:sp>
      <p:sp>
        <p:nvSpPr>
          <p:cNvPr id="14" name="Text 12"/>
          <p:cNvSpPr/>
          <p:nvPr/>
        </p:nvSpPr>
        <p:spPr>
          <a:xfrm>
            <a:off x="6519672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Zero or more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81144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Modifies behavior; takes no value. E.g. -MU, -FU, -RA, -NE, -GZ.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CEBF7"/>
          </a:solidFill>
          <a:ln w="25400">
            <a:solidFill>
              <a:srgbClr val="0092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49056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387584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0092DB"/>
          </a:solidFill>
          <a:ln/>
        </p:spPr>
      </p:sp>
      <p:sp>
        <p:nvSpPr>
          <p:cNvPr id="19" name="Text 17"/>
          <p:cNvSpPr/>
          <p:nvPr/>
        </p:nvSpPr>
        <p:spPr>
          <a:xfrm>
            <a:off x="10387584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Carries data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449056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Supplies values: dataset, indices, dates, file names, commands. E.g. -CI, -ED, -LF.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5074920"/>
            <a:ext cx="11247120" cy="1005840"/>
          </a:xfrm>
          <a:prstGeom prst="roundRect">
            <a:avLst>
              <a:gd name="adj" fmla="val 9091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13892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Notation &amp; filters 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(A|B)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short|long form  •  option names are case-insensitive, values are not  •  Get-style filters accept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&lt; &gt; &lt;&gt;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•  the first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may omit its option name.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Quick Start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11680"/>
            <a:ext cx="384048" cy="38404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 a single option's help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8016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-UF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73952" y="2011680"/>
            <a:ext cx="384048" cy="38404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04088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update control records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04088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15" name="Text 13"/>
          <p:cNvSpPr/>
          <p:nvPr/>
        </p:nvSpPr>
        <p:spPr>
          <a:xfrm>
            <a:off x="717804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3232" y="3511296"/>
            <a:ext cx="384048" cy="38404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local file records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28016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21" name="Text 19"/>
          <p:cNvSpPr/>
          <p:nvPr/>
        </p:nvSpPr>
        <p:spPr>
          <a:xfrm>
            <a:off x="141732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73952" y="3511296"/>
            <a:ext cx="384048" cy="38404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04088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download–build–archive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04088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27" name="Text 25"/>
          <p:cNvSpPr/>
          <p:nvPr/>
        </p:nvSpPr>
        <p:spPr>
          <a:xfrm>
            <a:off x="717804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3232" y="5010912"/>
            <a:ext cx="384048" cy="38404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30" name="Text 28"/>
          <p:cNvSpPr/>
          <p:nvPr/>
        </p:nvSpPr>
        <p:spPr>
          <a:xfrm>
            <a:off x="71323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28016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all elapsed periods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28016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33" name="Text 31"/>
          <p:cNvSpPr/>
          <p:nvPr/>
        </p:nvSpPr>
        <p:spPr>
          <a:xfrm>
            <a:off x="141732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-MU -IE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21792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73952" y="5010912"/>
            <a:ext cx="384048" cy="384048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04088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Check remote-file availability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04088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39" name="Text 37"/>
          <p:cNvSpPr/>
          <p:nvPr/>
        </p:nvSpPr>
        <p:spPr>
          <a:xfrm>
            <a:off x="717804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57200" y="6016752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Tip:  </a:t>
            </a:r>
            <a:pPr algn="ctr"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 </a:t>
            </a:r>
            <a:pPr algn="ctr" indent="0" marL="0">
              <a:buNone/>
            </a:pPr>
            <a:r>
              <a:rPr lang="en-US" sz="11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</a:t>
            </a:r>
            <a:pPr algn="ctr"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with no arguments to page the full guide through  </a:t>
            </a:r>
            <a:pPr algn="ctr" indent="0" marL="0">
              <a:buNone/>
            </a:pPr>
            <a:r>
              <a:rPr lang="en-US" sz="11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</a:t>
            </a:r>
            <a:pPr algn="ctr"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Omit  </a:t>
            </a:r>
            <a:pPr algn="ctr" indent="0" marL="0">
              <a:buNone/>
            </a:pPr>
            <a:r>
              <a:rPr lang="en-US" sz="11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algn="ctr"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on Get actions to list records for all your datasets.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Configuration Workflow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DCEBF7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810512"/>
            <a:ext cx="640080" cy="64008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↓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85800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d277000 -GA -OF d277000.all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3232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Dump all control/local/remote records to a file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023360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325112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DCEBF7"/>
          </a:solidFill>
          <a:ln w="25400">
            <a:solidFill>
              <a:srgbClr val="C25E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81144" y="1810512"/>
            <a:ext cx="640080" cy="64008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81144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✎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330952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EDIT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53712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11837"/>
          </a:solidFill>
          <a:ln/>
        </p:spPr>
      </p:sp>
      <p:sp>
        <p:nvSpPr>
          <p:cNvPr id="17" name="Text 15"/>
          <p:cNvSpPr/>
          <p:nvPr/>
        </p:nvSpPr>
        <p:spPr>
          <a:xfrm>
            <a:off x="4672584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 d277000.all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1144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Adjust values; sections [DCUPDT] [DLUPDT] [DRUPDT]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891272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193024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49056" y="1810512"/>
            <a:ext cx="640080" cy="64008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2" name="Text 20"/>
          <p:cNvSpPr/>
          <p:nvPr/>
        </p:nvSpPr>
        <p:spPr>
          <a:xfrm>
            <a:off x="8449056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↑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198864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SET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8421624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11837"/>
          </a:solidFill>
          <a:ln/>
        </p:spPr>
      </p:sp>
      <p:sp>
        <p:nvSpPr>
          <p:cNvPr id="25" name="Text 23"/>
          <p:cNvSpPr/>
          <p:nvPr/>
        </p:nvSpPr>
        <p:spPr>
          <a:xfrm>
            <a:off x="8540496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d277000 -SA -IF d277000.all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49056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Apply the edited file back to GDEXDB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16052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 (-IF) format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2960" y="4709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114800" y="470916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comment line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22960" y="4983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Dataset&lt;=&gt;d277000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114800" y="498348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single-value assignment  ( -ES sets '&lt;=&gt;' )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22960" y="5257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SC&lt;!&gt;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114800" y="525780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 / Mode marker  ( -AO sets '&lt;!&gt;' )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22960" y="5532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col1&lt;:&gt;col2&lt;:&gt;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114800" y="55321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tabular header row  ( -DV sets '&lt;:&gt;' )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22960" y="5806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114800" y="580644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file name must start with the dataset number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 Config Editor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same three record types can be edited in a browser — no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Get/Edit/Set round-trip. Open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RDAMS PostgreSQL Configuration Editor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and expand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menu.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502920"/>
          </a:xfrm>
          <a:prstGeom prst="roundRect">
            <a:avLst>
              <a:gd name="adj" fmla="val 10909"/>
            </a:avLst>
          </a:prstGeom>
          <a:solidFill>
            <a:srgbClr val="011837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148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gdex.ucar.edu/rda_pg_config</a:t>
            </a:r>
            <a:pPr indent="0" marL="0">
              <a:buNone/>
            </a:pPr>
            <a:r>
              <a:rPr lang="en-US" sz="1300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›  DSUPDT  ›  Update Control | Local File | Remote File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CEBF7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057C2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3273552"/>
            <a:ext cx="3611880" cy="201168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Control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dsupdt_control.php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• -SC / -GC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85800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frequency, next-due, actions, e-mail &amp; error controls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25112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CEBF7"/>
          </a:solidFill>
          <a:ln w="25400">
            <a:solidFill>
              <a:srgbClr val="0092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25112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092DB"/>
          </a:solidFill>
          <a:ln/>
        </p:spPr>
      </p:sp>
      <p:sp>
        <p:nvSpPr>
          <p:cNvPr id="16" name="Shape 14"/>
          <p:cNvSpPr/>
          <p:nvPr/>
        </p:nvSpPr>
        <p:spPr>
          <a:xfrm>
            <a:off x="4325112" y="3273552"/>
            <a:ext cx="3611880" cy="201168"/>
          </a:xfrm>
          <a:prstGeom prst="rect">
            <a:avLst/>
          </a:prstGeom>
          <a:solidFill>
            <a:srgbClr val="0092DB"/>
          </a:solidFill>
          <a:ln/>
        </p:spPr>
      </p:sp>
      <p:sp>
        <p:nvSpPr>
          <p:cNvPr id="17" name="Text 15"/>
          <p:cNvSpPr/>
          <p:nvPr/>
        </p:nvSpPr>
        <p:spPr>
          <a:xfrm>
            <a:off x="4526280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553712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dsupdt_localfile.php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53712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• -SL / -GL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53712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file names, patterns, build / convert commands, archive action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93024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93024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097A7"/>
          </a:solidFill>
          <a:ln/>
        </p:spPr>
      </p:sp>
      <p:sp>
        <p:nvSpPr>
          <p:cNvPr id="23" name="Shape 21"/>
          <p:cNvSpPr/>
          <p:nvPr/>
        </p:nvSpPr>
        <p:spPr>
          <a:xfrm>
            <a:off x="8193024" y="3273552"/>
            <a:ext cx="3611880" cy="201168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File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421624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dsupdt_remotefile.php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21624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• -SR / -GR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421624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&amp; server names, download command &amp; order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✎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Split-pane editor: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pick a dataset &amp; record on top, edit fields below. A record is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locked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while open; add, edit, save, or delete, then release. Writes go straight to GDEXDB — identical to the CLI.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 • DCUPDT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Control Record  (-SC)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Schedules automatic actions launched by </a:t>
            </a:r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dscheck</a:t>
            </a:r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New record: index </a:t>
            </a:r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+ </a:t>
            </a:r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-NC</a:t>
            </a:r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Existing index is modified in place.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377440"/>
                <a:gridCol w="789127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Long name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Purpose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ActionName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dsupdt task: UF, DR, BL, PB, CL, CU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Frequency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update frequency — how often updates run, e.g. 1W, 1M, 1M/3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ControlOffset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delay after period end, e.g. 2D10H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ControlTime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next scheduled run  YYYY-MM-DD HH:NN:SS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RetryInterval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wait before retry after a failure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ValidInterval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validating window for re-checking archived files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ParentIndex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run only after parent control completes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UpdateControl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one letter per preset Mode option: A B C E F G M N O Y Z — see “Key Mode Options at a Glance”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EMailControl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 / S / E / B / N report level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ErrorControl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 ignore / Q quit / N normal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-KF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KeepFile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 / R / B / N which files to keep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-HN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HostName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restrict/allow processing hosts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 • DLUPDT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 Record  (-SL)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</a:t>
            </a:r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minimum</a:t>
            </a:r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configuration to update a file. Link to a control via </a:t>
            </a:r>
            <a:pPr indent="0" marL="0">
              <a:buNone/>
            </a:pPr>
            <a:r>
              <a:rPr lang="en-US" sz="14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</a:t>
            </a:r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so its scheduled action runs automatically.  New: </a:t>
            </a:r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0 + -NL</a:t>
            </a:r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2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Long name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2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Purpose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2D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-LF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LocalFile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name, may embed temporal patterns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ActionName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dsarch action: AS, AW, AQ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-OP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Options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options string passed to dsarch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DownloadCommand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fetch/copy/generate the file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Frequency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local data-file frequency, e.g. 1M, 6H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EndDate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data end date of next update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-EH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EndHour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 hour (sub-daily cadence)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2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Long name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2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Purpose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2D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DueInterval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 → ready lead time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ValidInterval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re-check / hold-open window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AgeTime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min remote-file age to fetch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WorkDir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staging dir (root $UPDTWKP)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ProcessRemote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user validate/convert cmd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BuildCommand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user build cmd (vs tar)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CleanCommand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remove temp files after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892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Patterns  </a:t>
            </a:r>
            <a:pPr algn="ctr"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-LF / -RF / -DC / -DE (default delimiters </a:t>
            </a:r>
            <a:pPr algn="ctr" indent="0" marL="0">
              <a:buNone/>
            </a:pPr>
            <a:r>
              <a:rPr lang="en-US" sz="12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algn="ctr"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 are substituted at update time, e.g. </a:t>
            </a:r>
            <a:pPr algn="ctr"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file.&lt;YYYYMM&gt;.ext → file.200710.ext</a:t>
            </a:r>
            <a:pPr algn="ctr"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 • DRUPDT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File Record  (-SR)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Add a remote record only in these three cases: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DCEBF7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2276856"/>
            <a:ext cx="603504" cy="603504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89888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Different name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89888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or server file name differs from the local file name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5112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DCEBF7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44568" y="2276856"/>
            <a:ext cx="603504" cy="603504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2" name="Text 10"/>
          <p:cNvSpPr/>
          <p:nvPr/>
        </p:nvSpPr>
        <p:spPr>
          <a:xfrm>
            <a:off x="4544568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∑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257800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Many → one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57800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several remote files are tarred into one local file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93024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DCEBF7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276856"/>
            <a:ext cx="603504" cy="603504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⇄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125712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Multiple servers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25712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file available from several servers (-DO order)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286000"/>
                <a:gridCol w="798271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Long name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Purpose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LocalIndex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local record this remote belongs to (required)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RemoteFile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remote name(s); join many with '::' ; '!' = shell cmd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-SF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ServerFile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name on server if different from remote name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DownloadCommand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overrides the local record's command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DownloadOrder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try lowest index first, then ascending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-TI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TimeInterval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remote-file frequency — only when many remotes → one local, e.g. 6H, 5D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BeginTime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window start (with -TI)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EndTime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window end (with -TI)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Update Action Family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C25E00"/>
          </a:solidFill>
          <a:ln w="12700">
            <a:solidFill>
              <a:srgbClr val="C25E00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File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DBE2E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end-to-end: download → build → archive → clean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0128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93008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93008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Remote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93008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fetch/copy/generate remote files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45936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45936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Local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45936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validate, convert, tar/compress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15984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98864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98864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Both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98864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+ build in one step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 File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 local files to dsarch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10128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493008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49300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Clean File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93008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remove temporary working files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63056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45936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-CU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45936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Check Update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345936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 remote-file availability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3565A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198864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-UL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198864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Unlock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198864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clear locks from aborted runs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4892040"/>
            <a:ext cx="11274552" cy="1188720"/>
          </a:xfrm>
          <a:prstGeom prst="roundRect">
            <a:avLst>
              <a:gd name="adj" fmla="val 7692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0292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-UF bundles the four steps.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Stepping manually is useful for debugging or re-running a single stage. All actions accept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 / -LI / -LF / -XO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to target records, and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 / -EH / -CD / -CH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to override dates at run time.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-UF Deep Dive: One Command, Full 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each due local file record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/ copy the server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Validate &amp; convert (-PR) into a remote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the local file (tar / compress or -BC)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 via dsarch using the record's action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Clean temporary files (-CL)</a:t>
            </a:r>
            <a:endParaRPr lang="en-US" sz="1400" dirty="0"/>
          </a:p>
          <a:p>
            <a:pPr marL="254000" indent="-254000">
              <a:lnSpc>
                <a:spcPct val="110000"/>
              </a:lnSpc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Advance data end date/hour &amp; next-due times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554480"/>
          <a:ext cx="5532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60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Mode/Info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5E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Effect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5E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process every elapsed period (else newest only)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force at least one update even if not due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allow the current, not-yet-complete period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re-archive (pass -RA to dsarch)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re-download even if the file exists locally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only periods not yet archived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-IE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skip failures &amp; continue (with -MU)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-QE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stop the dataset on first error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fork N child processes for parallel records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-CC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add carbon-copy email recipients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199632" y="5943600"/>
            <a:ext cx="5532120" cy="384048"/>
          </a:xfrm>
          <a:prstGeom prst="roundRect">
            <a:avLst>
              <a:gd name="adj" fmla="val 14286"/>
            </a:avLst>
          </a:prstGeom>
          <a:solidFill>
            <a:srgbClr val="00357A"/>
          </a:solidFill>
          <a:ln/>
        </p:spPr>
      </p:sp>
      <p:sp>
        <p:nvSpPr>
          <p:cNvPr id="9" name="Text 6"/>
          <p:cNvSpPr/>
          <p:nvPr/>
        </p:nvSpPr>
        <p:spPr>
          <a:xfrm>
            <a:off x="6382512" y="5943600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d337000 -UF -MU -IE -CC schuster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Archiving &amp; Content Metadata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Once a local file is built,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hands it to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to archive onto GDEX, then optionally gathers content metadata so the new data is discoverable.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423160"/>
            <a:ext cx="548640" cy="54864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☁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229514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 to GDEX  —  dsarch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508760" y="266090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calls dsarch with the record's action (AS / AW / AQ). -OP appends extra dsarch options; -RA forces re-archiving. This is the step that publishes each file.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⚙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08760" y="352958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Gather content metadata  —  gatherxml  (-GX)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508760" y="389534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Optional. When -GX is set in the local record's Options, dsupdt runs gatherxml on the just-archived file to index its variables and spatial / temporal coverage.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61772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892040"/>
            <a:ext cx="548640" cy="54864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↻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08760" y="476402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Refresh the search index  —  scm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508760" y="512978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After archiving, dsupdt runs the search-metadata command (scm -d DS -r w) to summarize / refresh the dataset's web tables so the new content is searchable.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5897880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8978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Metadata steps are non-fatal: </a:t>
            </a:r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gatherxml or scm failure is reported in the e-mail but never blocks or retries the archive.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Temporal &amp; Generic Patterns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Placeholders in file names, download commands, and descriptions are substituted at update time. Default delimiters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(change with -PD).  By default patterns use the period's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end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date/hour.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74066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3749040"/>
              </a:tblGrid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Pattern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Basis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Meaning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&lt;YYYYMM&gt;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 date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4-digit year + 2-digit month → 200710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&lt;YYYY/MM/DD&gt;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 date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path-style date components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&lt;CYYYY.MM.DDC&gt;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current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wrap in C … C to use the current date/hour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&lt;BYYYY.MM.DDB&gt;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begin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wrap in B … B to use the period's begin time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&lt;M*M&gt;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fraction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per-fraction id: C=A,B,C  c=a,b,c  N=1,2,3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&lt;HH&gt;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 hour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2-digit hour for sub-daily cadence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&lt;P0&gt; &lt;P1&gt;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runtime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generic values supplied via -GP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&lt;S01:03S&gt;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serial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expand one name into 01,02,03 (padded to start width)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092440" y="2103120"/>
            <a:ext cx="3639312" cy="3246120"/>
          </a:xfrm>
          <a:prstGeom prst="roundRect">
            <a:avLst>
              <a:gd name="adj" fmla="val 2817"/>
            </a:avLst>
          </a:prstGeom>
          <a:solidFill>
            <a:srgbClr val="011837"/>
          </a:solidFill>
          <a:ln/>
        </p:spPr>
      </p:sp>
      <p:sp>
        <p:nvSpPr>
          <p:cNvPr id="7" name="Text 4"/>
          <p:cNvSpPr/>
          <p:nvPr/>
        </p:nvSpPr>
        <p:spPr>
          <a:xfrm>
            <a:off x="8321040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Example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321040" y="2697480"/>
            <a:ext cx="3246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uv.&lt;YYYYMM&gt;.bln
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date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2007-10-31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becomes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uv.200710.bln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548640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5321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Dynamic work dir:  </a:t>
            </a:r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a server path carries a date the remote name lacks, embed that date in -WD so different dates don't overwrite each other.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Custom Commands with  '!'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Some fields are shell commands by design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(-DC / -BC / -CL)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Any value field can also become a command by prefixing it with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'!'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— dsupdt runs it and uses the stdout as the value.  Temporal patterns are substituted first.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94560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Command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194560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each remote file is fetched from the server (wget, cp, mftp, …).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9632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64224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057C2"/>
          </a:solidFill>
          <a:ln/>
        </p:spPr>
      </p:sp>
      <p:sp>
        <p:nvSpPr>
          <p:cNvPr id="12" name="Text 10"/>
          <p:cNvSpPr/>
          <p:nvPr/>
        </p:nvSpPr>
        <p:spPr>
          <a:xfrm>
            <a:off x="6364224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36992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Command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936992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External utility that assembles / converts the local file after download.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057C2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194560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Clean Command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194560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Post-archive cleanup command for temporary or intermediate files.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99632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64224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C25E00"/>
          </a:solidFill>
          <a:ln/>
        </p:spPr>
      </p:sp>
      <p:sp>
        <p:nvSpPr>
          <p:cNvPr id="22" name="Text 20"/>
          <p:cNvSpPr/>
          <p:nvPr/>
        </p:nvSpPr>
        <p:spPr>
          <a:xfrm>
            <a:off x="6364224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 '!…'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936992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File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936992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Name resolved at run time — e.g. pick the newest matching server file.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C25E00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 '!…'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94560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2194560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Compute the local file name from a script instead of a fixed pattern.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199632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64224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C25E00"/>
          </a:solidFill>
          <a:ln/>
        </p:spPr>
      </p:sp>
      <p:sp>
        <p:nvSpPr>
          <p:cNvPr id="32" name="Text 30"/>
          <p:cNvSpPr/>
          <p:nvPr/>
        </p:nvSpPr>
        <p:spPr>
          <a:xfrm>
            <a:off x="6364224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-DE  '!…'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936992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Description / note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936992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 a data note dynamically from command output.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57200" y="5212080"/>
            <a:ext cx="11274552" cy="1170432"/>
          </a:xfrm>
          <a:prstGeom prst="roundRect">
            <a:avLst>
              <a:gd name="adj" fmla="val 7813"/>
            </a:avLst>
          </a:prstGeom>
          <a:solidFill>
            <a:srgbClr val="011837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3492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Example  —  pick the newest matching file at update time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85800" y="57424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d540000 SR -LI 1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'!ls -t /glade/incoming/&lt;YYYYMM&gt;*.grib | head -1'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Scheduling &amp; Execution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production the whole chain is automated — currently under </a:t>
            </a:r>
            <a:pPr indent="0" marL="0">
              <a:buNone/>
            </a:pPr>
            <a:r>
              <a:rPr lang="en-US" sz="15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PBS batch control</a:t>
            </a:r>
            <a:pPr indent="0" marL="0"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0057C2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304288"/>
            <a:ext cx="3422904" cy="347472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15568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Control Record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85800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Holds the schedule — frequency (-FQ), due interval (-DI), next-due time; local records link to it via -CI. A cron / daemon dsupdt run in delayed mode (-BP) records each due command in GDEXDB.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C7E4F5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generates a dscheck record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98392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4383024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3024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0097A7"/>
          </a:solidFill>
          <a:ln/>
        </p:spPr>
      </p:sp>
      <p:sp>
        <p:nvSpPr>
          <p:cNvPr id="17" name="Shape 15"/>
          <p:cNvSpPr/>
          <p:nvPr/>
        </p:nvSpPr>
        <p:spPr>
          <a:xfrm>
            <a:off x="4383024" y="2304288"/>
            <a:ext cx="3422904" cy="347472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18" name="Shape 16"/>
          <p:cNvSpPr/>
          <p:nvPr/>
        </p:nvSpPr>
        <p:spPr>
          <a:xfrm>
            <a:off x="4565904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65904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41392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dscheck daemon / cron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611624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Polls GDEXDB, dispatches each recorded command, and retries on failure — -d [hosts] [retries 1-99]. This is the centralized, automatic launcher.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84192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C7E4F5"/>
          </a:solidFill>
          <a:ln/>
        </p:spPr>
      </p:sp>
      <p:sp>
        <p:nvSpPr>
          <p:cNvPr id="23" name="Text 21"/>
          <p:cNvSpPr/>
          <p:nvPr/>
        </p:nvSpPr>
        <p:spPr>
          <a:xfrm>
            <a:off x="4712208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starts the real dsupdt process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824216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8308848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C25E00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08848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C25E00"/>
          </a:solidFill>
          <a:ln/>
        </p:spPr>
      </p:sp>
      <p:sp>
        <p:nvSpPr>
          <p:cNvPr id="27" name="Shape 25"/>
          <p:cNvSpPr/>
          <p:nvPr/>
        </p:nvSpPr>
        <p:spPr>
          <a:xfrm>
            <a:off x="8308848" y="2304288"/>
            <a:ext cx="3422904" cy="347472"/>
          </a:xfrm>
          <a:prstGeom prst="rect">
            <a:avLst/>
          </a:prstGeom>
          <a:solidFill>
            <a:srgbClr val="C25E00"/>
          </a:solidFill>
          <a:ln/>
        </p:spPr>
      </p:sp>
      <p:sp>
        <p:nvSpPr>
          <p:cNvPr id="28" name="Shape 26"/>
          <p:cNvSpPr/>
          <p:nvPr/>
        </p:nvSpPr>
        <p:spPr>
          <a:xfrm>
            <a:off x="8491728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8491728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967216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PBS batch job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8537448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dsupdt process currently runs as a PBS batch job — -d PBS with -QS qsub options; -PL forks parallel records for heavy datasets.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510016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C7E4F5"/>
          </a:solidFill>
          <a:ln/>
        </p:spPr>
      </p:sp>
      <p:sp>
        <p:nvSpPr>
          <p:cNvPr id="33" name="Text 31"/>
          <p:cNvSpPr/>
          <p:nvPr/>
        </p:nvSpPr>
        <p:spPr>
          <a:xfrm>
            <a:off x="8638032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runs download → build → archive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▸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Direct / manual: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-UF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yourself — or from a plain cron job on a specific host — for one-off runs, re-archiving, and debugging. No control record or dscheck needed.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 Interval &amp; Multi-Period Updates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DCEBF7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099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  Frequency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210312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size of one update period (1D, 6H, 1M, …)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679192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DCEBF7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7889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  MultipleUpdate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18211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every elapsed period, not just the newest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758184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DCEBF7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86791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-VI  ValidInterval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4261104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look back this far to re-check / re-archive late data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837176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DCEBF7"/>
          </a:solidFill>
          <a:ln w="19050">
            <a:solidFill>
              <a:srgbClr val="0092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9469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-DI  DueInterval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8368" y="5340096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lead time from period end until data is expected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1600200"/>
            <a:ext cx="5422392" cy="2788920"/>
          </a:xfrm>
          <a:prstGeom prst="roundRect">
            <a:avLst>
              <a:gd name="adj" fmla="val 3279"/>
            </a:avLst>
          </a:prstGeom>
          <a:solidFill>
            <a:srgbClr val="011837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Re-check window  (VI = 4D, FQ = 1D)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29400" y="2651760"/>
            <a:ext cx="4754880" cy="0"/>
          </a:xfrm>
          <a:prstGeom prst="line">
            <a:avLst/>
          </a:prstGeom>
          <a:noFill/>
          <a:ln w="25400">
            <a:solidFill>
              <a:srgbClr val="97999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28816" y="2551176"/>
            <a:ext cx="201168" cy="201168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20" name="Shape 18"/>
          <p:cNvSpPr/>
          <p:nvPr/>
        </p:nvSpPr>
        <p:spPr>
          <a:xfrm>
            <a:off x="7717536" y="2551176"/>
            <a:ext cx="201168" cy="201168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21" name="Shape 19"/>
          <p:cNvSpPr/>
          <p:nvPr/>
        </p:nvSpPr>
        <p:spPr>
          <a:xfrm>
            <a:off x="8906256" y="2551176"/>
            <a:ext cx="201168" cy="201168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094976" y="2551176"/>
            <a:ext cx="201168" cy="201168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83696" y="2551176"/>
            <a:ext cx="201168" cy="20116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− VI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35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37960" y="32004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BE2E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period is re-checked. Already-archived periods report “no newer file”; a newer source file triggers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re-archive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BE2E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VI = 0 → single period, no newer-file check.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526280"/>
            <a:ext cx="5422392" cy="1508760"/>
          </a:xfrm>
          <a:prstGeom prst="roundRect">
            <a:avLst>
              <a:gd name="adj" fmla="val 6061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37960" y="46451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Partial updates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37960" y="49834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-MR Y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a many-to-one build tolerates missing remotes. If -VI is also set, the update is held open until the files arrive or the window expires.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59893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 / -QE / -EC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govern how errors interact with multi-period runs: skip &amp; continue, quit, or normal.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the Temporal Intervals Fit Together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advances one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Frequency (FQ)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per period. A single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run walks every elapsed period inside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 Interval (VI)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look-back window, while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Due Interval (DI)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sets when each period becomes due.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493008" y="2331720"/>
            <a:ext cx="6547104" cy="1417320"/>
          </a:xfrm>
          <a:prstGeom prst="roundRect">
            <a:avLst>
              <a:gd name="adj" fmla="val 5161"/>
            </a:avLst>
          </a:prstGeom>
          <a:solidFill>
            <a:srgbClr val="DBE2E9"/>
          </a:solidFill>
          <a:ln w="15875">
            <a:solidFill>
              <a:srgbClr val="C25E00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3630168" y="2395728"/>
            <a:ext cx="6272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 — look-back re-check window   (now − VI → now)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3246120"/>
            <a:ext cx="10332720" cy="0"/>
          </a:xfrm>
          <a:prstGeom prst="line">
            <a:avLst/>
          </a:prstGeom>
          <a:noFill/>
          <a:ln w="25400">
            <a:solidFill>
              <a:srgbClr val="97999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2862072"/>
            <a:ext cx="1554480" cy="0"/>
          </a:xfrm>
          <a:prstGeom prst="line">
            <a:avLst/>
          </a:prstGeom>
          <a:noFill/>
          <a:ln w="19050">
            <a:solidFill>
              <a:srgbClr val="0057C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8720" y="2862072"/>
            <a:ext cx="0" cy="201168"/>
          </a:xfrm>
          <a:prstGeom prst="line">
            <a:avLst/>
          </a:prstGeom>
          <a:noFill/>
          <a:ln w="19050">
            <a:solidFill>
              <a:srgbClr val="0057C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0" y="2862072"/>
            <a:ext cx="0" cy="201168"/>
          </a:xfrm>
          <a:prstGeom prst="line">
            <a:avLst/>
          </a:prstGeom>
          <a:noFill/>
          <a:ln w="19050">
            <a:solidFill>
              <a:srgbClr val="0057C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328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FQ — one period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698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97A7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29768" y="3127248"/>
            <a:ext cx="237744" cy="237744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3246120"/>
            <a:ext cx="365760" cy="0"/>
          </a:xfrm>
          <a:prstGeom prst="line">
            <a:avLst/>
          </a:prstGeom>
          <a:noFill/>
          <a:ln w="15875">
            <a:solidFill>
              <a:srgbClr val="0097A7"/>
            </a:solidFill>
            <a:prstDash val="solid"/>
            <a:headEnd type="triangle"/>
          </a:ln>
        </p:spPr>
      </p:sp>
      <p:sp>
        <p:nvSpPr>
          <p:cNvPr id="15" name="Text 13"/>
          <p:cNvSpPr/>
          <p:nvPr/>
        </p:nvSpPr>
        <p:spPr>
          <a:xfrm>
            <a:off x="6400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07-09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62432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97A7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984248" y="3127248"/>
            <a:ext cx="237744" cy="237744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8" name="Shape 16"/>
          <p:cNvSpPr/>
          <p:nvPr/>
        </p:nvSpPr>
        <p:spPr>
          <a:xfrm>
            <a:off x="2240280" y="3246120"/>
            <a:ext cx="365760" cy="0"/>
          </a:xfrm>
          <a:prstGeom prst="line">
            <a:avLst/>
          </a:prstGeom>
          <a:noFill/>
          <a:ln w="15875">
            <a:solidFill>
              <a:srgbClr val="0097A7"/>
            </a:solidFill>
            <a:prstDash val="solid"/>
            <a:headEnd type="triangle"/>
          </a:ln>
        </p:spPr>
      </p:sp>
      <p:sp>
        <p:nvSpPr>
          <p:cNvPr id="19" name="Text 17"/>
          <p:cNvSpPr/>
          <p:nvPr/>
        </p:nvSpPr>
        <p:spPr>
          <a:xfrm>
            <a:off x="21945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7880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92DB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538728" y="3127248"/>
            <a:ext cx="237744" cy="237744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94760" y="3246120"/>
            <a:ext cx="365760" cy="0"/>
          </a:xfrm>
          <a:prstGeom prst="line">
            <a:avLst/>
          </a:prstGeom>
          <a:noFill/>
          <a:ln w="15875">
            <a:solidFill>
              <a:srgbClr val="0092DB"/>
            </a:solidFill>
            <a:prstDash val="solid"/>
            <a:headEnd type="triangle"/>
          </a:ln>
        </p:spPr>
      </p:sp>
      <p:sp>
        <p:nvSpPr>
          <p:cNvPr id="23" name="Text 21"/>
          <p:cNvSpPr/>
          <p:nvPr/>
        </p:nvSpPr>
        <p:spPr>
          <a:xfrm>
            <a:off x="374904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07-11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97680" y="2286000"/>
            <a:ext cx="0" cy="1508760"/>
          </a:xfrm>
          <a:prstGeom prst="line">
            <a:avLst/>
          </a:prstGeom>
          <a:noFill/>
          <a:ln w="19050">
            <a:solidFill>
              <a:srgbClr val="0092DB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3337560" y="19933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End Date (GMT)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063240" y="291693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GMT → Denver (−6h)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73328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25E00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5093208" y="3127248"/>
            <a:ext cx="237744" cy="237744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9" name="Shape 27"/>
          <p:cNvSpPr/>
          <p:nvPr/>
        </p:nvSpPr>
        <p:spPr>
          <a:xfrm>
            <a:off x="5349240" y="3246120"/>
            <a:ext cx="365760" cy="0"/>
          </a:xfrm>
          <a:prstGeom prst="line">
            <a:avLst/>
          </a:prstGeom>
          <a:noFill/>
          <a:ln w="15875">
            <a:solidFill>
              <a:srgbClr val="C25E00"/>
            </a:solidFill>
            <a:prstDash val="solid"/>
            <a:headEnd type="triangle"/>
          </a:ln>
        </p:spPr>
      </p:sp>
      <p:sp>
        <p:nvSpPr>
          <p:cNvPr id="30" name="Text 28"/>
          <p:cNvSpPr/>
          <p:nvPr/>
        </p:nvSpPr>
        <p:spPr>
          <a:xfrm>
            <a:off x="530352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07-12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28776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25E00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647688" y="3127248"/>
            <a:ext cx="237744" cy="237744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33" name="Shape 31"/>
          <p:cNvSpPr/>
          <p:nvPr/>
        </p:nvSpPr>
        <p:spPr>
          <a:xfrm>
            <a:off x="6903720" y="3246120"/>
            <a:ext cx="365760" cy="0"/>
          </a:xfrm>
          <a:prstGeom prst="line">
            <a:avLst/>
          </a:prstGeom>
          <a:noFill/>
          <a:ln w="15875">
            <a:solidFill>
              <a:srgbClr val="C25E00"/>
            </a:solidFill>
            <a:prstDash val="solid"/>
            <a:headEnd type="triangle"/>
          </a:ln>
        </p:spPr>
      </p:sp>
      <p:sp>
        <p:nvSpPr>
          <p:cNvPr id="34" name="Text 32"/>
          <p:cNvSpPr/>
          <p:nvPr/>
        </p:nvSpPr>
        <p:spPr>
          <a:xfrm>
            <a:off x="685800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07-13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8422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25E00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202168" y="3127248"/>
            <a:ext cx="237744" cy="237744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37" name="Shape 35"/>
          <p:cNvSpPr/>
          <p:nvPr/>
        </p:nvSpPr>
        <p:spPr>
          <a:xfrm>
            <a:off x="8458200" y="3246120"/>
            <a:ext cx="365760" cy="0"/>
          </a:xfrm>
          <a:prstGeom prst="line">
            <a:avLst/>
          </a:prstGeom>
          <a:noFill/>
          <a:ln w="15875">
            <a:solidFill>
              <a:srgbClr val="C25E00"/>
            </a:solidFill>
            <a:prstDash val="solid"/>
            <a:headEnd type="triangle"/>
          </a:ln>
        </p:spPr>
      </p:sp>
      <p:sp>
        <p:nvSpPr>
          <p:cNvPr id="38" name="Text 36"/>
          <p:cNvSpPr/>
          <p:nvPr/>
        </p:nvSpPr>
        <p:spPr>
          <a:xfrm>
            <a:off x="84124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0396728" y="3127248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3565A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97566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3565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12680" y="3246120"/>
            <a:ext cx="365760" cy="0"/>
          </a:xfrm>
          <a:prstGeom prst="line">
            <a:avLst/>
          </a:prstGeom>
          <a:noFill/>
          <a:ln w="15875">
            <a:solidFill>
              <a:srgbClr val="53565A"/>
            </a:solidFill>
            <a:prstDash val="solid"/>
            <a:headEnd type="triangle"/>
          </a:ln>
        </p:spPr>
      </p:sp>
      <p:sp>
        <p:nvSpPr>
          <p:cNvPr id="42" name="Text 40"/>
          <p:cNvSpPr/>
          <p:nvPr/>
        </p:nvSpPr>
        <p:spPr>
          <a:xfrm>
            <a:off x="99669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07-15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9875520" y="2286000"/>
            <a:ext cx="0" cy="1508760"/>
          </a:xfrm>
          <a:prstGeom prst="line">
            <a:avLst/>
          </a:prstGeom>
          <a:noFill/>
          <a:ln w="19050">
            <a:solidFill>
              <a:srgbClr val="00357A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9985248" y="19933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098280" y="2286000"/>
            <a:ext cx="0" cy="1508760"/>
          </a:xfrm>
          <a:prstGeom prst="line">
            <a:avLst/>
          </a:prstGeom>
          <a:noFill/>
          <a:ln w="15875">
            <a:solidFill>
              <a:srgbClr val="53565A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7955280" y="184708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due cutoff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(now − DI)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3657600" y="3813048"/>
            <a:ext cx="777240" cy="0"/>
          </a:xfrm>
          <a:prstGeom prst="line">
            <a:avLst/>
          </a:prstGeom>
          <a:noFill/>
          <a:ln w="22225">
            <a:solidFill>
              <a:srgbClr val="0092DB"/>
            </a:solidFill>
            <a:prstDash val="solid"/>
            <a:tailEnd type="triangle"/>
          </a:ln>
        </p:spPr>
      </p:sp>
      <p:sp>
        <p:nvSpPr>
          <p:cNvPr id="48" name="Text 46"/>
          <p:cNvSpPr/>
          <p:nvPr/>
        </p:nvSpPr>
        <p:spPr>
          <a:xfrm>
            <a:off x="3520440" y="390448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 — next-due = local period end + DI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784080" y="3950208"/>
            <a:ext cx="182880" cy="182880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50" name="Text 48"/>
          <p:cNvSpPr/>
          <p:nvPr/>
        </p:nvSpPr>
        <p:spPr>
          <a:xfrm>
            <a:off x="7818120" y="392277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CT — job runs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818120" y="4142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= period start + CO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0003536" y="4041648"/>
            <a:ext cx="1316736" cy="0"/>
          </a:xfrm>
          <a:prstGeom prst="line">
            <a:avLst/>
          </a:prstGeom>
          <a:noFill/>
          <a:ln w="19050">
            <a:solidFill>
              <a:srgbClr val="0057C2"/>
            </a:solidFill>
            <a:prstDash val="dash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11347704" y="3959352"/>
            <a:ext cx="164592" cy="164592"/>
          </a:xfrm>
          <a:prstGeom prst="rect">
            <a:avLst/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966960" y="37490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Update FQ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0744200" y="41330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next CT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57" name="Text 55"/>
          <p:cNvSpPr/>
          <p:nvPr/>
        </p:nvSpPr>
        <p:spPr>
          <a:xfrm>
            <a:off x="91440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Archived earlier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3429000" y="4434840"/>
            <a:ext cx="201168" cy="20116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59" name="Text 57"/>
          <p:cNvSpPr/>
          <p:nvPr/>
        </p:nvSpPr>
        <p:spPr>
          <a:xfrm>
            <a:off x="370332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Re-checked — no newer source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6217920" y="4434840"/>
            <a:ext cx="201168" cy="201168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61" name="Text 59"/>
          <p:cNvSpPr/>
          <p:nvPr/>
        </p:nvSpPr>
        <p:spPr>
          <a:xfrm>
            <a:off x="649224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Archived / re-archived this run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9006840" y="4434840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3565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28116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yet due (waiting DI)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718304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2700">
            <a:solidFill>
              <a:srgbClr val="0057C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58368" y="4773168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ControlTime  —  when the job itself runs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658368" y="5029200"/>
            <a:ext cx="10881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sets the run time (YYYY-MM-DD HH:NN:SS). Each success steps it by one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(Next CT = CT + FQ);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-CO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only offsets the run from the period start (daily → day start + CO), so it cancels in the step. Failure retries after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-RI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 e.g.  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d609000 -SU -CT "2026-07-11 09:00:00" -FQ 1D -CO 9H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658368" y="544982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 zones:  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data end date/hour (End Date,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6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6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-EH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 is server time (GMT), while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6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local time the job runs (Denver, MDT = GMT−6h in summer) — don’t mix the two.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457200" y="5870448"/>
            <a:ext cx="9966960" cy="512064"/>
          </a:xfrm>
          <a:prstGeom prst="roundRect">
            <a:avLst>
              <a:gd name="adj" fmla="val 14286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58368" y="5870448"/>
            <a:ext cx="95646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run re-checks every period in the VI window: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already-archived periods report “no newer file”, newly available periods are archived, and periods still within DI of now are left for the next run.  </a:t>
            </a:r>
            <a:pPr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 = 0 → only the most recent period.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Email Reporting  (-MC / -EMailControl)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97864" y="1755648"/>
            <a:ext cx="731520" cy="73152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6" name="Text 4"/>
          <p:cNvSpPr/>
          <p:nvPr/>
        </p:nvSpPr>
        <p:spPr>
          <a:xfrm>
            <a:off x="1197864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detailed report, always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07208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47872" y="1755648"/>
            <a:ext cx="731520" cy="73152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898648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16936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 only, no detail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157216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C25E00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97880" y="1755648"/>
            <a:ext cx="731520" cy="73152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16" name="Text 14"/>
          <p:cNvSpPr/>
          <p:nvPr/>
        </p:nvSpPr>
        <p:spPr>
          <a:xfrm>
            <a:off x="5897880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248656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66944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detailed report, only on error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507224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47888" y="1755648"/>
            <a:ext cx="731520" cy="73152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1" name="Text 19"/>
          <p:cNvSpPr/>
          <p:nvPr/>
        </p:nvSpPr>
        <p:spPr>
          <a:xfrm>
            <a:off x="8247888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98664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 on error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616952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summary, only on error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857232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53565A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597896" y="1755648"/>
            <a:ext cx="731520" cy="731520"/>
          </a:xfrm>
          <a:prstGeom prst="ellipse">
            <a:avLst/>
          </a:prstGeom>
          <a:solidFill>
            <a:srgbClr val="53565A"/>
          </a:solidFill>
          <a:ln/>
        </p:spPr>
      </p:sp>
      <p:sp>
        <p:nvSpPr>
          <p:cNvPr id="26" name="Text 24"/>
          <p:cNvSpPr/>
          <p:nvPr/>
        </p:nvSpPr>
        <p:spPr>
          <a:xfrm>
            <a:off x="10597896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966960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email at all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 sections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57200" y="3950208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3950208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C0392B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950208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377440" y="3950208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real errors — survives in every mode; raw failures are prefixed with the failing command / dataset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4626864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4626864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0057C2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626864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377440" y="4626864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headline count + rolled-up “N files ARCHIVED” range lines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57200" y="5303520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7200" y="5303520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0092DB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530352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Detail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2377440" y="5303520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per-file lines; consecutive no-op re-checks collapse into one range line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7200" y="599846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Related:  </a:t>
            </a:r>
            <a:pPr algn="ctr" indent="0" marL="0">
              <a:buNone/>
            </a:pPr>
            <a:r>
              <a:rPr lang="en-US" sz="11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-EE</a:t>
            </a:r>
            <a:pPr algn="ctr"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(=E),  </a:t>
            </a:r>
            <a:pPr algn="ctr" indent="0" marL="0">
              <a:buNone/>
            </a:pPr>
            <a:r>
              <a:rPr lang="en-US" sz="11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-SE</a:t>
            </a:r>
            <a:pPr algn="ctr"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(=S),  </a:t>
            </a:r>
            <a:pPr algn="ctr" indent="0" marL="0">
              <a:buNone/>
            </a:pPr>
            <a:r>
              <a:rPr lang="en-US" sz="11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pPr algn="ctr"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(=N),  </a:t>
            </a:r>
            <a:pPr algn="ctr" indent="0" marL="0">
              <a:buNone/>
            </a:pPr>
            <a:r>
              <a:rPr lang="en-US" sz="11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-CC</a:t>
            </a:r>
            <a:pPr algn="ctr"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adds carbon-copy recipients.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Reading the Email Report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17043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worked example (-MC A) — d609000, one 4D valid-interval run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7635240" cy="4572000"/>
          </a:xfrm>
          <a:prstGeom prst="roundRect">
            <a:avLst>
              <a:gd name="adj" fmla="val 1600"/>
            </a:avLst>
          </a:prstGeom>
          <a:solidFill>
            <a:srgbClr val="011837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700784"/>
            <a:ext cx="7232904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Subject: 6 local files archived for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DSUPDT of D609000-C57 on casper61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b="1" dirty="0">
                <a:solidFill>
                  <a:srgbClr val="FF8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 MESSAGE: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FF8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similar errors: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Failed Metadata Gathering: …t18z…grib2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Failed Metadata Gathering: …t00z…grib2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gatherxml: connection timed out to metadata DB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b="1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SUMMARY: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E6EE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d609000: 6 of 18 local files ARCHIVED(AW) for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[2026-07-16:12(UTC) .. 2026-07-17:06(UTC)]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b="1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DETAIL INFORMATION: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d609000-L480: 12 update periods UNCHANGED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[..07-13:12(UTC) .. 07-16:06(UTC)] already archived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b="1" dirty="0">
                <a:solidFill>
                  <a:srgbClr val="7FD1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d609000-L480: 6 files ARCHIVED(AW) for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7FD1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07-16:12(UTC) - 4 new, 2 changed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7FD1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- 2 Failed Metadata Gathering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d609000-C57: Next Control Time 2026-07-17 03:00:00</a:t>
            </a:r>
            <a:endParaRPr lang="en-US" sz="960" dirty="0"/>
          </a:p>
        </p:txBody>
      </p:sp>
      <p:sp>
        <p:nvSpPr>
          <p:cNvPr id="7" name="Text 5"/>
          <p:cNvSpPr/>
          <p:nvPr/>
        </p:nvSpPr>
        <p:spPr>
          <a:xfrm>
            <a:off x="8275320" y="1481328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read it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75320" y="1719072"/>
            <a:ext cx="3456432" cy="585216"/>
          </a:xfrm>
          <a:prstGeom prst="roundRect">
            <a:avLst>
              <a:gd name="adj" fmla="val 9375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75320" y="1719072"/>
            <a:ext cx="109728" cy="585216"/>
          </a:xfrm>
          <a:prstGeom prst="roundRect">
            <a:avLst>
              <a:gd name="adj" fmla="val 16667"/>
            </a:avLst>
          </a:prstGeom>
          <a:solidFill>
            <a:srgbClr val="00357A"/>
          </a:solidFill>
          <a:ln/>
        </p:spPr>
      </p:sp>
      <p:sp>
        <p:nvSpPr>
          <p:cNvPr id="10" name="Text 8"/>
          <p:cNvSpPr/>
          <p:nvPr/>
        </p:nvSpPr>
        <p:spPr>
          <a:xfrm>
            <a:off x="8494776" y="1719072"/>
            <a:ext cx="31272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Subject  </a:t>
            </a:r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headline count archived across all periods this run.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275320" y="2359152"/>
            <a:ext cx="3456432" cy="585216"/>
          </a:xfrm>
          <a:prstGeom prst="roundRect">
            <a:avLst>
              <a:gd name="adj" fmla="val 9375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75320" y="2359152"/>
            <a:ext cx="109728" cy="585216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/>
        </p:spPr>
      </p:sp>
      <p:sp>
        <p:nvSpPr>
          <p:cNvPr id="13" name="Text 11"/>
          <p:cNvSpPr/>
          <p:nvPr/>
        </p:nvSpPr>
        <p:spPr>
          <a:xfrm>
            <a:off x="8494776" y="2359152"/>
            <a:ext cx="31272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b="1" dirty="0">
                <a:solidFill>
                  <a:srgbClr val="C039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ERROR  </a:t>
            </a:r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identical repeated failures merge into one “N similar errors” block.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75320" y="2999232"/>
            <a:ext cx="3456432" cy="585216"/>
          </a:xfrm>
          <a:prstGeom prst="roundRect">
            <a:avLst>
              <a:gd name="adj" fmla="val 9375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75320" y="2999232"/>
            <a:ext cx="109728" cy="585216"/>
          </a:xfrm>
          <a:prstGeom prst="roundRect">
            <a:avLst>
              <a:gd name="adj" fmla="val 16667"/>
            </a:avLst>
          </a:prstGeom>
          <a:solidFill>
            <a:srgbClr val="0057C2"/>
          </a:solidFill>
          <a:ln/>
        </p:spPr>
      </p:sp>
      <p:sp>
        <p:nvSpPr>
          <p:cNvPr id="16" name="Text 14"/>
          <p:cNvSpPr/>
          <p:nvPr/>
        </p:nvSpPr>
        <p:spPr>
          <a:xfrm>
            <a:off x="8494776" y="2999232"/>
            <a:ext cx="31272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  </a:t>
            </a:r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combined line per record: M of N + period range.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275320" y="3639312"/>
            <a:ext cx="3456432" cy="585216"/>
          </a:xfrm>
          <a:prstGeom prst="roundRect">
            <a:avLst>
              <a:gd name="adj" fmla="val 9375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75320" y="3639312"/>
            <a:ext cx="109728" cy="585216"/>
          </a:xfrm>
          <a:prstGeom prst="roundRect">
            <a:avLst>
              <a:gd name="adj" fmla="val 16667"/>
            </a:avLst>
          </a:prstGeom>
          <a:solidFill>
            <a:srgbClr val="0092DB"/>
          </a:solidFill>
          <a:ln/>
        </p:spPr>
      </p:sp>
      <p:sp>
        <p:nvSpPr>
          <p:cNvPr id="19" name="Text 17"/>
          <p:cNvSpPr/>
          <p:nvPr/>
        </p:nvSpPr>
        <p:spPr>
          <a:xfrm>
            <a:off x="8494776" y="3639312"/>
            <a:ext cx="31272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Roll-up  </a:t>
            </a:r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no-op re-check periods collapse into one UNCHANGED line.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275320" y="4279392"/>
            <a:ext cx="3456432" cy="585216"/>
          </a:xfrm>
          <a:prstGeom prst="roundRect">
            <a:avLst>
              <a:gd name="adj" fmla="val 9375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75320" y="4279392"/>
            <a:ext cx="109728" cy="585216"/>
          </a:xfrm>
          <a:prstGeom prst="roundRect">
            <a:avLst>
              <a:gd name="adj" fmla="val 16667"/>
            </a:avLst>
          </a:prstGeom>
          <a:solidFill>
            <a:srgbClr val="C25E00"/>
          </a:solidFill>
          <a:ln/>
        </p:spPr>
      </p:sp>
      <p:sp>
        <p:nvSpPr>
          <p:cNvPr id="22" name="Text 20"/>
          <p:cNvSpPr/>
          <p:nvPr/>
        </p:nvSpPr>
        <p:spPr>
          <a:xfrm>
            <a:off x="8494776" y="4279392"/>
            <a:ext cx="31272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&gt;4 files  </a:t>
            </a:r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more than 4 archived files in one period roll into one summary line with a new/changed/used tally.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275320" y="4882896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 status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293608" y="5266944"/>
            <a:ext cx="128016" cy="128016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5" name="Text 23"/>
          <p:cNvSpPr/>
          <p:nvPr/>
        </p:nvSpPr>
        <p:spPr>
          <a:xfrm>
            <a:off x="8293608" y="5266944"/>
            <a:ext cx="1280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531352" y="51937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got new file  </a:t>
            </a:r>
            <a:pPr indent="0" marL="0"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fresh download, no prior copy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93608" y="5541264"/>
            <a:ext cx="128016" cy="128016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8" name="Text 26"/>
          <p:cNvSpPr/>
          <p:nvPr/>
        </p:nvSpPr>
        <p:spPr>
          <a:xfrm>
            <a:off x="8293608" y="5541264"/>
            <a:ext cx="1280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531352" y="54681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got change file  </a:t>
            </a:r>
            <a:pPr indent="0" marL="0"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server file changed, redownloaded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293608" y="5815584"/>
            <a:ext cx="128016" cy="128016"/>
          </a:xfrm>
          <a:prstGeom prst="ellipse">
            <a:avLst/>
          </a:prstGeom>
          <a:solidFill>
            <a:srgbClr val="53565A"/>
          </a:solidFill>
          <a:ln/>
        </p:spPr>
      </p:sp>
      <p:sp>
        <p:nvSpPr>
          <p:cNvPr id="31" name="Text 29"/>
          <p:cNvSpPr/>
          <p:nvPr/>
        </p:nvSpPr>
        <p:spPr>
          <a:xfrm>
            <a:off x="8293608" y="5815584"/>
            <a:ext cx="1280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531352" y="57424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file used  </a:t>
            </a:r>
            <a:pPr indent="0" marL="0"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local copy current, nothing fetched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57200" y="6144768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remote record?  </a:t>
            </a:r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status folds into the archived line:   </a:t>
            </a:r>
            <a:pPr algn="ctr"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 ARCHIVED(AW) for … - local file used - Metadata Gathered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Mode Options at a Glance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344168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mode below can be given on the command line.  The left group can also be </a:t>
            </a:r>
            <a:pPr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preset per control record</a:t>
            </a:r>
            <a:pPr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— each is one letter of </a:t>
            </a:r>
            <a:pPr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-UC</a:t>
            </a:r>
            <a:pPr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(UpdateControl) on the </a:t>
            </a:r>
            <a:pPr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-SC</a:t>
            </a:r>
            <a:pPr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record.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553212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585216" y="1737360"/>
            <a:ext cx="5276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PRESETTABLE VIA  -UC  IN THE CONTROL RECORD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139696"/>
            <a:ext cx="5532120" cy="310896"/>
          </a:xfrm>
          <a:prstGeom prst="roundRect">
            <a:avLst>
              <a:gd name="adj" fmla="val 14706"/>
            </a:avLst>
          </a:prstGeom>
          <a:solidFill>
            <a:srgbClr val="DCEBF7"/>
          </a:solidFill>
          <a:ln w="9525">
            <a:solidFill>
              <a:srgbClr val="A9D6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9496" y="2157984"/>
            <a:ext cx="310896" cy="274320"/>
          </a:xfrm>
          <a:prstGeom prst="roundRect">
            <a:avLst>
              <a:gd name="adj" fmla="val 16667"/>
            </a:avLst>
          </a:prstGeom>
          <a:solidFill>
            <a:srgbClr val="C25E00"/>
          </a:solidFill>
          <a:ln/>
        </p:spPr>
      </p:sp>
      <p:sp>
        <p:nvSpPr>
          <p:cNvPr id="9" name="Text 7"/>
          <p:cNvSpPr/>
          <p:nvPr/>
        </p:nvSpPr>
        <p:spPr>
          <a:xfrm>
            <a:off x="539496" y="215798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86968" y="2139696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133856" y="215798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057C2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856" y="215798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938528" y="2139696"/>
            <a:ext cx="3959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check all remote files, not just the first missing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487168"/>
            <a:ext cx="5532120" cy="310896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9525">
            <a:solidFill>
              <a:srgbClr val="A9D6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39496" y="2505456"/>
            <a:ext cx="310896" cy="274320"/>
          </a:xfrm>
          <a:prstGeom prst="roundRect">
            <a:avLst>
              <a:gd name="adj" fmla="val 16667"/>
            </a:avLst>
          </a:prstGeom>
          <a:solidFill>
            <a:srgbClr val="C25E00"/>
          </a:solidFill>
          <a:ln/>
        </p:spPr>
      </p:sp>
      <p:sp>
        <p:nvSpPr>
          <p:cNvPr id="16" name="Text 14"/>
          <p:cNvSpPr/>
          <p:nvPr/>
        </p:nvSpPr>
        <p:spPr>
          <a:xfrm>
            <a:off x="539496" y="2505456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86968" y="2487168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133856" y="250545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057C2"/>
          </a:solidFill>
          <a:ln/>
        </p:spPr>
      </p:sp>
      <p:sp>
        <p:nvSpPr>
          <p:cNvPr id="19" name="Text 17"/>
          <p:cNvSpPr/>
          <p:nvPr/>
        </p:nvSpPr>
        <p:spPr>
          <a:xfrm>
            <a:off x="1133856" y="250545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-UB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938528" y="2487168"/>
            <a:ext cx="3959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use period begin time for patterns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2834640"/>
            <a:ext cx="5532120" cy="310896"/>
          </a:xfrm>
          <a:prstGeom prst="roundRect">
            <a:avLst>
              <a:gd name="adj" fmla="val 14706"/>
            </a:avLst>
          </a:prstGeom>
          <a:solidFill>
            <a:srgbClr val="DCEBF7"/>
          </a:solidFill>
          <a:ln w="9525">
            <a:solidFill>
              <a:srgbClr val="A9D6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9496" y="2852928"/>
            <a:ext cx="310896" cy="274320"/>
          </a:xfrm>
          <a:prstGeom prst="roundRect">
            <a:avLst>
              <a:gd name="adj" fmla="val 16667"/>
            </a:avLst>
          </a:prstGeom>
          <a:solidFill>
            <a:srgbClr val="C25E00"/>
          </a:solidFill>
          <a:ln/>
        </p:spPr>
      </p:sp>
      <p:sp>
        <p:nvSpPr>
          <p:cNvPr id="23" name="Text 21"/>
          <p:cNvSpPr/>
          <p:nvPr/>
        </p:nvSpPr>
        <p:spPr>
          <a:xfrm>
            <a:off x="539496" y="285292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86968" y="283464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133856" y="285292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057C2"/>
          </a:solidFill>
          <a:ln/>
        </p:spPr>
      </p:sp>
      <p:sp>
        <p:nvSpPr>
          <p:cNvPr id="26" name="Text 24"/>
          <p:cNvSpPr/>
          <p:nvPr/>
        </p:nvSpPr>
        <p:spPr>
          <a:xfrm>
            <a:off x="1133856" y="2852928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-CP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938528" y="2834640"/>
            <a:ext cx="3959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allow current, not-yet-due period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182112"/>
            <a:ext cx="5532120" cy="310896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9525">
            <a:solidFill>
              <a:srgbClr val="A9D6F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9496" y="3200400"/>
            <a:ext cx="310896" cy="274320"/>
          </a:xfrm>
          <a:prstGeom prst="roundRect">
            <a:avLst>
              <a:gd name="adj" fmla="val 16667"/>
            </a:avLst>
          </a:prstGeom>
          <a:solidFill>
            <a:srgbClr val="C25E00"/>
          </a:solidFill>
          <a:ln/>
        </p:spPr>
      </p:sp>
      <p:sp>
        <p:nvSpPr>
          <p:cNvPr id="30" name="Text 28"/>
          <p:cNvSpPr/>
          <p:nvPr/>
        </p:nvSpPr>
        <p:spPr>
          <a:xfrm>
            <a:off x="539496" y="320040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86968" y="3182112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133856" y="320040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057C2"/>
          </a:solidFill>
          <a:ln/>
        </p:spPr>
      </p:sp>
      <p:sp>
        <p:nvSpPr>
          <p:cNvPr id="33" name="Text 31"/>
          <p:cNvSpPr/>
          <p:nvPr/>
        </p:nvSpPr>
        <p:spPr>
          <a:xfrm>
            <a:off x="1133856" y="320040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-RE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938528" y="3182112"/>
            <a:ext cx="3959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reset end date/hour from file time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3529584"/>
            <a:ext cx="5532120" cy="310896"/>
          </a:xfrm>
          <a:prstGeom prst="roundRect">
            <a:avLst>
              <a:gd name="adj" fmla="val 14706"/>
            </a:avLst>
          </a:prstGeom>
          <a:solidFill>
            <a:srgbClr val="DCEBF7"/>
          </a:solidFill>
          <a:ln w="9525">
            <a:solidFill>
              <a:srgbClr val="A9D6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39496" y="3547872"/>
            <a:ext cx="310896" cy="274320"/>
          </a:xfrm>
          <a:prstGeom prst="roundRect">
            <a:avLst>
              <a:gd name="adj" fmla="val 16667"/>
            </a:avLst>
          </a:prstGeom>
          <a:solidFill>
            <a:srgbClr val="C25E00"/>
          </a:solidFill>
          <a:ln/>
        </p:spPr>
      </p:sp>
      <p:sp>
        <p:nvSpPr>
          <p:cNvPr id="37" name="Text 35"/>
          <p:cNvSpPr/>
          <p:nvPr/>
        </p:nvSpPr>
        <p:spPr>
          <a:xfrm>
            <a:off x="539496" y="354787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886968" y="3529584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133856" y="354787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057C2"/>
          </a:solidFill>
          <a:ln/>
        </p:spPr>
      </p:sp>
      <p:sp>
        <p:nvSpPr>
          <p:cNvPr id="40" name="Text 38"/>
          <p:cNvSpPr/>
          <p:nvPr/>
        </p:nvSpPr>
        <p:spPr>
          <a:xfrm>
            <a:off x="1133856" y="354787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-FU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1938528" y="3529584"/>
            <a:ext cx="3959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force one update even if not due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57200" y="3877056"/>
            <a:ext cx="5532120" cy="310896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9525">
            <a:solidFill>
              <a:srgbClr val="A9D6F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9496" y="3895344"/>
            <a:ext cx="310896" cy="274320"/>
          </a:xfrm>
          <a:prstGeom prst="roundRect">
            <a:avLst>
              <a:gd name="adj" fmla="val 16667"/>
            </a:avLst>
          </a:prstGeom>
          <a:solidFill>
            <a:srgbClr val="C25E00"/>
          </a:solidFill>
          <a:ln/>
        </p:spPr>
      </p:sp>
      <p:sp>
        <p:nvSpPr>
          <p:cNvPr id="44" name="Text 42"/>
          <p:cNvSpPr/>
          <p:nvPr/>
        </p:nvSpPr>
        <p:spPr>
          <a:xfrm>
            <a:off x="539496" y="389534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886968" y="3877056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1133856" y="38953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057C2"/>
          </a:solidFill>
          <a:ln/>
        </p:spPr>
      </p:sp>
      <p:sp>
        <p:nvSpPr>
          <p:cNvPr id="47" name="Text 45"/>
          <p:cNvSpPr/>
          <p:nvPr/>
        </p:nvSpPr>
        <p:spPr>
          <a:xfrm>
            <a:off x="1133856" y="38953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-GZ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1938528" y="3877056"/>
            <a:ext cx="3959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use GMT as controlling time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457200" y="4224528"/>
            <a:ext cx="5532120" cy="310896"/>
          </a:xfrm>
          <a:prstGeom prst="roundRect">
            <a:avLst>
              <a:gd name="adj" fmla="val 14706"/>
            </a:avLst>
          </a:prstGeom>
          <a:solidFill>
            <a:srgbClr val="DCEBF7"/>
          </a:solidFill>
          <a:ln w="9525">
            <a:solidFill>
              <a:srgbClr val="A9D6F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39496" y="4242816"/>
            <a:ext cx="310896" cy="274320"/>
          </a:xfrm>
          <a:prstGeom prst="roundRect">
            <a:avLst>
              <a:gd name="adj" fmla="val 16667"/>
            </a:avLst>
          </a:prstGeom>
          <a:solidFill>
            <a:srgbClr val="C25E00"/>
          </a:solidFill>
          <a:ln/>
        </p:spPr>
      </p:sp>
      <p:sp>
        <p:nvSpPr>
          <p:cNvPr id="51" name="Text 49"/>
          <p:cNvSpPr/>
          <p:nvPr/>
        </p:nvSpPr>
        <p:spPr>
          <a:xfrm>
            <a:off x="539496" y="4242816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886968" y="4224528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1133856" y="424281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057C2"/>
          </a:solidFill>
          <a:ln/>
        </p:spPr>
      </p:sp>
      <p:sp>
        <p:nvSpPr>
          <p:cNvPr id="54" name="Text 52"/>
          <p:cNvSpPr/>
          <p:nvPr/>
        </p:nvSpPr>
        <p:spPr>
          <a:xfrm>
            <a:off x="1133856" y="424281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1938528" y="4224528"/>
            <a:ext cx="3959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all elapsed periods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457200" y="4572000"/>
            <a:ext cx="5532120" cy="310896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9525">
            <a:solidFill>
              <a:srgbClr val="A9D6F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39496" y="4590288"/>
            <a:ext cx="310896" cy="274320"/>
          </a:xfrm>
          <a:prstGeom prst="roundRect">
            <a:avLst>
              <a:gd name="adj" fmla="val 16667"/>
            </a:avLst>
          </a:prstGeom>
          <a:solidFill>
            <a:srgbClr val="C25E00"/>
          </a:solidFill>
          <a:ln/>
        </p:spPr>
      </p:sp>
      <p:sp>
        <p:nvSpPr>
          <p:cNvPr id="58" name="Text 56"/>
          <p:cNvSpPr/>
          <p:nvPr/>
        </p:nvSpPr>
        <p:spPr>
          <a:xfrm>
            <a:off x="539496" y="459028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150" dirty="0"/>
          </a:p>
        </p:txBody>
      </p:sp>
      <p:sp>
        <p:nvSpPr>
          <p:cNvPr id="59" name="Text 57"/>
          <p:cNvSpPr/>
          <p:nvPr/>
        </p:nvSpPr>
        <p:spPr>
          <a:xfrm>
            <a:off x="886968" y="457200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1133856" y="459028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057C2"/>
          </a:solidFill>
          <a:ln/>
        </p:spPr>
      </p:sp>
      <p:sp>
        <p:nvSpPr>
          <p:cNvPr id="61" name="Text 59"/>
          <p:cNvSpPr/>
          <p:nvPr/>
        </p:nvSpPr>
        <p:spPr>
          <a:xfrm>
            <a:off x="1133856" y="4590288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-CN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1938528" y="4572000"/>
            <a:ext cx="3959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re-download only if changed on server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457200" y="4919472"/>
            <a:ext cx="5532120" cy="310896"/>
          </a:xfrm>
          <a:prstGeom prst="roundRect">
            <a:avLst>
              <a:gd name="adj" fmla="val 14706"/>
            </a:avLst>
          </a:prstGeom>
          <a:solidFill>
            <a:srgbClr val="DCEBF7"/>
          </a:solidFill>
          <a:ln w="9525">
            <a:solidFill>
              <a:srgbClr val="A9D6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39496" y="4937760"/>
            <a:ext cx="310896" cy="274320"/>
          </a:xfrm>
          <a:prstGeom prst="roundRect">
            <a:avLst>
              <a:gd name="adj" fmla="val 16667"/>
            </a:avLst>
          </a:prstGeom>
          <a:solidFill>
            <a:srgbClr val="C25E00"/>
          </a:solidFill>
          <a:ln/>
        </p:spPr>
      </p:sp>
      <p:sp>
        <p:nvSpPr>
          <p:cNvPr id="65" name="Text 63"/>
          <p:cNvSpPr/>
          <p:nvPr/>
        </p:nvSpPr>
        <p:spPr>
          <a:xfrm>
            <a:off x="539496" y="493776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1150" dirty="0"/>
          </a:p>
        </p:txBody>
      </p:sp>
      <p:sp>
        <p:nvSpPr>
          <p:cNvPr id="66" name="Text 64"/>
          <p:cNvSpPr/>
          <p:nvPr/>
        </p:nvSpPr>
        <p:spPr>
          <a:xfrm>
            <a:off x="886968" y="4919472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1133856" y="493776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057C2"/>
          </a:solidFill>
          <a:ln/>
        </p:spPr>
      </p:sp>
      <p:sp>
        <p:nvSpPr>
          <p:cNvPr id="68" name="Text 66"/>
          <p:cNvSpPr/>
          <p:nvPr/>
        </p:nvSpPr>
        <p:spPr>
          <a:xfrm>
            <a:off x="1133856" y="493776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-MO</a:t>
            </a:r>
            <a:endParaRPr lang="en-US" sz="1150" dirty="0"/>
          </a:p>
        </p:txBody>
      </p:sp>
      <p:sp>
        <p:nvSpPr>
          <p:cNvPr id="69" name="Text 67"/>
          <p:cNvSpPr/>
          <p:nvPr/>
        </p:nvSpPr>
        <p:spPr>
          <a:xfrm>
            <a:off x="1938528" y="4919472"/>
            <a:ext cx="3959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not-yet-archived periods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457200" y="5266944"/>
            <a:ext cx="5532120" cy="310896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9525">
            <a:solidFill>
              <a:srgbClr val="A9D6F2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39496" y="5285232"/>
            <a:ext cx="310896" cy="274320"/>
          </a:xfrm>
          <a:prstGeom prst="roundRect">
            <a:avLst>
              <a:gd name="adj" fmla="val 16667"/>
            </a:avLst>
          </a:prstGeom>
          <a:solidFill>
            <a:srgbClr val="C25E00"/>
          </a:solidFill>
          <a:ln/>
        </p:spPr>
      </p:sp>
      <p:sp>
        <p:nvSpPr>
          <p:cNvPr id="72" name="Text 70"/>
          <p:cNvSpPr/>
          <p:nvPr/>
        </p:nvSpPr>
        <p:spPr>
          <a:xfrm>
            <a:off x="539496" y="528523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</a:t>
            </a:r>
            <a:endParaRPr lang="en-US" sz="1150" dirty="0"/>
          </a:p>
        </p:txBody>
      </p:sp>
      <p:sp>
        <p:nvSpPr>
          <p:cNvPr id="73" name="Text 71"/>
          <p:cNvSpPr/>
          <p:nvPr/>
        </p:nvSpPr>
        <p:spPr>
          <a:xfrm>
            <a:off x="886968" y="5266944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1133856" y="528523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057C2"/>
          </a:solidFill>
          <a:ln/>
        </p:spPr>
      </p:sp>
      <p:sp>
        <p:nvSpPr>
          <p:cNvPr id="75" name="Text 73"/>
          <p:cNvSpPr/>
          <p:nvPr/>
        </p:nvSpPr>
        <p:spPr>
          <a:xfrm>
            <a:off x="1133856" y="528523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-NY</a:t>
            </a:r>
            <a:endParaRPr lang="en-US" sz="1150" dirty="0"/>
          </a:p>
        </p:txBody>
      </p:sp>
      <p:sp>
        <p:nvSpPr>
          <p:cNvPr id="76" name="Text 74"/>
          <p:cNvSpPr/>
          <p:nvPr/>
        </p:nvSpPr>
        <p:spPr>
          <a:xfrm>
            <a:off x="1938528" y="5266944"/>
            <a:ext cx="3959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skip Feb 29 in leap years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457200" y="5614416"/>
            <a:ext cx="5532120" cy="310896"/>
          </a:xfrm>
          <a:prstGeom prst="roundRect">
            <a:avLst>
              <a:gd name="adj" fmla="val 14706"/>
            </a:avLst>
          </a:prstGeom>
          <a:solidFill>
            <a:srgbClr val="DCEBF7"/>
          </a:solidFill>
          <a:ln w="9525">
            <a:solidFill>
              <a:srgbClr val="A9D6F2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539496" y="5632704"/>
            <a:ext cx="310896" cy="274320"/>
          </a:xfrm>
          <a:prstGeom prst="roundRect">
            <a:avLst>
              <a:gd name="adj" fmla="val 16667"/>
            </a:avLst>
          </a:prstGeom>
          <a:solidFill>
            <a:srgbClr val="C25E00"/>
          </a:solidFill>
          <a:ln/>
        </p:spPr>
      </p:sp>
      <p:sp>
        <p:nvSpPr>
          <p:cNvPr id="79" name="Text 77"/>
          <p:cNvSpPr/>
          <p:nvPr/>
        </p:nvSpPr>
        <p:spPr>
          <a:xfrm>
            <a:off x="539496" y="563270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</a:t>
            </a:r>
            <a:endParaRPr lang="en-US" sz="1150" dirty="0"/>
          </a:p>
        </p:txBody>
      </p:sp>
      <p:sp>
        <p:nvSpPr>
          <p:cNvPr id="80" name="Text 78"/>
          <p:cNvSpPr/>
          <p:nvPr/>
        </p:nvSpPr>
        <p:spPr>
          <a:xfrm>
            <a:off x="886968" y="5614416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1133856" y="563270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057C2"/>
          </a:solidFill>
          <a:ln/>
        </p:spPr>
      </p:sp>
      <p:sp>
        <p:nvSpPr>
          <p:cNvPr id="82" name="Text 80"/>
          <p:cNvSpPr/>
          <p:nvPr/>
        </p:nvSpPr>
        <p:spPr>
          <a:xfrm>
            <a:off x="1133856" y="563270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-VS 0</a:t>
            </a:r>
            <a:endParaRPr lang="en-US" sz="1150" dirty="0"/>
          </a:p>
        </p:txBody>
      </p:sp>
      <p:sp>
        <p:nvSpPr>
          <p:cNvPr id="83" name="Text 81"/>
          <p:cNvSpPr/>
          <p:nvPr/>
        </p:nvSpPr>
        <p:spPr>
          <a:xfrm>
            <a:off x="1938528" y="5614416"/>
            <a:ext cx="3959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treat zero-byte files as valid</a:t>
            </a:r>
            <a:endParaRPr lang="en-US" sz="1100" dirty="0"/>
          </a:p>
        </p:txBody>
      </p:sp>
      <p:sp>
        <p:nvSpPr>
          <p:cNvPr id="84" name="Shape 82"/>
          <p:cNvSpPr/>
          <p:nvPr/>
        </p:nvSpPr>
        <p:spPr>
          <a:xfrm>
            <a:off x="6199632" y="1737360"/>
            <a:ext cx="5532120" cy="329184"/>
          </a:xfrm>
          <a:prstGeom prst="roundRect">
            <a:avLst>
              <a:gd name="adj" fmla="val 13889"/>
            </a:avLst>
          </a:prstGeom>
          <a:solidFill>
            <a:srgbClr val="0092DB"/>
          </a:solidFill>
          <a:ln/>
        </p:spPr>
      </p:sp>
      <p:sp>
        <p:nvSpPr>
          <p:cNvPr id="85" name="Text 83"/>
          <p:cNvSpPr/>
          <p:nvPr/>
        </p:nvSpPr>
        <p:spPr>
          <a:xfrm>
            <a:off x="6327648" y="1737360"/>
            <a:ext cx="5276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COMMAND LINE ONLY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6199632" y="2139696"/>
            <a:ext cx="5532120" cy="310896"/>
          </a:xfrm>
          <a:prstGeom prst="roundRect">
            <a:avLst>
              <a:gd name="adj" fmla="val 14706"/>
            </a:avLst>
          </a:prstGeom>
          <a:solidFill>
            <a:srgbClr val="DCEBF7"/>
          </a:solidFill>
          <a:ln w="9525">
            <a:solidFill>
              <a:srgbClr val="A9D6F2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281928" y="215798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092DB"/>
          </a:solidFill>
          <a:ln/>
        </p:spPr>
      </p:sp>
      <p:sp>
        <p:nvSpPr>
          <p:cNvPr id="88" name="Text 86"/>
          <p:cNvSpPr/>
          <p:nvPr/>
        </p:nvSpPr>
        <p:spPr>
          <a:xfrm>
            <a:off x="6281928" y="215798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-RA</a:t>
            </a:r>
            <a:endParaRPr lang="en-US" sz="1150" dirty="0"/>
          </a:p>
        </p:txBody>
      </p:sp>
      <p:sp>
        <p:nvSpPr>
          <p:cNvPr id="89" name="Text 87"/>
          <p:cNvSpPr/>
          <p:nvPr/>
        </p:nvSpPr>
        <p:spPr>
          <a:xfrm>
            <a:off x="7086600" y="2139696"/>
            <a:ext cx="4553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force re-archive via dsarch</a:t>
            </a:r>
            <a:endParaRPr lang="en-US" sz="1100" dirty="0"/>
          </a:p>
        </p:txBody>
      </p:sp>
      <p:sp>
        <p:nvSpPr>
          <p:cNvPr id="90" name="Shape 88"/>
          <p:cNvSpPr/>
          <p:nvPr/>
        </p:nvSpPr>
        <p:spPr>
          <a:xfrm>
            <a:off x="6199632" y="2487168"/>
            <a:ext cx="5532120" cy="310896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9525">
            <a:solidFill>
              <a:srgbClr val="A9D6F2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281928" y="250545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092DB"/>
          </a:solidFill>
          <a:ln/>
        </p:spPr>
      </p:sp>
      <p:sp>
        <p:nvSpPr>
          <p:cNvPr id="92" name="Text 90"/>
          <p:cNvSpPr/>
          <p:nvPr/>
        </p:nvSpPr>
        <p:spPr>
          <a:xfrm>
            <a:off x="6281928" y="250545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-RD</a:t>
            </a:r>
            <a:endParaRPr lang="en-US" sz="1150" dirty="0"/>
          </a:p>
        </p:txBody>
      </p:sp>
      <p:sp>
        <p:nvSpPr>
          <p:cNvPr id="93" name="Text 91"/>
          <p:cNvSpPr/>
          <p:nvPr/>
        </p:nvSpPr>
        <p:spPr>
          <a:xfrm>
            <a:off x="7086600" y="2487168"/>
            <a:ext cx="4553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re-download existing remote file</a:t>
            </a:r>
            <a:endParaRPr lang="en-US" sz="1100" dirty="0"/>
          </a:p>
        </p:txBody>
      </p:sp>
      <p:sp>
        <p:nvSpPr>
          <p:cNvPr id="94" name="Shape 92"/>
          <p:cNvSpPr/>
          <p:nvPr/>
        </p:nvSpPr>
        <p:spPr>
          <a:xfrm>
            <a:off x="6199632" y="2834640"/>
            <a:ext cx="5532120" cy="310896"/>
          </a:xfrm>
          <a:prstGeom prst="roundRect">
            <a:avLst>
              <a:gd name="adj" fmla="val 14706"/>
            </a:avLst>
          </a:prstGeom>
          <a:solidFill>
            <a:srgbClr val="DCEBF7"/>
          </a:solidFill>
          <a:ln w="9525">
            <a:solidFill>
              <a:srgbClr val="A9D6F2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281928" y="285292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092DB"/>
          </a:solidFill>
          <a:ln/>
        </p:spPr>
      </p:sp>
      <p:sp>
        <p:nvSpPr>
          <p:cNvPr id="96" name="Text 94"/>
          <p:cNvSpPr/>
          <p:nvPr/>
        </p:nvSpPr>
        <p:spPr>
          <a:xfrm>
            <a:off x="6281928" y="2852928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</a:t>
            </a:r>
            <a:endParaRPr lang="en-US" sz="1150" dirty="0"/>
          </a:p>
        </p:txBody>
      </p:sp>
      <p:sp>
        <p:nvSpPr>
          <p:cNvPr id="97" name="Text 95"/>
          <p:cNvSpPr/>
          <p:nvPr/>
        </p:nvSpPr>
        <p:spPr>
          <a:xfrm>
            <a:off x="7086600" y="2834640"/>
            <a:ext cx="4553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skip errors, continue (with -MU)</a:t>
            </a:r>
            <a:endParaRPr lang="en-US" sz="1100" dirty="0"/>
          </a:p>
        </p:txBody>
      </p:sp>
      <p:sp>
        <p:nvSpPr>
          <p:cNvPr id="98" name="Shape 96"/>
          <p:cNvSpPr/>
          <p:nvPr/>
        </p:nvSpPr>
        <p:spPr>
          <a:xfrm>
            <a:off x="6199632" y="3182112"/>
            <a:ext cx="5532120" cy="310896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9525">
            <a:solidFill>
              <a:srgbClr val="A9D6F2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281928" y="320040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092DB"/>
          </a:solidFill>
          <a:ln/>
        </p:spPr>
      </p:sp>
      <p:sp>
        <p:nvSpPr>
          <p:cNvPr id="100" name="Text 98"/>
          <p:cNvSpPr/>
          <p:nvPr/>
        </p:nvSpPr>
        <p:spPr>
          <a:xfrm>
            <a:off x="6281928" y="320040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-QE</a:t>
            </a:r>
            <a:endParaRPr lang="en-US" sz="1150" dirty="0"/>
          </a:p>
        </p:txBody>
      </p:sp>
      <p:sp>
        <p:nvSpPr>
          <p:cNvPr id="101" name="Text 99"/>
          <p:cNvSpPr/>
          <p:nvPr/>
        </p:nvSpPr>
        <p:spPr>
          <a:xfrm>
            <a:off x="7086600" y="3182112"/>
            <a:ext cx="4553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quit dataset on first error</a:t>
            </a:r>
            <a:endParaRPr lang="en-US" sz="1100" dirty="0"/>
          </a:p>
        </p:txBody>
      </p:sp>
      <p:sp>
        <p:nvSpPr>
          <p:cNvPr id="102" name="Shape 100"/>
          <p:cNvSpPr/>
          <p:nvPr/>
        </p:nvSpPr>
        <p:spPr>
          <a:xfrm>
            <a:off x="6199632" y="3529584"/>
            <a:ext cx="5532120" cy="310896"/>
          </a:xfrm>
          <a:prstGeom prst="roundRect">
            <a:avLst>
              <a:gd name="adj" fmla="val 14706"/>
            </a:avLst>
          </a:prstGeom>
          <a:solidFill>
            <a:srgbClr val="DCEBF7"/>
          </a:solidFill>
          <a:ln w="9525">
            <a:solidFill>
              <a:srgbClr val="A9D6F2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6281928" y="354787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092D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281928" y="354787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-KR</a:t>
            </a:r>
            <a:endParaRPr lang="en-US" sz="1150" dirty="0"/>
          </a:p>
        </p:txBody>
      </p:sp>
      <p:sp>
        <p:nvSpPr>
          <p:cNvPr id="105" name="Text 103"/>
          <p:cNvSpPr/>
          <p:nvPr/>
        </p:nvSpPr>
        <p:spPr>
          <a:xfrm>
            <a:off x="7086600" y="3529584"/>
            <a:ext cx="4553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keep remote file (copy, not move)</a:t>
            </a:r>
            <a:endParaRPr lang="en-US" sz="1100" dirty="0"/>
          </a:p>
        </p:txBody>
      </p:sp>
      <p:sp>
        <p:nvSpPr>
          <p:cNvPr id="106" name="Shape 104"/>
          <p:cNvSpPr/>
          <p:nvPr/>
        </p:nvSpPr>
        <p:spPr>
          <a:xfrm>
            <a:off x="6199632" y="3877056"/>
            <a:ext cx="5532120" cy="310896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9525">
            <a:solidFill>
              <a:srgbClr val="A9D6F2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6281928" y="38953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092DB"/>
          </a:solidFill>
          <a:ln/>
        </p:spPr>
      </p:sp>
      <p:sp>
        <p:nvSpPr>
          <p:cNvPr id="108" name="Text 106"/>
          <p:cNvSpPr/>
          <p:nvPr/>
        </p:nvSpPr>
        <p:spPr>
          <a:xfrm>
            <a:off x="6281928" y="38953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-KS</a:t>
            </a:r>
            <a:endParaRPr lang="en-US" sz="1150" dirty="0"/>
          </a:p>
        </p:txBody>
      </p:sp>
      <p:sp>
        <p:nvSpPr>
          <p:cNvPr id="109" name="Text 107"/>
          <p:cNvSpPr/>
          <p:nvPr/>
        </p:nvSpPr>
        <p:spPr>
          <a:xfrm>
            <a:off x="7086600" y="3877056"/>
            <a:ext cx="4553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keep server file (copy, not move)</a:t>
            </a:r>
            <a:endParaRPr lang="en-US" sz="1100" dirty="0"/>
          </a:p>
        </p:txBody>
      </p:sp>
      <p:sp>
        <p:nvSpPr>
          <p:cNvPr id="110" name="Shape 108"/>
          <p:cNvSpPr/>
          <p:nvPr/>
        </p:nvSpPr>
        <p:spPr>
          <a:xfrm>
            <a:off x="6199632" y="4224528"/>
            <a:ext cx="5532120" cy="310896"/>
          </a:xfrm>
          <a:prstGeom prst="roundRect">
            <a:avLst>
              <a:gd name="adj" fmla="val 14706"/>
            </a:avLst>
          </a:prstGeom>
          <a:solidFill>
            <a:srgbClr val="DCEBF7"/>
          </a:solidFill>
          <a:ln w="9525">
            <a:solidFill>
              <a:srgbClr val="A9D6F2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6281928" y="424281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092DB"/>
          </a:solidFill>
          <a:ln/>
        </p:spPr>
      </p:sp>
      <p:sp>
        <p:nvSpPr>
          <p:cNvPr id="112" name="Text 110"/>
          <p:cNvSpPr/>
          <p:nvPr/>
        </p:nvSpPr>
        <p:spPr>
          <a:xfrm>
            <a:off x="6281928" y="424281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-UT</a:t>
            </a:r>
            <a:endParaRPr lang="en-US" sz="1150" dirty="0"/>
          </a:p>
        </p:txBody>
      </p:sp>
      <p:sp>
        <p:nvSpPr>
          <p:cNvPr id="113" name="Text 111"/>
          <p:cNvSpPr/>
          <p:nvPr/>
        </p:nvSpPr>
        <p:spPr>
          <a:xfrm>
            <a:off x="7086600" y="4224528"/>
            <a:ext cx="4553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force end/next-due time advance</a:t>
            </a:r>
            <a:endParaRPr lang="en-US" sz="1100" dirty="0"/>
          </a:p>
        </p:txBody>
      </p:sp>
      <p:sp>
        <p:nvSpPr>
          <p:cNvPr id="114" name="Shape 112"/>
          <p:cNvSpPr/>
          <p:nvPr/>
        </p:nvSpPr>
        <p:spPr>
          <a:xfrm>
            <a:off x="6199632" y="4572000"/>
            <a:ext cx="5532120" cy="310896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9525">
            <a:solidFill>
              <a:srgbClr val="A9D6F2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6281928" y="459028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092DB"/>
          </a:solidFill>
          <a:ln/>
        </p:spPr>
      </p:sp>
      <p:sp>
        <p:nvSpPr>
          <p:cNvPr id="116" name="Text 114"/>
          <p:cNvSpPr/>
          <p:nvPr/>
        </p:nvSpPr>
        <p:spPr>
          <a:xfrm>
            <a:off x="6281928" y="4590288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-BG</a:t>
            </a:r>
            <a:endParaRPr lang="en-US" sz="1150" dirty="0"/>
          </a:p>
        </p:txBody>
      </p:sp>
      <p:sp>
        <p:nvSpPr>
          <p:cNvPr id="117" name="Text 115"/>
          <p:cNvSpPr/>
          <p:nvPr/>
        </p:nvSpPr>
        <p:spPr>
          <a:xfrm>
            <a:off x="7086600" y="4572000"/>
            <a:ext cx="4553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background; suppress screen output</a:t>
            </a:r>
            <a:endParaRPr lang="en-US" sz="1100" dirty="0"/>
          </a:p>
        </p:txBody>
      </p:sp>
      <p:sp>
        <p:nvSpPr>
          <p:cNvPr id="118" name="Shape 116"/>
          <p:cNvSpPr/>
          <p:nvPr/>
        </p:nvSpPr>
        <p:spPr>
          <a:xfrm>
            <a:off x="6199632" y="4919472"/>
            <a:ext cx="5532120" cy="310896"/>
          </a:xfrm>
          <a:prstGeom prst="roundRect">
            <a:avLst>
              <a:gd name="adj" fmla="val 14706"/>
            </a:avLst>
          </a:prstGeom>
          <a:solidFill>
            <a:srgbClr val="DCEBF7"/>
          </a:solidFill>
          <a:ln w="9525">
            <a:solidFill>
              <a:srgbClr val="A9D6F2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281928" y="493776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092DB"/>
          </a:solidFill>
          <a:ln/>
        </p:spPr>
      </p:sp>
      <p:sp>
        <p:nvSpPr>
          <p:cNvPr id="120" name="Text 118"/>
          <p:cNvSpPr/>
          <p:nvPr/>
        </p:nvSpPr>
        <p:spPr>
          <a:xfrm>
            <a:off x="6281928" y="493776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endParaRPr lang="en-US" sz="1150" dirty="0"/>
          </a:p>
        </p:txBody>
      </p:sp>
      <p:sp>
        <p:nvSpPr>
          <p:cNvPr id="121" name="Text 119"/>
          <p:cNvSpPr/>
          <p:nvPr/>
        </p:nvSpPr>
        <p:spPr>
          <a:xfrm>
            <a:off x="7086600" y="4919472"/>
            <a:ext cx="4553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suppress notification email</a:t>
            </a:r>
            <a:endParaRPr lang="en-US" sz="1100" dirty="0"/>
          </a:p>
        </p:txBody>
      </p:sp>
      <p:sp>
        <p:nvSpPr>
          <p:cNvPr id="122" name="Shape 120"/>
          <p:cNvSpPr/>
          <p:nvPr/>
        </p:nvSpPr>
        <p:spPr>
          <a:xfrm>
            <a:off x="6199632" y="5321808"/>
            <a:ext cx="5532120" cy="621792"/>
          </a:xfrm>
          <a:prstGeom prst="roundRect">
            <a:avLst>
              <a:gd name="adj" fmla="val 735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6345936" y="5321808"/>
            <a:ext cx="52395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Other control-record presets:  </a:t>
            </a:r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-MC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email level, </a:t>
            </a:r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-EC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error control, </a:t>
            </a:r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keep-file — set once on </a:t>
            </a:r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-SC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instead of on every run.</a:t>
            </a:r>
            <a:endParaRPr lang="en-US" sz="1100" dirty="0"/>
          </a:p>
        </p:txBody>
      </p:sp>
      <p:sp>
        <p:nvSpPr>
          <p:cNvPr id="124" name="Text 122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</a:t>
            </a:r>
            <a:endParaRPr lang="en-US" sz="950" dirty="0"/>
          </a:p>
        </p:txBody>
      </p:sp>
      <p:sp>
        <p:nvSpPr>
          <p:cNvPr id="125" name="Text 123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Environment &amp; Prerequisites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77393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Under dsarch/dsupdt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operational datasets run under dsupdt/dsarch control; dsupdt hands its local files to dsarch for archiving onto GDEX.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9632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19088" y="177393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1" name="Text 9"/>
          <p:cNvSpPr/>
          <p:nvPr/>
        </p:nvSpPr>
        <p:spPr>
          <a:xfrm>
            <a:off x="6419088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14032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$UPDTWKP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14032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Root for working dirs (unset → -WD used as-is). Hourly files sharing a name across days need a date pattern in -WD to keep each workdir/server-file pair unique, e.g. -WD $UPDTWKP/zji/ds084.1/&lt;YYYYMMDD&gt;.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76656" y="3328416"/>
            <a:ext cx="566928" cy="566928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Ownership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the owning specialist may run a record. Use -MD to override, or -LN to run on behalf of another (auto-adds -MD to dsarch).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9632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19088" y="3328416"/>
            <a:ext cx="566928" cy="56692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1" name="Text 19"/>
          <p:cNvSpPr/>
          <p:nvPr/>
        </p:nvSpPr>
        <p:spPr>
          <a:xfrm>
            <a:off x="641908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14032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dNNNNNN.*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14032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files must start with the dataset number and match -DS — a guard against operating on the wrong dataset.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6656" y="488289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∥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71600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-PL parallelism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71600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Fork N child processes, each handling one record, for datasets with many independent, time-consuming updates.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99632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19088" y="488289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31" name="Text 29"/>
          <p:cNvSpPr/>
          <p:nvPr/>
        </p:nvSpPr>
        <p:spPr>
          <a:xfrm>
            <a:off x="6419088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✉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114032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-DB / logs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114032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Debug logging via -DB level [path] [file]; default log path $GDEXHOME/dssdb/log, file pgdss.dbg.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Troubleshooting &amp; Recovery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783080"/>
            <a:ext cx="502920" cy="50292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25880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Stuck lock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crashed run may leave PID/host on a record, blocking reprocessing on another host.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13232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11837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-CI 57</a:t>
            </a:r>
            <a:endParaRPr lang="en-US" sz="11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-LI 33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092DB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28232" y="1783080"/>
            <a:ext cx="502920" cy="50292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3" name="Text 11"/>
          <p:cNvSpPr/>
          <p:nvPr/>
        </p:nvSpPr>
        <p:spPr>
          <a:xfrm>
            <a:off x="6428232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68312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 data ready?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73952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 remote-file availability before committing to an update.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55664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11837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 -CA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C25E00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5800" y="3977640"/>
            <a:ext cx="502920" cy="50292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325880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Re-run a period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Substitute a different date to re-archive or recover a deleted action.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13232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11837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-CD 2026-07-01 -RA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99632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28232" y="3977640"/>
            <a:ext cx="502920" cy="50292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7" name="Text 25"/>
          <p:cNvSpPr/>
          <p:nvPr/>
        </p:nvSpPr>
        <p:spPr>
          <a:xfrm>
            <a:off x="6428232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68312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Retry on failure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473952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Control records retry automatically after -RI; -EC sets error behavior.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55664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11837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0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d540000 -SC -CI 5 -RI 12H -EC 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05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terio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gdex_lock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365760"/>
            <a:ext cx="1024128" cy="521208"/>
          </a:xfrm>
          <a:prstGeom prst="rect">
            <a:avLst/>
          </a:prstGeom>
        </p:spPr>
      </p:pic>
      <p:pic>
        <p:nvPicPr>
          <p:cNvPr id="4" name="Image 2" descr="nsf_ncar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496" y="393192"/>
            <a:ext cx="1892808" cy="52120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</a:t>
            </a:r>
            <a:endParaRPr lang="en-US" sz="950" dirty="0"/>
          </a:p>
        </p:txBody>
      </p:sp>
      <p:sp>
        <p:nvSpPr>
          <p:cNvPr id="6" name="Shape 1"/>
          <p:cNvSpPr/>
          <p:nvPr/>
        </p:nvSpPr>
        <p:spPr>
          <a:xfrm>
            <a:off x="612648" y="6437376"/>
            <a:ext cx="0" cy="201168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  <p:sp>
        <p:nvSpPr>
          <p:cNvPr id="8" name="Text 3"/>
          <p:cNvSpPr/>
          <p:nvPr/>
        </p:nvSpPr>
        <p:spPr>
          <a:xfrm>
            <a:off x="1527048" y="1188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RECAP</a:t>
            </a:r>
            <a:endParaRPr lang="en-US" sz="1300" dirty="0"/>
          </a:p>
        </p:txBody>
      </p:sp>
      <p:sp>
        <p:nvSpPr>
          <p:cNvPr id="9" name="Text 4"/>
          <p:cNvSpPr/>
          <p:nvPr/>
        </p:nvSpPr>
        <p:spPr>
          <a:xfrm>
            <a:off x="1527048" y="15544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Config to Archive</a:t>
            </a:r>
            <a:endParaRPr lang="en-US" sz="4000" dirty="0"/>
          </a:p>
        </p:txBody>
      </p:sp>
      <p:sp>
        <p:nvSpPr>
          <p:cNvPr id="10" name="Shape 5"/>
          <p:cNvSpPr/>
          <p:nvPr/>
        </p:nvSpPr>
        <p:spPr>
          <a:xfrm>
            <a:off x="1527048" y="2606040"/>
            <a:ext cx="502920" cy="502920"/>
          </a:xfrm>
          <a:prstGeom prst="ellipse">
            <a:avLst/>
          </a:prstGeom>
          <a:solidFill>
            <a:srgbClr val="00357A"/>
          </a:solidFill>
          <a:ln/>
        </p:spPr>
      </p:sp>
      <p:sp>
        <p:nvSpPr>
          <p:cNvPr id="11" name="Text 6"/>
          <p:cNvSpPr/>
          <p:nvPr/>
        </p:nvSpPr>
        <p:spPr>
          <a:xfrm>
            <a:off x="1527048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7"/>
          <p:cNvSpPr/>
          <p:nvPr/>
        </p:nvSpPr>
        <p:spPr>
          <a:xfrm>
            <a:off x="2212848" y="2606040"/>
            <a:ext cx="8458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Configure  </a:t>
            </a:r>
            <a:pPr indent="0" marL="0">
              <a:buNone/>
            </a:pPr>
            <a:r>
              <a:rPr lang="en-US" sz="1500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three record types: control (dcupdt), local (dlupdt), remote (drupdt)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1527048" y="3319272"/>
            <a:ext cx="502920" cy="502920"/>
          </a:xfrm>
          <a:prstGeom prst="ellipse">
            <a:avLst/>
          </a:prstGeom>
          <a:solidFill>
            <a:srgbClr val="00357A"/>
          </a:solidFill>
          <a:ln/>
        </p:spPr>
      </p:sp>
      <p:sp>
        <p:nvSpPr>
          <p:cNvPr id="14" name="Text 9"/>
          <p:cNvSpPr/>
          <p:nvPr/>
        </p:nvSpPr>
        <p:spPr>
          <a:xfrm>
            <a:off x="1527048" y="33192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2212848" y="3319272"/>
            <a:ext cx="8458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 </a:t>
            </a:r>
            <a:pPr indent="0" marL="0">
              <a:buNone/>
            </a:pPr>
            <a:r>
              <a:rPr lang="en-US" sz="1500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-UF drives download → build → archive → clean in one command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1527048" y="4032504"/>
            <a:ext cx="502920" cy="502920"/>
          </a:xfrm>
          <a:prstGeom prst="ellipse">
            <a:avLst/>
          </a:prstGeom>
          <a:solidFill>
            <a:srgbClr val="00357A"/>
          </a:solidFill>
          <a:ln/>
        </p:spPr>
      </p:sp>
      <p:sp>
        <p:nvSpPr>
          <p:cNvPr id="17" name="Text 12"/>
          <p:cNvSpPr/>
          <p:nvPr/>
        </p:nvSpPr>
        <p:spPr>
          <a:xfrm>
            <a:off x="1527048" y="40325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2212848" y="4032504"/>
            <a:ext cx="8458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Automate  </a:t>
            </a:r>
            <a:pPr indent="0" marL="0">
              <a:buNone/>
            </a:pPr>
            <a:r>
              <a:rPr lang="en-US" sz="1500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link to a control record; dscheck dispatches, retries, and reports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1527048" y="4745736"/>
            <a:ext cx="502920" cy="502920"/>
          </a:xfrm>
          <a:prstGeom prst="ellipse">
            <a:avLst/>
          </a:prstGeom>
          <a:solidFill>
            <a:srgbClr val="00357A"/>
          </a:solidFill>
          <a:ln/>
        </p:spPr>
      </p:sp>
      <p:sp>
        <p:nvSpPr>
          <p:cNvPr id="20" name="Text 15"/>
          <p:cNvSpPr/>
          <p:nvPr/>
        </p:nvSpPr>
        <p:spPr>
          <a:xfrm>
            <a:off x="1527048" y="47457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2212848" y="4745736"/>
            <a:ext cx="8458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Tune  </a:t>
            </a:r>
            <a:pPr indent="0" marL="0">
              <a:buNone/>
            </a:pPr>
            <a:r>
              <a:rPr lang="en-US" sz="1500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patterns, valid interval, parallelism, and email controls per record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1527048" y="5532120"/>
            <a:ext cx="9144000" cy="685800"/>
          </a:xfrm>
          <a:prstGeom prst="roundRect">
            <a:avLst>
              <a:gd name="adj" fmla="val 13333"/>
            </a:avLst>
          </a:prstGeom>
          <a:solidFill>
            <a:srgbClr val="00357A"/>
          </a:solidFill>
          <a:ln w="12700">
            <a:solidFill>
              <a:srgbClr val="42C0FF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1755648" y="55321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Learn more 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•   dsupdt.usg   •   </a:t>
            </a:r>
            <a:pPr indent="0" marL="0">
              <a:lnSpc>
                <a:spcPct val="110000"/>
              </a:lnSpc>
              <a:buNone/>
            </a:pPr>
            <a:r>
              <a:rPr lang="en-US" sz="1250" u="sng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gdex-docs-dsupdt.readthedocs.io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•   </a:t>
            </a:r>
            <a:pPr indent="0" marL="0">
              <a:lnSpc>
                <a:spcPct val="110000"/>
              </a:lnSpc>
              <a:buNone/>
            </a:pPr>
            <a:r>
              <a:rPr lang="en-US" sz="1250" u="sng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github.com/NCAR/rda-python-dsupdt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05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terio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gdex_lock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365760"/>
            <a:ext cx="1024128" cy="521208"/>
          </a:xfrm>
          <a:prstGeom prst="rect">
            <a:avLst/>
          </a:prstGeom>
        </p:spPr>
      </p:pic>
      <p:pic>
        <p:nvPicPr>
          <p:cNvPr id="4" name="Image 2" descr="nsf_ncar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496" y="393192"/>
            <a:ext cx="1892808" cy="52120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</a:t>
            </a:r>
            <a:endParaRPr lang="en-US" sz="950" dirty="0"/>
          </a:p>
        </p:txBody>
      </p:sp>
      <p:sp>
        <p:nvSpPr>
          <p:cNvPr id="6" name="Shape 1"/>
          <p:cNvSpPr/>
          <p:nvPr/>
        </p:nvSpPr>
        <p:spPr>
          <a:xfrm>
            <a:off x="612648" y="6437376"/>
            <a:ext cx="0" cy="201168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50" dirty="0"/>
          </a:p>
        </p:txBody>
      </p:sp>
      <p:sp>
        <p:nvSpPr>
          <p:cNvPr id="8" name="Text 3"/>
          <p:cNvSpPr/>
          <p:nvPr/>
        </p:nvSpPr>
        <p:spPr>
          <a:xfrm>
            <a:off x="1527048" y="1078992"/>
            <a:ext cx="9144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Any Questions?</a:t>
            </a:r>
            <a:endParaRPr lang="en-US" sz="5400" dirty="0"/>
          </a:p>
        </p:txBody>
      </p:sp>
      <p:sp>
        <p:nvSpPr>
          <p:cNvPr id="9" name="Shape 4"/>
          <p:cNvSpPr/>
          <p:nvPr/>
        </p:nvSpPr>
        <p:spPr>
          <a:xfrm>
            <a:off x="1527048" y="4160520"/>
            <a:ext cx="804672" cy="0"/>
          </a:xfrm>
          <a:prstGeom prst="line">
            <a:avLst/>
          </a:prstGeom>
          <a:noFill/>
          <a:ln w="38100">
            <a:solidFill>
              <a:srgbClr val="42C0FF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1527048" y="44348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Thank you — dsupdt keeps the operational datasets current, every day.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1527048" y="5166360"/>
            <a:ext cx="9144000" cy="685800"/>
          </a:xfrm>
          <a:prstGeom prst="roundRect">
            <a:avLst>
              <a:gd name="adj" fmla="val 13333"/>
            </a:avLst>
          </a:prstGeom>
          <a:solidFill>
            <a:srgbClr val="00357A"/>
          </a:solidFill>
          <a:ln w="12700">
            <a:solidFill>
              <a:srgbClr val="42C0FF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1755648" y="51663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Zaihua Ji   •   zji@ucar.edu   •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indent="0" marL="0">
              <a:buNone/>
            </a:pPr>
            <a:r>
              <a:rPr lang="en-US" sz="1250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•   dsupdt.usg   •   </a:t>
            </a:r>
            <a:pPr indent="0" marL="0">
              <a:buNone/>
            </a:pPr>
            <a:r>
              <a:rPr lang="en-US" sz="1250" u="sng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github.com/NCAR/rda-python-dsupdt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2026-08-20T15:39:03Z</dcterms:created>
  <dcterms:modified xsi:type="dcterms:W3CDTF">2026-08-20T15:39:03Z</dcterms:modified>
</cp:coreProperties>
</file>