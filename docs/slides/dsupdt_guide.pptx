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365760"/>
            <a:ext cx="3108960" cy="310896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83880" y="45720"/>
            <a:ext cx="2286000" cy="228600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457200"/>
            <a:ext cx="1463040" cy="146304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32520" y="822960"/>
            <a:ext cx="822960" cy="82296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" name="Text 4"/>
          <p:cNvSpPr/>
          <p:nvPr/>
        </p:nvSpPr>
        <p:spPr>
          <a:xfrm>
            <a:off x="8732520" y="8229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dsupdt</a:t>
            </a:r>
            <a:endParaRPr lang="en-US" sz="7800" dirty="0"/>
          </a:p>
        </p:txBody>
      </p:sp>
      <p:sp>
        <p:nvSpPr>
          <p:cNvPr id="8" name="Text 6"/>
          <p:cNvSpPr/>
          <p:nvPr/>
        </p:nvSpPr>
        <p:spPr>
          <a:xfrm>
            <a:off x="658368" y="3383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Dataset Updates for the GDEX Servers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58368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→ Build → Archive, scheduled and automated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8368" y="4892040"/>
            <a:ext cx="2317090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4892040"/>
            <a:ext cx="2317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158338" y="4892040"/>
            <a:ext cx="1420978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58338" y="4892040"/>
            <a:ext cx="1420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62195" y="4892040"/>
            <a:ext cx="1600200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62195" y="4892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2026-07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Zaihua Ji</a:t>
            </a:r>
            <a:pPr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zji@ucar.edu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8368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8C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Companion utility to  dsarch  •  orchestrated by the  dscheck  daemon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dsupdt?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performs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dataset updates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it retrieves data from remote servers, assembles archive-ready local files, and hands them to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archiving onto the GDEX Servers.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246120"/>
            <a:ext cx="4846320" cy="2788920"/>
          </a:xfrm>
          <a:prstGeom prst="roundRect">
            <a:avLst>
              <a:gd name="adj" fmla="val 3279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429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per dataset in GDEXDB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3840480"/>
            <a:ext cx="44348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operational datasets run under 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/ dsarch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configuration spans three record types.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records from the CLI (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or the web Config Editor (next slide).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owning specialist may run an update record (override with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-MD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files must be named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guard against the wrong dataset.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71500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16168" y="17282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591616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62940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controls, local &amp; remote file records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0684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208008" y="17282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92124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92124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/ fetch server files to a working area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1500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16168" y="33284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0" name="Text 18"/>
          <p:cNvSpPr/>
          <p:nvPr/>
        </p:nvSpPr>
        <p:spPr>
          <a:xfrm>
            <a:off x="591616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62940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Build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2940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specialist routines, tar &amp; compress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0684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08008" y="33284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920800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92124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92124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local files to dsarch → GDEX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71500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916168" y="49286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591616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62940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62940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temporary files after success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00684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208008" y="49286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5" name="Text 33"/>
          <p:cNvSpPr/>
          <p:nvPr/>
        </p:nvSpPr>
        <p:spPr>
          <a:xfrm>
            <a:off x="920800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992124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92124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Five-Stage Update Pipeline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9576" y="2267712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1179576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files on the remote server or a local area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14600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816352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93008" y="2267712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3493008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907792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53512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in the working directory (-WD)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828032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5129784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06440" y="2267712"/>
            <a:ext cx="640080" cy="64008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8" name="Text 16"/>
          <p:cNvSpPr/>
          <p:nvPr/>
        </p:nvSpPr>
        <p:spPr>
          <a:xfrm>
            <a:off x="5806440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221224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66944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validated, converted, tarred / compressed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141464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7443216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19872" y="2267712"/>
            <a:ext cx="640080" cy="64008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4" name="Text 22"/>
          <p:cNvSpPr/>
          <p:nvPr/>
        </p:nvSpPr>
        <p:spPr>
          <a:xfrm>
            <a:off x="8119872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7534656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80376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action AS / AW / AQ applied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54896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9756648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0E1B2E"/>
          </a:solidFill>
          <a:ln w="25400">
            <a:solidFill>
              <a:srgbClr val="0E1B2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433304" y="2267712"/>
            <a:ext cx="640080" cy="640080"/>
          </a:xfrm>
          <a:prstGeom prst="ellipse">
            <a:avLst/>
          </a:prstGeom>
          <a:solidFill>
            <a:srgbClr val="0E1B2E"/>
          </a:solidFill>
          <a:ln/>
        </p:spPr>
      </p:sp>
      <p:sp>
        <p:nvSpPr>
          <p:cNvPr id="30" name="Text 28"/>
          <p:cNvSpPr/>
          <p:nvPr/>
        </p:nvSpPr>
        <p:spPr>
          <a:xfrm>
            <a:off x="10433304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9848088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GDEX Servers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893808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&amp; discoverable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4892040"/>
            <a:ext cx="11201400" cy="1234440"/>
          </a:xfrm>
          <a:prstGeom prst="roundRect">
            <a:avLst>
              <a:gd name="adj" fmla="val 7407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5138928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51389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⌘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1645920" y="507492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runs the whole chain. 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 (-UpdateFile)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performs all stages end-to-end. The individual steps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let you drive each stage separately.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Record Types in GDEXDB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65A82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103120"/>
            <a:ext cx="3611880" cy="5029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-SC / -GC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when updates run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Frequency, offset, retry, valid interval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&amp; error controls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Launched by the dscheck daemon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25112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25112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1C7293"/>
          </a:solidFill>
          <a:ln/>
        </p:spPr>
      </p:sp>
      <p:sp>
        <p:nvSpPr>
          <p:cNvPr id="12" name="Shape 10"/>
          <p:cNvSpPr/>
          <p:nvPr/>
        </p:nvSpPr>
        <p:spPr>
          <a:xfrm>
            <a:off x="4325112" y="2103120"/>
            <a:ext cx="3611880" cy="5029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553712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53712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-SL / -GL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99432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config for an update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 name &amp; dsarch action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/ build / clean commands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next end date/hour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193024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8193024" y="2103120"/>
            <a:ext cx="3611880" cy="502920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19" name="Text 17"/>
          <p:cNvSpPr/>
          <p:nvPr/>
        </p:nvSpPr>
        <p:spPr>
          <a:xfrm>
            <a:off x="8421624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421624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-SR / -GR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67344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remote ≠ local name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remotes → one local file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file &amp; download order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interval for sub-periods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→ edit → Set:  </a:t>
            </a:r>
            <a:pPr algn="ctr" indent="0" marL="0">
              <a:buNone/>
            </a:pPr>
            <a:r>
              <a:rPr lang="en-US" sz="13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(-GetAll)</a:t>
            </a:r>
            <a:pPr algn="ctr" indent="0" marL="0">
              <a:buNone/>
            </a:pPr>
            <a:r>
              <a:rPr lang="en-US" sz="13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dumps all three sections;  </a:t>
            </a:r>
            <a:pPr algn="ctr" indent="0" marL="0">
              <a:buNone/>
            </a:pPr>
            <a:r>
              <a:rPr lang="en-US" sz="13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-SA (-SetAll)</a:t>
            </a:r>
            <a:pPr algn="ctr" indent="0" marL="0">
              <a:buNone/>
            </a:pPr>
            <a:r>
              <a:rPr lang="en-US" sz="13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applies an edited file back to GDEXDB.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 Command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E1B2E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087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buNone/>
            </a:pPr>
            <a:r>
              <a:rPr lang="en-US" sz="2200" dirty="0">
                <a:solidFill>
                  <a:srgbClr val="8FB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[-DS dNNNNNN] </a:t>
            </a:r>
            <a:pPr indent="0" marL="0">
              <a:buNone/>
            </a:pPr>
            <a:r>
              <a:rPr lang="en-US" sz="22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&lt;Action&gt; </a:t>
            </a:r>
            <a:pPr indent="0" marL="0">
              <a:buNone/>
            </a:pPr>
            <a:r>
              <a:rPr lang="en-US" sz="2200" b="1" dirty="0">
                <a:solidFill>
                  <a:srgbClr val="7FD1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[Mode…] </a:t>
            </a:r>
            <a:pPr indent="0" marL="0">
              <a:buNone/>
            </a:pPr>
            <a:r>
              <a:rPr lang="en-US" sz="2200" b="1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[Info…]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C64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Action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651760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E8963A"/>
          </a:solidFill>
          <a:ln/>
        </p:spPr>
      </p:sp>
      <p:sp>
        <p:nvSpPr>
          <p:cNvPr id="9" name="Text 7"/>
          <p:cNvSpPr/>
          <p:nvPr/>
        </p:nvSpPr>
        <p:spPr>
          <a:xfrm>
            <a:off x="2651760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run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13232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Selects the task. Takes no value. E.g. -UF, -GC, -SL, -AF. Some actions imply others.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25112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81144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5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519672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2E8B7A"/>
          </a:solidFill>
          <a:ln/>
        </p:spPr>
      </p:sp>
      <p:sp>
        <p:nvSpPr>
          <p:cNvPr id="14" name="Text 12"/>
          <p:cNvSpPr/>
          <p:nvPr/>
        </p:nvSpPr>
        <p:spPr>
          <a:xfrm>
            <a:off x="6519672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or more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81144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Modifies behavior; takes no value. E.g. -MU, -FU, -RA, -NE, -GZ.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93024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49056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4A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387584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10387584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Carries data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449056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Supplies values: dataset, indices, dates, file names, commands. E.g. -CI, -ED, -LF.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5074920"/>
            <a:ext cx="11247120" cy="100584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13892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&amp; filters 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(A|B)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short|long form  •  option names are case-insensitive, values are not  •  Get-style filters accept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 &lt; &gt; &lt;&gt;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the first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may omit its option name.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Start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011680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 single option's help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28016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-UF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73952" y="201168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04088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update control records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04088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15" name="Text 13"/>
          <p:cNvSpPr/>
          <p:nvPr/>
        </p:nvSpPr>
        <p:spPr>
          <a:xfrm>
            <a:off x="717804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d540000 -GC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13232" y="3511296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local file records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28016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21" name="Text 19"/>
          <p:cNvSpPr/>
          <p:nvPr/>
        </p:nvSpPr>
        <p:spPr>
          <a:xfrm>
            <a:off x="141732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1792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73952" y="3511296"/>
            <a:ext cx="384048" cy="38404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04088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download–build–archive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04088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27" name="Text 25"/>
          <p:cNvSpPr/>
          <p:nvPr/>
        </p:nvSpPr>
        <p:spPr>
          <a:xfrm>
            <a:off x="717804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13232" y="5010912"/>
            <a:ext cx="384048" cy="38404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30" name="Text 28"/>
          <p:cNvSpPr/>
          <p:nvPr/>
        </p:nvSpPr>
        <p:spPr>
          <a:xfrm>
            <a:off x="71323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28016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all elapsed periods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28016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33" name="Text 31"/>
          <p:cNvSpPr/>
          <p:nvPr/>
        </p:nvSpPr>
        <p:spPr>
          <a:xfrm>
            <a:off x="141732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-MU -IE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21792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73952" y="5010912"/>
            <a:ext cx="384048" cy="38404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36" name="Text 34"/>
          <p:cNvSpPr/>
          <p:nvPr/>
        </p:nvSpPr>
        <p:spPr>
          <a:xfrm>
            <a:off x="647395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04088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remote-file availability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04088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39" name="Text 37"/>
          <p:cNvSpPr/>
          <p:nvPr/>
        </p:nvSpPr>
        <p:spPr>
          <a:xfrm>
            <a:off x="717804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 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with no arguments to page the full guide through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Omit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on Get actions to list records across all of your datasets.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Configuration Workflow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810512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63040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85800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d277000 -GA -OF d277000.all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3232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Dump all control/local/remote records to a file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023360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325112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81144" y="1810512"/>
            <a:ext cx="640080" cy="64008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4" name="Text 12"/>
          <p:cNvSpPr/>
          <p:nvPr/>
        </p:nvSpPr>
        <p:spPr>
          <a:xfrm>
            <a:off x="4581144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330952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9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553712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4672584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 d277000.all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81144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values; sections [DCUPDT] [DLUPDT] [DRUPDT]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891272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193024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49056" y="1810512"/>
            <a:ext cx="640080" cy="64008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2" name="Text 20"/>
          <p:cNvSpPr/>
          <p:nvPr/>
        </p:nvSpPr>
        <p:spPr>
          <a:xfrm>
            <a:off x="8449056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198864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8421624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25" name="Text 23"/>
          <p:cNvSpPr/>
          <p:nvPr/>
        </p:nvSpPr>
        <p:spPr>
          <a:xfrm>
            <a:off x="8540496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d277000 -SA -IF d277000.all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49056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edited file back to GDEXDB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160520"/>
            <a:ext cx="1124712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 (-IF) format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2960" y="4709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114800" y="470916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line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22960" y="4983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Dataset&lt;=&gt;d277000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114800" y="498348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single-value assignment  ( -ES sets '&lt;=&gt;' )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22960" y="5257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SC&lt;!&gt;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114800" y="525780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/ Mode marker  ( -AO sets '&lt;!&gt;' )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22960" y="5532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col1&lt;:&gt;col2&lt;:&gt;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114800" y="553212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header row  ( -DV sets '&lt;:&gt;' )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22960" y="5806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114800" y="580644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name must start with the dataset number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Config Editor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three record types can be edited in a browser — no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Get/Edit/Set round-trip. Open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RDAMS PostgreSQL Configuration Editor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expand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menu.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502920"/>
          </a:xfrm>
          <a:prstGeom prst="roundRect">
            <a:avLst>
              <a:gd name="adj" fmla="val 10909"/>
            </a:avLst>
          </a:prstGeom>
          <a:solidFill>
            <a:srgbClr val="0E1B2E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148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gdex.ucar.edu/rda_pg_config</a:t>
            </a:r>
            <a:pPr indent="0" marL="0">
              <a:buNone/>
            </a:pPr>
            <a:r>
              <a:rPr lang="en-US" sz="1300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›  DSUPDT  ›  Update Control | Local File | Remote File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3273552"/>
            <a:ext cx="3611880" cy="201168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dsupdt_control.php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• -SC / -GC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85800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frequency, next-due, actions, e-mail &amp; error controls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25112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25112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1C7293"/>
          </a:solidFill>
          <a:ln/>
        </p:spPr>
      </p:sp>
      <p:sp>
        <p:nvSpPr>
          <p:cNvPr id="16" name="Shape 14"/>
          <p:cNvSpPr/>
          <p:nvPr/>
        </p:nvSpPr>
        <p:spPr>
          <a:xfrm>
            <a:off x="4325112" y="3273552"/>
            <a:ext cx="3611880" cy="20116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4526280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553712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dsupdt_localfile.php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53712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• -SL / -GL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53712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names, patterns, build / convert commands, archive action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93024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93024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2E8B7A"/>
          </a:solidFill>
          <a:ln/>
        </p:spPr>
      </p:sp>
      <p:sp>
        <p:nvSpPr>
          <p:cNvPr id="23" name="Shape 21"/>
          <p:cNvSpPr/>
          <p:nvPr/>
        </p:nvSpPr>
        <p:spPr>
          <a:xfrm>
            <a:off x="8193024" y="3273552"/>
            <a:ext cx="3611880" cy="201168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421624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dsupdt_remotefile.php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21624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• -SR / -GR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421624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&amp; server names, download command &amp; order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Split-pane editor: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dataset &amp; record on top, edit fields below. A record is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while open; add, edit, save, or delete, then release. Writes go straight to GDEXDB — identical to the CLI.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DCUPDT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 Record  (-SC)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automatic actions launched by </a:t>
            </a:r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dscheck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New record: index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-NC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Existing index is modified in place.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377440"/>
                <a:gridCol w="789127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dsupdt task: UF, DR, BL, PB, CL, CU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often, e.g. 1W, 1M, 6H, 1M/3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ControlOffset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 after period end, e.g. 2D10H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scheduled run  YYYY-MM-DD HH:NN:SS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RetryInterval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 before retry after a failure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long remote files stay valid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ParentIndex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only after parent control completes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-UC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preset modes: B C E F G M N O Y 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/ S / E / B / N report level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ignore / Q quit / N normal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-KF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/ R / B / N which files to keep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-HN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restrict/allow processing hosts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DLUPDT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 Record  (-SL)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configuration to update a file. Link to a control via </a:t>
            </a:r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 its scheduled action runs automatically.  New: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 0 + -NL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-LF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name, may embed temporal patterns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dsarch action: AS, AW, AQ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-OP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 string passed to dsarch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fetch/copy/generate the 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cadence, e.g. 1M, 1W, 6H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end date of next update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-EH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EndHour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hour (sub-daily cadence)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DueInterval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→ ready lead 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ValidInterval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re-check / hold-open window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 remote-file age to fetch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WorkDir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staging dir (root $UPDTWKP)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ProcessRemote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validate/convert cmd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build cmd (vs tar)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-CL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temp files after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4892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  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-LF / -RF / -DC / -DE (default delimiters </a:t>
            </a:r>
            <a:pPr algn="ctr" indent="0" marL="0">
              <a:buNone/>
            </a:pPr>
            <a:r>
              <a:rPr lang="en-US" sz="12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are substituted at update time, e.g. </a:t>
            </a:r>
            <a:pPr algn="ctr"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file.&lt;YYYYMM&gt;.ext → file.200710.ext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DRUPDT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 Record  (-SR)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remote record only in these three cases: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76656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≠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89888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name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89888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 name differs from the local file name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25112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44568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2" name="Text 10"/>
          <p:cNvSpPr/>
          <p:nvPr/>
        </p:nvSpPr>
        <p:spPr>
          <a:xfrm>
            <a:off x="4544568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∑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257800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→ one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257800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remote files are tarred into one local file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93024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125712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servers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25712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available from several servers (-DO order)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7472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286000"/>
                <a:gridCol w="7982712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LocalIndex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record this remote belongs to (required)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name(s); join many with '::' ; '!' = shell cmd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-SF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 on server if different from remote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DownloadCommand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overrides the local record's command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DownloadOrder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try lowest index first, then ascending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-TI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name per sub-period, e.g. 6H, 5D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start (with -TI)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end (with -TI)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Update Action Family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E8963A"/>
          </a:solidFill>
          <a:ln w="12700">
            <a:solidFill>
              <a:srgbClr val="E8963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File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F0E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end-to-end: download → build → archive → clean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10128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93008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93008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Remote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493008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fetch/copy/generate remote files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63056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45936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45936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Local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45936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validate, convert, tar/compress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15984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98864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98864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Both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98864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+ build in one step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008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File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local files to dsarch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10128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493008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493008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File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493008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temporary working files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63056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45936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-CU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345936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Update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345936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5C6E7C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198864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-UL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9198864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198864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locks from aborted runs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4892040"/>
            <a:ext cx="11274552" cy="1188720"/>
          </a:xfrm>
          <a:prstGeom prst="roundRect">
            <a:avLst>
              <a:gd name="adj" fmla="val 7692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0292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-UF bundles the four steps.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Stepping manually is useful for debugging or re-running a single stage. All actions accept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 / -LI / -LF / -XO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target records, and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 / -EH / -CD / -CH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override dates at run time.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-UF Deep Dive: One Command, Full Cycle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due local file record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/ copy the server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convert (-PR) into a remote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local file (tar / compress or -BC)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via dsarch using the record's action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temporary files (-CL)</a:t>
            </a:r>
            <a:endParaRPr lang="en-US" sz="1400" dirty="0"/>
          </a:p>
          <a:p>
            <a:pPr marL="254000" indent="-254000">
              <a:lnSpc>
                <a:spcPct val="110000"/>
              </a:lnSpc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data end date/hour &amp; next-due times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554480"/>
          <a:ext cx="5532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60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Mode/Info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9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96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 every elapsed period (else newest only)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force at least one update even if not due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the current, not-yet-complete period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re-archive (pass -RA to dsarch)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re-download even if the file exists locally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periods not yet archived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-IE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skip failures &amp; continue (with -MU)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-QE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the dataset on first error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fork N child processes for parallel records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-CC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carbon-copy email recipients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199632" y="5943600"/>
            <a:ext cx="5532120" cy="384048"/>
          </a:xfrm>
          <a:prstGeom prst="roundRect">
            <a:avLst>
              <a:gd name="adj" fmla="val 14286"/>
            </a:avLst>
          </a:prstGeom>
          <a:solidFill>
            <a:srgbClr val="12212E"/>
          </a:solidFill>
          <a:ln/>
        </p:spPr>
      </p:sp>
      <p:sp>
        <p:nvSpPr>
          <p:cNvPr id="9" name="Text 6"/>
          <p:cNvSpPr/>
          <p:nvPr/>
        </p:nvSpPr>
        <p:spPr>
          <a:xfrm>
            <a:off x="6382512" y="5943600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d337000 -UF -MU -IE -CC schuster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Archiving &amp; Content Metadata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 local file is built,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hands it to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archive onto GDEX, then optionally gathers content metadata so the new data is discoverable.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42316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229514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to GDEX  —  dsarch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508760" y="266090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calls dsarch with the record's action (AS / AW / AQ). -OP appends extra dsarch options; -RA forces re-archiving. This is the step that publishes each file.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508760" y="352958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content metadata  —  gatherxml  (-GX)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508760" y="389534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Optional. When -GX is set in the local record's Options, dsupdt runs gatherxml on the just-archived file to index its variables and spatial / temporal coverage.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461772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892040"/>
            <a:ext cx="548640" cy="54864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892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08760" y="476402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 the search index  —  scm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508760" y="512978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archiving, dsupdt runs the search-metadata command (scm -d DS -r w) to summarize / refresh the dataset's web tables so the new content is searchable.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5897880"/>
            <a:ext cx="11274552" cy="502920"/>
          </a:xfrm>
          <a:prstGeom prst="roundRect">
            <a:avLst>
              <a:gd name="adj" fmla="val 14545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58978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steps are non-fatal: </a:t>
            </a:r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gatherxml or scm failure is reported in the e-mail but never blocks or retries the archive.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Temporal &amp; Generic Patterns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Placeholders in file names, download commands, and descriptions are substituted at update time. Default delimiters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(change with -PD).  By default patterns use the period's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date/hour.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74066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37490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Pattern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&lt;YYYYMM&gt;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4-digit year + 2-digit month → 200710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&lt;YYYY/MM/DD&gt;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path-style date components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&lt;CYYYY.MM.DDC&gt;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 in C … C to use the current date/hour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&lt;BYYYY.MM.DDB&gt;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 in B … B to use the period's begin 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&lt;M*M&gt;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per-fraction id: C=A,B,C  c=a,b,c  N=1,2,3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&lt;HH&gt;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hour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2-digit hour for sub-daily cadence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&lt;P0&gt; &lt;P1&gt;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 values supplied via -GP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092440" y="2103120"/>
            <a:ext cx="3639312" cy="3246120"/>
          </a:xfrm>
          <a:prstGeom prst="roundRect">
            <a:avLst>
              <a:gd name="adj" fmla="val 2817"/>
            </a:avLst>
          </a:prstGeom>
          <a:solidFill>
            <a:srgbClr val="0E1B2E"/>
          </a:solidFill>
          <a:ln/>
        </p:spPr>
      </p:sp>
      <p:sp>
        <p:nvSpPr>
          <p:cNvPr id="7" name="Text 4"/>
          <p:cNvSpPr/>
          <p:nvPr/>
        </p:nvSpPr>
        <p:spPr>
          <a:xfrm>
            <a:off x="8321040" y="2240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321040" y="2697480"/>
            <a:ext cx="32461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uv.&lt;YYYYMM&gt;.bln
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date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2007-10-31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becomes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uv.200710.bln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5486400"/>
            <a:ext cx="11274552" cy="640080"/>
          </a:xfrm>
          <a:prstGeom prst="roundRect">
            <a:avLst>
              <a:gd name="adj" fmla="val 11429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55321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work dir:  </a:t>
            </a:r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server path carries a date the remote name lacks, embed that date in -WD so different dates don't overwrite each other.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 Commands with  '!'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fields are shell commands by design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(-DC / -BC / -CL)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Any value field can also become a command by prefixing it with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'!'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dsupdt runs it and uses the stdout as the value.  Temporal patterns are substituted first.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94560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Command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194560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remote file is fetched from the server (wget, cp, mftp, …).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99632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64224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6364224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-BC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936992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Command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936992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utility that assembles / converts the local file after download.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194560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Command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194560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Post-archive cleanup command for temporary or intermediate files.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99632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64224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2" name="Text 20"/>
          <p:cNvSpPr/>
          <p:nvPr/>
        </p:nvSpPr>
        <p:spPr>
          <a:xfrm>
            <a:off x="6364224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 '!…'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936992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936992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resolved at run time — e.g. pick the newest matching server file.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7" name="Text 25"/>
          <p:cNvSpPr/>
          <p:nvPr/>
        </p:nvSpPr>
        <p:spPr>
          <a:xfrm>
            <a:off x="621792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 '!…'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194560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2194560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the local file name from a script instead of a fixed pattern.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199632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64224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32" name="Text 30"/>
          <p:cNvSpPr/>
          <p:nvPr/>
        </p:nvSpPr>
        <p:spPr>
          <a:xfrm>
            <a:off x="6364224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-DE  '!…'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936992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/ note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936992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 data note dynamically from command output.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457200" y="5212080"/>
            <a:ext cx="11274552" cy="1170432"/>
          </a:xfrm>
          <a:prstGeom prst="roundRect">
            <a:avLst>
              <a:gd name="adj" fmla="val 7813"/>
            </a:avLst>
          </a:prstGeom>
          <a:solidFill>
            <a:srgbClr val="0E1B2E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3492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 —  pick the newest matching file at update time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85800" y="57424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d540000 SR -LI 1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'!ls -t /glade/incoming/&lt;YYYYMM&gt;*.grib | head -1'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Scheduling &amp; Execution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production the whole chain is automated — currently under </a:t>
            </a:r>
            <a:pPr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PBS batch control</a:t>
            </a:r>
            <a:pPr indent="0" marL="0"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304288"/>
            <a:ext cx="3422904" cy="34747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15568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 Record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85800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the schedule — frequency (-FQ), due interval (-DI), next-due time; local records link to it via -CI. A cron / daemon dsupdt run in delayed mode (-BP) records each due command in GDEXDB.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a dscheck record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98392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4383024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3024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2E8B7A"/>
          </a:solidFill>
          <a:ln/>
        </p:spPr>
      </p:sp>
      <p:sp>
        <p:nvSpPr>
          <p:cNvPr id="17" name="Shape 15"/>
          <p:cNvSpPr/>
          <p:nvPr/>
        </p:nvSpPr>
        <p:spPr>
          <a:xfrm>
            <a:off x="4383024" y="2304288"/>
            <a:ext cx="3422904" cy="347472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4565904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4565904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41392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dscheck daemon / cron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4611624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Polls GDEXDB, dispatches each recorded command, and retries on failure — -d [hosts] [retries 1-99]. This is the centralized, automatic launcher.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84192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23" name="Text 21"/>
          <p:cNvSpPr/>
          <p:nvPr/>
        </p:nvSpPr>
        <p:spPr>
          <a:xfrm>
            <a:off x="4712208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the real dsupdt process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824216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8308848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308848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308848" y="2304288"/>
            <a:ext cx="3422904" cy="347472"/>
          </a:xfrm>
          <a:prstGeom prst="rect">
            <a:avLst/>
          </a:prstGeom>
          <a:solidFill>
            <a:srgbClr val="E8963A"/>
          </a:solidFill>
          <a:ln/>
        </p:spPr>
      </p:sp>
      <p:sp>
        <p:nvSpPr>
          <p:cNvPr id="28" name="Shape 26"/>
          <p:cNvSpPr/>
          <p:nvPr/>
        </p:nvSpPr>
        <p:spPr>
          <a:xfrm>
            <a:off x="8491728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8491728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967216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PBS batch job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8537448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dsupdt process currently runs as a PBS batch job — -d PBS with -QS qsub options; -PL forks parallel records for heavy datasets.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510016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33" name="Text 31"/>
          <p:cNvSpPr/>
          <p:nvPr/>
        </p:nvSpPr>
        <p:spPr>
          <a:xfrm>
            <a:off x="8638032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download → build → archive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/ manual: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-UF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yourself — or from a plain cron job on a specific host — for one-off runs, re-archiving, and debugging. No control record or dscheck needed.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 Interval &amp; Multi-Period Updates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099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  Frequency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210312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size of one update period (1D, 6H, 1M, …)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679192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27889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  MultipleUpdate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" y="3182112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every elapsed period, not just the newest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758184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E896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386791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-VI  ValidInterval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" y="4261104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back this far to re-check / re-archive late data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837176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494690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-DI  DueInterval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8368" y="5340096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from period end until data is expected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1600200"/>
            <a:ext cx="5422392" cy="2788920"/>
          </a:xfrm>
          <a:prstGeom prst="roundRect">
            <a:avLst>
              <a:gd name="adj" fmla="val 3279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Re-check window  (VI = 4D, FQ = 1D)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629400" y="2651760"/>
            <a:ext cx="4754880" cy="0"/>
          </a:xfrm>
          <a:prstGeom prst="line">
            <a:avLst/>
          </a:prstGeom>
          <a:noFill/>
          <a:ln w="25400">
            <a:solidFill>
              <a:srgbClr val="5A7A9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2881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1753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1" name="Shape 19"/>
          <p:cNvSpPr/>
          <p:nvPr/>
        </p:nvSpPr>
        <p:spPr>
          <a:xfrm>
            <a:off x="890625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2" name="Shape 20"/>
          <p:cNvSpPr/>
          <p:nvPr/>
        </p:nvSpPr>
        <p:spPr>
          <a:xfrm>
            <a:off x="1009497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3" name="Shape 21"/>
          <p:cNvSpPr/>
          <p:nvPr/>
        </p:nvSpPr>
        <p:spPr>
          <a:xfrm>
            <a:off x="11283696" y="2551176"/>
            <a:ext cx="201168" cy="201168"/>
          </a:xfrm>
          <a:prstGeom prst="ellipse">
            <a:avLst/>
          </a:prstGeom>
          <a:solidFill>
            <a:srgbClr val="9FE0C9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− VI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835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537960" y="32004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period is re-checked. Already-archived periods report “no newer file”; a newer source file triggers 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FE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re-archive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VI = 0 → single period, no newer-file check.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4526280"/>
            <a:ext cx="5422392" cy="1508760"/>
          </a:xfrm>
          <a:prstGeom prst="roundRect">
            <a:avLst>
              <a:gd name="adj" fmla="val 606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37960" y="46451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updates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537960" y="49834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-MR Y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 many-to-one build tolerates missing remotes. If -VI is also set, the update is held open until the files arrive or the window expires.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57200" y="59893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 / -QE / -EC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govern how errors interact with multi-period runs: skip &amp; continue, quit, or normal.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Temporal Intervals Fit Together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advances one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(FQ)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period. A single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 walks every elapsed period inside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Interval (VI)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look-back window, while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Interval (DI)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sets when each period becomes due.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33088" y="2331720"/>
            <a:ext cx="6547104" cy="1417320"/>
          </a:xfrm>
          <a:prstGeom prst="roundRect">
            <a:avLst>
              <a:gd name="adj" fmla="val 5161"/>
            </a:avLst>
          </a:prstGeom>
          <a:solidFill>
            <a:srgbClr val="FBEDDC"/>
          </a:solidFill>
          <a:ln w="15875">
            <a:solidFill>
              <a:srgbClr val="E8963A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270248" y="2395728"/>
            <a:ext cx="6272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— look-back re-check window   (now − VI → now)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05840" y="3246120"/>
            <a:ext cx="9692640" cy="0"/>
          </a:xfrm>
          <a:prstGeom prst="line">
            <a:avLst/>
          </a:prstGeom>
          <a:noFill/>
          <a:ln w="25400">
            <a:solidFill>
              <a:srgbClr val="8AA6B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0" y="2862072"/>
            <a:ext cx="1554480" cy="0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8720" y="2862072"/>
            <a:ext cx="0" cy="201168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0" y="2862072"/>
            <a:ext cx="0" cy="201168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328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 — one period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69848" y="3127248"/>
            <a:ext cx="237744" cy="23774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07-09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624328" y="3127248"/>
            <a:ext cx="237744" cy="23774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5" name="Text 13"/>
          <p:cNvSpPr/>
          <p:nvPr/>
        </p:nvSpPr>
        <p:spPr>
          <a:xfrm>
            <a:off x="21945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07-10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78808" y="3127248"/>
            <a:ext cx="237744" cy="23774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374904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297680" y="2286000"/>
            <a:ext cx="0" cy="1508760"/>
          </a:xfrm>
          <a:prstGeom prst="line">
            <a:avLst/>
          </a:prstGeom>
          <a:noFill/>
          <a:ln w="19050">
            <a:solidFill>
              <a:srgbClr val="1C7293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3474720" y="199339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Date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73328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1" name="Text 19"/>
          <p:cNvSpPr/>
          <p:nvPr/>
        </p:nvSpPr>
        <p:spPr>
          <a:xfrm>
            <a:off x="530352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07-12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28776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07-13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84224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5" name="Text 23"/>
          <p:cNvSpPr/>
          <p:nvPr/>
        </p:nvSpPr>
        <p:spPr>
          <a:xfrm>
            <a:off x="84124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07-14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039672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9669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07-15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0515600" y="2286000"/>
            <a:ext cx="0" cy="1508760"/>
          </a:xfrm>
          <a:prstGeom prst="line">
            <a:avLst/>
          </a:prstGeom>
          <a:noFill/>
          <a:ln w="19050">
            <a:solidFill>
              <a:srgbClr val="12212E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996696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297680" y="3813048"/>
            <a:ext cx="2176272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1" name="Text 29"/>
          <p:cNvSpPr/>
          <p:nvPr/>
        </p:nvSpPr>
        <p:spPr>
          <a:xfrm>
            <a:off x="4160520" y="39044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— next-due = period end + DI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0424160" y="3950208"/>
            <a:ext cx="182880" cy="1828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3" name="Text 31"/>
          <p:cNvSpPr/>
          <p:nvPr/>
        </p:nvSpPr>
        <p:spPr>
          <a:xfrm>
            <a:off x="8458200" y="392277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 — job runs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0643616" y="4041648"/>
            <a:ext cx="1133856" cy="0"/>
          </a:xfrm>
          <a:prstGeom prst="line">
            <a:avLst/>
          </a:prstGeom>
          <a:noFill/>
          <a:ln w="19050">
            <a:solidFill>
              <a:srgbClr val="065A82"/>
            </a:solidFill>
            <a:prstDash val="dash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11804904" y="3959352"/>
            <a:ext cx="164592" cy="164592"/>
          </a:xfrm>
          <a:prstGeom prst="rect">
            <a:avLst/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607040" y="374904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FQ + CO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1201400" y="41330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CT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39" name="Text 37"/>
          <p:cNvSpPr/>
          <p:nvPr/>
        </p:nvSpPr>
        <p:spPr>
          <a:xfrm>
            <a:off x="91440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earlier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3429000" y="4434840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1" name="Text 39"/>
          <p:cNvSpPr/>
          <p:nvPr/>
        </p:nvSpPr>
        <p:spPr>
          <a:xfrm>
            <a:off x="370332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Re-checked — no newer source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6217920" y="4434840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43" name="Text 41"/>
          <p:cNvSpPr/>
          <p:nvPr/>
        </p:nvSpPr>
        <p:spPr>
          <a:xfrm>
            <a:off x="649224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/ re-archived this run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9006840" y="4434840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28116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due (waiting DI)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457200" y="4846320"/>
            <a:ext cx="11274552" cy="749808"/>
          </a:xfrm>
          <a:prstGeom prst="roundRect">
            <a:avLst>
              <a:gd name="adj" fmla="val 9756"/>
            </a:avLst>
          </a:prstGeom>
          <a:solidFill>
            <a:srgbClr val="EEF4F8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8368" y="491032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ControlTime  —  when the job itself runs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658368" y="51937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-CT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sets the scheduled run time (YYYY-MM-DD HH:NN:SS). After a success it advances by control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-CO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offset; a failure retries after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-RI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  e.g.  </a:t>
            </a:r>
            <a:pPr indent="0" marL="0">
              <a:buNone/>
            </a:pPr>
            <a:r>
              <a:rPr lang="en-US" sz="115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d609000 -SU -CT "2026-07-11 09:00:00" -FQ 1D -CO 9H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457200" y="5705856"/>
            <a:ext cx="11274552" cy="548640"/>
          </a:xfrm>
          <a:prstGeom prst="roundRect">
            <a:avLst>
              <a:gd name="adj" fmla="val 13333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5800" y="5705856"/>
            <a:ext cx="10835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run re-checks every period in the VI window: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already-archived periods report “no newer file”, newly available periods are archived, and periods still within DI of now are left for the next run.  </a:t>
            </a:r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= 0 → only the most recent period.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Email Reporting  (-MC / -EMailControl)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97864" y="1755648"/>
            <a:ext cx="731520" cy="73152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6" name="Text 4"/>
          <p:cNvSpPr/>
          <p:nvPr/>
        </p:nvSpPr>
        <p:spPr>
          <a:xfrm>
            <a:off x="1197864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detailed report, always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07208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47872" y="1755648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898648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16936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only, no detail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157216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97880" y="1755648"/>
            <a:ext cx="731520" cy="73152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6" name="Text 14"/>
          <p:cNvSpPr/>
          <p:nvPr/>
        </p:nvSpPr>
        <p:spPr>
          <a:xfrm>
            <a:off x="5897880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248656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66944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report, only on error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507224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47888" y="1755648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1" name="Text 19"/>
          <p:cNvSpPr/>
          <p:nvPr/>
        </p:nvSpPr>
        <p:spPr>
          <a:xfrm>
            <a:off x="8247888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598664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on error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616952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summary, only on error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857232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597896" y="1755648"/>
            <a:ext cx="731520" cy="731520"/>
          </a:xfrm>
          <a:prstGeom prst="ellipse">
            <a:avLst/>
          </a:prstGeom>
          <a:solidFill>
            <a:srgbClr val="5C6E7C"/>
          </a:solidFill>
          <a:ln/>
        </p:spPr>
      </p:sp>
      <p:sp>
        <p:nvSpPr>
          <p:cNvPr id="26" name="Text 24"/>
          <p:cNvSpPr/>
          <p:nvPr/>
        </p:nvSpPr>
        <p:spPr>
          <a:xfrm>
            <a:off x="10597896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966960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email at all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566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sections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57200" y="4023360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4023360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C0392B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402336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377440" y="4023360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errors — survives in every mode; raw failures are prefixed with the failing command / dataset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7200" y="4736592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4736592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065A82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736592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2377440" y="4736592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count + rolled-up “N files ARCHIVED” range lines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57200" y="5449824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7200" y="5449824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1C7293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5449824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2377440" y="5449824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per-file lines; consecutive no-op re-checks collapse into one range line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Related: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(=E),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(=S),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(=N),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-CC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adds carbon-copy recipients.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Mode Options at a Glance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17320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all elapsed periods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42816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34256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4334256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-FU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02936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one update even if not due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28432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19872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8119872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988552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current, not-yet-due period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417320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not-yet-archived periods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242816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34256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22" name="Text 20"/>
          <p:cNvSpPr/>
          <p:nvPr/>
        </p:nvSpPr>
        <p:spPr>
          <a:xfrm>
            <a:off x="4334256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02936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re-archive via dsarch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28432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19872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8119872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988552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re-download existing remote file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417320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re-download if changed on server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242816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334256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4" name="Text 32"/>
          <p:cNvSpPr/>
          <p:nvPr/>
        </p:nvSpPr>
        <p:spPr>
          <a:xfrm>
            <a:off x="4334256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202936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end date/hour from file time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028432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19872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8" name="Text 36"/>
          <p:cNvSpPr/>
          <p:nvPr/>
        </p:nvSpPr>
        <p:spPr>
          <a:xfrm>
            <a:off x="8119872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988552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errors, continue (with -MU)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57200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-QE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417320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quit dataset on first error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242816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334256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46" name="Text 44"/>
          <p:cNvSpPr/>
          <p:nvPr/>
        </p:nvSpPr>
        <p:spPr>
          <a:xfrm>
            <a:off x="4334256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-GZ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202936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GMT as controlling time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8028432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19872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0" name="Text 48"/>
          <p:cNvSpPr/>
          <p:nvPr/>
        </p:nvSpPr>
        <p:spPr>
          <a:xfrm>
            <a:off x="8119872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-NY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8988552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Feb 29 in leap years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457200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4" name="Text 52"/>
          <p:cNvSpPr/>
          <p:nvPr/>
        </p:nvSpPr>
        <p:spPr>
          <a:xfrm>
            <a:off x="548640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-KR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1417320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remote file (copy, not move)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4242816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334256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8" name="Text 56"/>
          <p:cNvSpPr/>
          <p:nvPr/>
        </p:nvSpPr>
        <p:spPr>
          <a:xfrm>
            <a:off x="4334256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-KS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5202936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server file (copy, not move)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8028432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119872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2" name="Text 60"/>
          <p:cNvSpPr/>
          <p:nvPr/>
        </p:nvSpPr>
        <p:spPr>
          <a:xfrm>
            <a:off x="8119872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-UB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8988552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period begin time for patterns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457200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48640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6" name="Text 64"/>
          <p:cNvSpPr/>
          <p:nvPr/>
        </p:nvSpPr>
        <p:spPr>
          <a:xfrm>
            <a:off x="548640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-UT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417320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end/next-due time advance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4242816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34256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70" name="Text 68"/>
          <p:cNvSpPr/>
          <p:nvPr/>
        </p:nvSpPr>
        <p:spPr>
          <a:xfrm>
            <a:off x="4334256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-BG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5202936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background; suppress screen output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8028432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119872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74" name="Text 72"/>
          <p:cNvSpPr/>
          <p:nvPr/>
        </p:nvSpPr>
        <p:spPr>
          <a:xfrm>
            <a:off x="8119872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8988552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 notification email</a:t>
            </a:r>
            <a:endParaRPr lang="en-US" sz="1150" dirty="0"/>
          </a:p>
        </p:txBody>
      </p:sp>
      <p:sp>
        <p:nvSpPr>
          <p:cNvPr id="76" name="Text 74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modes can be preset in the control record via -UC (single letters) and -KF / -MC / -EC.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Environment &amp; Prerequisites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76656" y="177393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⌘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dsarch/dsupdt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operational datasets run under dsupdt/dsarch control; dsupdt hands its local files to dsarch for archiving onto GDEX.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99632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19088" y="177393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19088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14032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$UPDTWKP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14032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for working dirs. If set to /lustre/gdex/work, then $UPDTWKP/zji/icoads resolves under it; if unset, -WD is used as given.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76656" y="3328416"/>
            <a:ext cx="566928" cy="56692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owning specialist may run a record. Use -MD to override, or -LN to run on behalf of another (auto-adds -MD to dsarch).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99632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19088" y="3328416"/>
            <a:ext cx="566928" cy="56692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1" name="Text 19"/>
          <p:cNvSpPr/>
          <p:nvPr/>
        </p:nvSpPr>
        <p:spPr>
          <a:xfrm>
            <a:off x="641908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114032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dNNNNNN.*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14032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files must start with the dataset number and match -DS — a guard against operating on the wrong dataset.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76656" y="488289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∥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371600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-PL parallelism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371600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N child processes, each handling one record, for datasets with many independent, time-consuming updates.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99632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19088" y="488289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1" name="Text 29"/>
          <p:cNvSpPr/>
          <p:nvPr/>
        </p:nvSpPr>
        <p:spPr>
          <a:xfrm>
            <a:off x="6419088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114032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-DB / logs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114032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logging via -DB level [path] [file]; default log path $DSSHOME/dssdb/log, file pgdss.dbg.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Troubleshooting &amp; Recovery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78308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325880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Stuck lock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crashed run may leave PID/host on a record, blocking reprocessing on another host.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13232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-CI 57</a:t>
            </a:r>
            <a:endParaRPr lang="en-US" sz="11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-LI 33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99632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28232" y="178308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6428232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68312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data ready?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73952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 before committing to an update.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55664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 -CA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5800" y="3977640"/>
            <a:ext cx="502920" cy="50292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325880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Re-run a period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 a different date to re-archive or recover a deleted action.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13232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24" name="Text 22"/>
          <p:cNvSpPr/>
          <p:nvPr/>
        </p:nvSpPr>
        <p:spPr>
          <a:xfrm>
            <a:off x="841248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-CD 2026-07-01 -RA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99632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28232" y="3977640"/>
            <a:ext cx="502920" cy="50292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7" name="Text 25"/>
          <p:cNvSpPr/>
          <p:nvPr/>
        </p:nvSpPr>
        <p:spPr>
          <a:xfrm>
            <a:off x="6428232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68312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Retry on failure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473952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records retry automatically after -RI; -EC sets error behavior.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55664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583680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d540000 -SC -CI 5 -RI 12H -EC 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4297680"/>
            <a:ext cx="2743200" cy="274320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01200" y="4663440"/>
            <a:ext cx="2011680" cy="201168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66960" y="5029200"/>
            <a:ext cx="1280160" cy="128016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Config to Archive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5880" y="210312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record types: control (dcupdt), local (dlupdt), remote (drupdt)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2816352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16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25880" y="281635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-UF drives download → build → archive → clean in one command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529584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5295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25880" y="3529584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to a control record; dscheck dispatches, retries, and reports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4242816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2428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25880" y="4242816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patterns, valid interval, parallelism, and email controls per record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" y="5257800"/>
            <a:ext cx="10881360" cy="1005840"/>
          </a:xfrm>
          <a:prstGeom prst="roundRect">
            <a:avLst>
              <a:gd name="adj" fmla="val 9091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525780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more 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full guide: dsupdt.usg   •   docs: gdex-docs-dsupdt.readthedocs.io   •   repo: 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84168" y="320040"/>
            <a:ext cx="4023360" cy="402336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87088" y="822960"/>
            <a:ext cx="3017520" cy="301752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90008" y="1325880"/>
            <a:ext cx="2011680" cy="201168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592928" y="1828800"/>
            <a:ext cx="1005840" cy="100584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" name="Text 4"/>
          <p:cNvSpPr/>
          <p:nvPr/>
        </p:nvSpPr>
        <p:spPr>
          <a:xfrm>
            <a:off x="5592928" y="1828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457200" y="32461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 Questions?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752448" y="5074920"/>
            <a:ext cx="8686800" cy="822960"/>
          </a:xfrm>
          <a:prstGeom prst="roundRect">
            <a:avLst>
              <a:gd name="adj" fmla="val 11111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52448" y="507492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algn="ctr"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dsupdt.usg   •   </a:t>
            </a:r>
            <a:pPr algn="ctr"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2026-07-15T15:27:06Z</dcterms:created>
  <dcterms:modified xsi:type="dcterms:W3CDTF">2026-07-15T15:27:06Z</dcterms:modified>
</cp:coreProperties>
</file>