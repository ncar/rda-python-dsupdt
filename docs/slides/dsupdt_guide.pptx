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365760"/>
            <a:ext cx="3108960" cy="31089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83880" y="45720"/>
            <a:ext cx="2286000" cy="22860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595360" y="457200"/>
            <a:ext cx="1463040" cy="146304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732520" y="822960"/>
            <a:ext cx="822960" cy="82296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8732520" y="8229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40080" y="2148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dsupdt</a:t>
            </a:r>
            <a:endParaRPr lang="en-US" sz="7800" dirty="0"/>
          </a:p>
        </p:txBody>
      </p:sp>
      <p:sp>
        <p:nvSpPr>
          <p:cNvPr id="8" name="Text 6"/>
          <p:cNvSpPr/>
          <p:nvPr/>
        </p:nvSpPr>
        <p:spPr>
          <a:xfrm>
            <a:off x="658368" y="33832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 for the GDEX Servers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→ Build → Archive, scheduled and automated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" y="4892040"/>
            <a:ext cx="231709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4892040"/>
            <a:ext cx="23170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58338" y="4892040"/>
            <a:ext cx="1420978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58338" y="4892040"/>
            <a:ext cx="14209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62195" y="4892040"/>
            <a:ext cx="1600200" cy="457200"/>
          </a:xfrm>
          <a:prstGeom prst="roundRect">
            <a:avLst>
              <a:gd name="adj" fmla="val 20000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62195" y="4892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2026-07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Zaihua Ji</a:t>
            </a:r>
            <a:pPr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zji@ucar.edu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8368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8C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Companion utility to  dsarch  •  orchestrated by the  dscheck  daemon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dsupdt?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dataset updates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it retrieves data from remote servers, assembles archive-ready local files, and hands them to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archiving onto the GDEX Servers.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246120"/>
            <a:ext cx="4846320" cy="2788920"/>
          </a:xfrm>
          <a:prstGeom prst="roundRect">
            <a:avLst>
              <a:gd name="adj" fmla="val 3279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4290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per dataset in GDEXDB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3840480"/>
            <a:ext cx="4434840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</a:t>
            </a:r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/ dsarch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configuration spans three record types.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records from the CLI (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or the web Config Editor (next slide).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an update record (override with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-MD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  <a:pPr indent="0" marL="0">
              <a:lnSpc>
                <a:spcPct val="112000"/>
              </a:lnSpc>
              <a:buNone/>
            </a:pP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be named 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guard against the wrong dataset.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71500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16168" y="17282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591616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62940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controls, local &amp; remote file records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5087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208008" y="17282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17282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21240" y="17099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921240" y="21122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/ fetch server files to a working area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71500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916168" y="33284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18"/>
          <p:cNvSpPr/>
          <p:nvPr/>
        </p:nvSpPr>
        <p:spPr>
          <a:xfrm>
            <a:off x="591616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62940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Build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62940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specialist routines, tar &amp; compress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31089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208008" y="33284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20800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9921240" y="33101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9921240" y="37124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 → GDEX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1500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5916168" y="492861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91616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662940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62940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files after success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006840" y="4709160"/>
            <a:ext cx="30632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08008" y="492861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9208008" y="49286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9921240" y="491032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9921240" y="5312664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Five-Stage Update Pipeline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02920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79576" y="22677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1179576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4360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files on the remote server or a local area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514600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2816352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93008" y="2267712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3493008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907792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53512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staged in the working directory (-WD)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828032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5129784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806440" y="22677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8" name="Text 16"/>
          <p:cNvSpPr/>
          <p:nvPr/>
        </p:nvSpPr>
        <p:spPr>
          <a:xfrm>
            <a:off x="5806440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221224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266944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validated, converted, tarred / compressed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7141464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443216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19872" y="22677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4" name="Text 22"/>
          <p:cNvSpPr/>
          <p:nvPr/>
        </p:nvSpPr>
        <p:spPr>
          <a:xfrm>
            <a:off x="8119872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7534656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580376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action AS / AW / AQ applied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54896" y="2011680"/>
            <a:ext cx="283464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756648" y="2011680"/>
            <a:ext cx="1993392" cy="2286000"/>
          </a:xfrm>
          <a:prstGeom prst="roundRect">
            <a:avLst>
              <a:gd name="adj" fmla="val 4587"/>
            </a:avLst>
          </a:prstGeom>
          <a:solidFill>
            <a:srgbClr val="0E1B2E"/>
          </a:solidFill>
          <a:ln w="25400">
            <a:solidFill>
              <a:srgbClr val="0E1B2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433304" y="2267712"/>
            <a:ext cx="640080" cy="640080"/>
          </a:xfrm>
          <a:prstGeom prst="ellipse">
            <a:avLst/>
          </a:prstGeom>
          <a:solidFill>
            <a:srgbClr val="0E1B2E"/>
          </a:solidFill>
          <a:ln/>
        </p:spPr>
      </p:sp>
      <p:sp>
        <p:nvSpPr>
          <p:cNvPr id="30" name="Text 28"/>
          <p:cNvSpPr/>
          <p:nvPr/>
        </p:nvSpPr>
        <p:spPr>
          <a:xfrm>
            <a:off x="10433304" y="22677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400" dirty="0"/>
          </a:p>
        </p:txBody>
      </p:sp>
      <p:sp>
        <p:nvSpPr>
          <p:cNvPr id="31" name="Text 29"/>
          <p:cNvSpPr/>
          <p:nvPr/>
        </p:nvSpPr>
        <p:spPr>
          <a:xfrm>
            <a:off x="9848088" y="2999232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GDEX Servers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9893808" y="3474720"/>
            <a:ext cx="1719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&amp; discoverable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4892040"/>
            <a:ext cx="11201400" cy="1234440"/>
          </a:xfrm>
          <a:prstGeom prst="roundRect">
            <a:avLst>
              <a:gd name="adj" fmla="val 7407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31520" y="513892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5" name="Text 33"/>
          <p:cNvSpPr/>
          <p:nvPr/>
        </p:nvSpPr>
        <p:spPr>
          <a:xfrm>
            <a:off x="731520" y="513892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1645920" y="507492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runs the whole chain. 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 (-UpdateFile)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performs all stages end-to-end. The individual steps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 you drive each stage separately.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Record Types in GDEXDB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065A8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3611880" cy="50292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-SC / -GC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when updates run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offset, retry, valid interval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&amp; error controls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Launched by the dscheck daemon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25112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325112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1C7293"/>
          </a:solidFill>
          <a:ln/>
        </p:spPr>
      </p:sp>
      <p:sp>
        <p:nvSpPr>
          <p:cNvPr id="12" name="Shape 10"/>
          <p:cNvSpPr/>
          <p:nvPr/>
        </p:nvSpPr>
        <p:spPr>
          <a:xfrm>
            <a:off x="4325112" y="2103120"/>
            <a:ext cx="3611880" cy="502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4553712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53712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-SL / -GL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9432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config for an update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 name &amp; dsarch action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build / clean commands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next end date/hour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193024" y="1554480"/>
            <a:ext cx="3611880" cy="4114800"/>
          </a:xfrm>
          <a:prstGeom prst="roundRect">
            <a:avLst>
              <a:gd name="adj" fmla="val 2532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193024" y="1554480"/>
            <a:ext cx="3611880" cy="1051560"/>
          </a:xfrm>
          <a:prstGeom prst="roundRect">
            <a:avLst>
              <a:gd name="adj" fmla="val 8696"/>
            </a:avLst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8193024" y="2103120"/>
            <a:ext cx="3611880" cy="502920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9" name="Text 17"/>
          <p:cNvSpPr/>
          <p:nvPr/>
        </p:nvSpPr>
        <p:spPr>
          <a:xfrm>
            <a:off x="8421624" y="1682496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421624" y="212140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F2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-SR / -GR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467344" y="2834640"/>
            <a:ext cx="3108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remote ≠ local name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remotes → one local file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file &amp; download order</a:t>
            </a:r>
            <a:endParaRPr lang="en-US" sz="1350" dirty="0"/>
          </a:p>
          <a:p>
            <a:pPr marL="177800" indent="-177800">
              <a:lnSpc>
                <a:spcPct val="105000"/>
              </a:lnSpc>
              <a:buSzPct val="100000"/>
              <a:buChar char="•"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interval for sub-periods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→ edit → Set: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(-GetAll)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dumps all three sections;  </a:t>
            </a:r>
            <a:pPr algn="ctr" indent="0" marL="0">
              <a:buNone/>
            </a:pPr>
            <a:r>
              <a:rPr lang="en-US" sz="13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-SA (-SetAll)</a:t>
            </a:r>
            <a:pPr algn="ctr" indent="0" marL="0">
              <a:buNone/>
            </a:pPr>
            <a:r>
              <a:rPr lang="en-US" sz="13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applies an edited file back to GDEXDB.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Command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47120" cy="868680"/>
          </a:xfrm>
          <a:prstGeom prst="roundRect">
            <a:avLst>
              <a:gd name="adj" fmla="val 8421"/>
            </a:avLst>
          </a:prstGeom>
          <a:solidFill>
            <a:srgbClr val="0E1B2E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buNone/>
            </a:pPr>
            <a:r>
              <a:rPr lang="en-US" sz="2200" dirty="0">
                <a:solidFill>
                  <a:srgbClr val="8FB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[-DS dNNNNNN] </a:t>
            </a:r>
            <a:pPr indent="0" marL="0">
              <a:buNone/>
            </a:pPr>
            <a:r>
              <a:rPr lang="en-US" sz="2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&lt;Action&gt; </a:t>
            </a:r>
            <a:pPr indent="0" marL="0">
              <a:buNone/>
            </a:pPr>
            <a:r>
              <a:rPr lang="en-US" sz="2200" b="1" dirty="0">
                <a:solidFill>
                  <a:srgbClr val="7FD1B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[Mode…] </a:t>
            </a:r>
            <a:pPr indent="0" marL="0">
              <a:buNone/>
            </a:pPr>
            <a:r>
              <a:rPr lang="en-US" sz="2200" b="1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[Info…]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C64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Action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2651760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E8963A"/>
          </a:solidFill>
          <a:ln/>
        </p:spPr>
      </p:sp>
      <p:sp>
        <p:nvSpPr>
          <p:cNvPr id="9" name="Text 7"/>
          <p:cNvSpPr/>
          <p:nvPr/>
        </p:nvSpPr>
        <p:spPr>
          <a:xfrm>
            <a:off x="2651760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run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the task. Takes no value. E.g. -UF, -GC, -SL, -AF. Some actions imply others.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325112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81144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5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519672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2E8B7A"/>
          </a:solidFill>
          <a:ln/>
        </p:spPr>
      </p:sp>
      <p:sp>
        <p:nvSpPr>
          <p:cNvPr id="14" name="Text 12"/>
          <p:cNvSpPr/>
          <p:nvPr/>
        </p:nvSpPr>
        <p:spPr>
          <a:xfrm>
            <a:off x="6519672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or more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581144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Modifies behavior; takes no value. E.g. -MU, -FU, -RA, -NE, -GZ.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93024" y="26974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49056" y="2898648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4A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387584" y="2926080"/>
            <a:ext cx="1188720" cy="384048"/>
          </a:xfrm>
          <a:prstGeom prst="roundRect">
            <a:avLst>
              <a:gd name="adj" fmla="val 19048"/>
            </a:avLst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10387584" y="29260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Carries data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449056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Supplies values: dataset, indices, dates, file names, commands. E.g. -CI, -ED, -LF.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507492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138928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&amp; filters 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(A|B)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short|long form  •  option names are case-insensitive, values are not  •  Get-style filters accept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 &lt; &gt; &lt;&gt;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 the first  </a:t>
            </a:r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may omit its option name.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Start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2011680"/>
            <a:ext cx="384048" cy="38404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 single option's help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28016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141732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-UF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554480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473952" y="2011680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73952" y="1984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040880" y="1737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update control records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040880" y="2121408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15" name="Text 13"/>
          <p:cNvSpPr/>
          <p:nvPr/>
        </p:nvSpPr>
        <p:spPr>
          <a:xfrm>
            <a:off x="7178040" y="212140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d540000 -GC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13232" y="3511296"/>
            <a:ext cx="384048" cy="38404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/>
          <p:nvPr/>
        </p:nvSpPr>
        <p:spPr>
          <a:xfrm>
            <a:off x="71323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local file records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128016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1" name="Text 19"/>
          <p:cNvSpPr/>
          <p:nvPr/>
        </p:nvSpPr>
        <p:spPr>
          <a:xfrm>
            <a:off x="141732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d540000 -GL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3054096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3511296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6473952" y="3483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7040880" y="323697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download–build–archive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040880" y="3621024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27" name="Text 25"/>
          <p:cNvSpPr/>
          <p:nvPr/>
        </p:nvSpPr>
        <p:spPr>
          <a:xfrm>
            <a:off x="7178040" y="362102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13232" y="5010912"/>
            <a:ext cx="384048" cy="38404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30" name="Text 28"/>
          <p:cNvSpPr/>
          <p:nvPr/>
        </p:nvSpPr>
        <p:spPr>
          <a:xfrm>
            <a:off x="71323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28016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28016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3" name="Text 31"/>
          <p:cNvSpPr/>
          <p:nvPr/>
        </p:nvSpPr>
        <p:spPr>
          <a:xfrm>
            <a:off x="141732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-MU -IE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6217920" y="4553712"/>
            <a:ext cx="5486400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3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473952" y="5010912"/>
            <a:ext cx="384048" cy="38404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7040880" y="4736592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remote-file availability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7040880" y="5120640"/>
            <a:ext cx="4434840" cy="502920"/>
          </a:xfrm>
          <a:prstGeom prst="roundRect">
            <a:avLst>
              <a:gd name="adj" fmla="val 9091"/>
            </a:avLst>
          </a:prstGeom>
          <a:solidFill>
            <a:srgbClr val="0E1B2E"/>
          </a:solidFill>
          <a:ln/>
        </p:spPr>
      </p:sp>
      <p:sp>
        <p:nvSpPr>
          <p:cNvPr id="39" name="Text 37"/>
          <p:cNvSpPr/>
          <p:nvPr/>
        </p:nvSpPr>
        <p:spPr>
          <a:xfrm>
            <a:off x="7178040" y="51206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Tip:  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with no arguments to page the full guide through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Omit  </a:t>
            </a:r>
            <a:pPr algn="ctr" indent="0" marL="0">
              <a:buNone/>
            </a:pPr>
            <a:r>
              <a:rPr lang="en-US" sz="13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-DS</a:t>
            </a:r>
            <a:pPr algn="ctr"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on Get actions to list records across all of your datasets.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 Workflow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10512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463040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d277000 -GA -OF d277000.all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13232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Dump all control/local/remote records to a file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023360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25112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E896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81144" y="1810512"/>
            <a:ext cx="640080" cy="64008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4" name="Text 12"/>
          <p:cNvSpPr/>
          <p:nvPr/>
        </p:nvSpPr>
        <p:spPr>
          <a:xfrm>
            <a:off x="4581144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330952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896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EDIT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4553712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4672584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 d277000.all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1144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values; sections [DCUPDT] [DLUPDT] [DRUPDT]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891272" y="2103120"/>
            <a:ext cx="3474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8193024" y="1554480"/>
            <a:ext cx="3611880" cy="2331720"/>
          </a:xfrm>
          <a:prstGeom prst="roundRect">
            <a:avLst>
              <a:gd name="adj" fmla="val 3922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449056" y="1810512"/>
            <a:ext cx="640080" cy="64008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2" name="Text 20"/>
          <p:cNvSpPr/>
          <p:nvPr/>
        </p:nvSpPr>
        <p:spPr>
          <a:xfrm>
            <a:off x="8449056" y="181051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182880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E8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8421624" y="2606040"/>
            <a:ext cx="3154680" cy="566928"/>
          </a:xfrm>
          <a:prstGeom prst="roundRect">
            <a:avLst>
              <a:gd name="adj" fmla="val 8065"/>
            </a:avLst>
          </a:prstGeom>
          <a:solidFill>
            <a:srgbClr val="0E1B2E"/>
          </a:solidFill>
          <a:ln/>
        </p:spPr>
      </p:sp>
      <p:sp>
        <p:nvSpPr>
          <p:cNvPr id="25" name="Text 23"/>
          <p:cNvSpPr/>
          <p:nvPr/>
        </p:nvSpPr>
        <p:spPr>
          <a:xfrm>
            <a:off x="8540496" y="2606040"/>
            <a:ext cx="29535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d277000 -SA -IF d277000.all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49056" y="324612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edited file back to GDEXDB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4160520"/>
            <a:ext cx="112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 (-IF) format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2960" y="47091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114800" y="470916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line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822960" y="4983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Dataset&lt;=&gt;d277000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114800" y="498348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single-value assignment  ( -ES sets '&lt;=&gt;' )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22960" y="5257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SC&lt;!&gt;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114800" y="525780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/ Mode marker  ( -AO sets '&lt;!&gt;' )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22960" y="55321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col1&lt;:&gt;col2&lt;:&gt;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4114800" y="553212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header row  ( -DV sets '&lt;:&gt;' )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22960" y="5806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dNNNNNN.*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114800" y="5806440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 must start with the dataset number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 Config Editor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three record types can be edited in a browser — no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-GA / -SA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Get/Edit/Set round-trip. Open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RDAMS PostgreSQL Configuration Editor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expand the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menu.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502920"/>
          </a:xfrm>
          <a:prstGeom prst="roundRect">
            <a:avLst>
              <a:gd name="adj" fmla="val 10909"/>
            </a:avLst>
          </a:prstGeom>
          <a:solidFill>
            <a:srgbClr val="0E1B2E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21488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gdex.ucar.edu/rda_pg_config</a:t>
            </a:r>
            <a:pPr indent="0" marL="0">
              <a:buNone/>
            </a:pPr>
            <a:r>
              <a:rPr lang="en-US" sz="1300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›  DSUPDT  ›  Update Control | Local File | Remote File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065A8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3273552"/>
            <a:ext cx="3611880" cy="201168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dsupdt_control.php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dcupdt • -SC / -GC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85800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frequency, next-due, actions, e-mail &amp; error controls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25112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25112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16" name="Shape 14"/>
          <p:cNvSpPr/>
          <p:nvPr/>
        </p:nvSpPr>
        <p:spPr>
          <a:xfrm>
            <a:off x="4325112" y="3273552"/>
            <a:ext cx="3611880" cy="201168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553712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dsupdt_localfile.php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53712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dlupdt • -SL / -GL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53712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names, patterns, build / convert commands, archive action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93024" y="2926080"/>
            <a:ext cx="3611880" cy="2148840"/>
          </a:xfrm>
          <a:prstGeom prst="roundRect">
            <a:avLst>
              <a:gd name="adj" fmla="val 4255"/>
            </a:avLst>
          </a:prstGeom>
          <a:solidFill>
            <a:srgbClr val="EEF4F8"/>
          </a:solidFill>
          <a:ln w="25400">
            <a:solidFill>
              <a:srgbClr val="2E8B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93024" y="2926080"/>
            <a:ext cx="3611880" cy="548640"/>
          </a:xfrm>
          <a:prstGeom prst="roundRect">
            <a:avLst>
              <a:gd name="adj" fmla="val 16667"/>
            </a:avLst>
          </a:prstGeom>
          <a:solidFill>
            <a:srgbClr val="2E8B7A"/>
          </a:solidFill>
          <a:ln/>
        </p:spPr>
      </p:sp>
      <p:sp>
        <p:nvSpPr>
          <p:cNvPr id="23" name="Shape 21"/>
          <p:cNvSpPr/>
          <p:nvPr/>
        </p:nvSpPr>
        <p:spPr>
          <a:xfrm>
            <a:off x="8193024" y="3273552"/>
            <a:ext cx="3611880" cy="201168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24" name="Text 22"/>
          <p:cNvSpPr/>
          <p:nvPr/>
        </p:nvSpPr>
        <p:spPr>
          <a:xfrm>
            <a:off x="8394192" y="2926080"/>
            <a:ext cx="32095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8421624" y="362102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dsupdt_remotefile.php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21624" y="393192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drupdt • -SR / -GR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421624" y="4279392"/>
            <a:ext cx="3154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&amp; server names, download command &amp; order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✎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Split-pane editor: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dataset &amp; record on top, edit fields below. A record is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while open; add, edit, save, or delete, then release. Writes go straight to GDEXDB — identical to the CLI.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DCUPDT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  (-SC)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Schedules automatic actions launched by </a:t>
            </a:r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dscheck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New record: index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-NC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Existing index is modified in place.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377440"/>
                <a:gridCol w="7891272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dsupdt task: UF, DR, BL, PB, CL, CU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often, e.g. 1W, 1M, 6H, 1M/3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ControlOffset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delay after period end, e.g. 2D10H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scheduled run  YYYY-MM-DD HH:NN:SS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 before retry after a failure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long remote files stay valid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ParentIndex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 only after parent control completes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-UC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UpdateControl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preset modes: B C E F G M N O Y Z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/ S / E / B / N report level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ErrorControl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ignore / Q quit / N 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-KF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/ R / B / N which files to keep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-HN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restrict/allow processing hosts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DLUPDT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File Record  (-SL)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configuration to update a file. Link to a control via </a:t>
            </a:r>
            <a:pPr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its scheduled action runs automatically.  New: </a:t>
            </a:r>
            <a:pPr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 0 + -NL</a:t>
            </a:r>
            <a:pPr indent="0" marL="0"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-LF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name, may embed temporal patterns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-AN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dsarch action: AS, AW, AQ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-OP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options string passed to dsarch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fetch/copy/generate the file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-FQ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cadence, e.g. 1M, 1W, 6H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end date of next update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-EH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EndHour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 (sub-daily cadence)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920240"/>
          <a:ext cx="553212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1691640"/>
                <a:gridCol w="2971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DueInterval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→ ready lead 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-VI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ValidInterval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re-check / hold-open window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-AT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AgeTime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 remote-file age to fetch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-WD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WorkDir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staging dir (root $UPDTWKP)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-PR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ProcessRemote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validate/convert cmd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-BC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BuildCommand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 build cmd (vs tar)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C729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-CL</a:t>
                      </a:r>
                      <a:endParaRPr lang="en-US" sz="11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CleanCommand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temp files after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4892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 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-LF / -RF / -DC / -DE (default delimiters </a:t>
            </a:r>
            <a:pPr algn="ctr" indent="0" marL="0">
              <a:buNone/>
            </a:pPr>
            <a:r>
              <a:rPr lang="en-US" sz="12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are substituted at update time, e.g. </a:t>
            </a:r>
            <a:pPr algn="ctr" indent="0" marL="0"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file.&lt;YYYYMM&gt;.ext → file.200710.ext</a:t>
            </a:r>
            <a:pPr algn="ctr" indent="0" marL="0"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 • DRUPDT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File Record  (-SR)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remote record only in these three cases: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76656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7" name="Text 5"/>
          <p:cNvSpPr/>
          <p:nvPr/>
        </p:nvSpPr>
        <p:spPr>
          <a:xfrm>
            <a:off x="676656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389888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name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89888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 name differs from the local file name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5112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44568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4544568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257800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→ one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57800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remote files are tarred into one local file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93024" y="1874520"/>
            <a:ext cx="3611880" cy="1417320"/>
          </a:xfrm>
          <a:prstGeom prst="roundRect">
            <a:avLst>
              <a:gd name="adj" fmla="val 6452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2480" y="2276856"/>
            <a:ext cx="603504" cy="60350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0" y="22768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125712" y="20574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servers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25712" y="24414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available from several servers (-DO order)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1127455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286000"/>
                <a:gridCol w="798271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Opt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8B7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-LI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LocalIndex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record this remote belongs to (required)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name(s); join many with '::' ; '!' = shell cmd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-SF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ServerFile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 on server if different from remote 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-DC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overrides the local record's command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-DO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DownloadOrder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try lowest index first, then ascending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-TI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TimeInterval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name per sub-period, e.g. 6H, 5D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-BT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start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E8B7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-ET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C6E7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 end (with -TI)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Update Action Family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E8963A"/>
          </a:solidFill>
          <a:ln w="127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-UF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File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F0E4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end-to-end: download → build → archive → clean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10128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93008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-DR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493008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Remote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493008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fetch/copy/generate remote files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63056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345936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345936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Local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345936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validate, convert, tar/compress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015984" y="155448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98864" y="16916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-PB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98864" y="20574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Both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9198864" y="237744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+ build in one step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080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-AF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40080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File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0080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local files to dsarch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10128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3493008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-CF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3493008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File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3493008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temporary working files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63056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345936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-CU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6345936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Update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345936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9015984" y="3108960"/>
            <a:ext cx="27432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9198864" y="32461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9198864" y="36118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Unlock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9198864" y="3931920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locks from aborted runs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4892040"/>
            <a:ext cx="11274552" cy="1188720"/>
          </a:xfrm>
          <a:prstGeom prst="roundRect">
            <a:avLst>
              <a:gd name="adj" fmla="val 7692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0292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bundles the four steps. 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Stepping manually is useful for debugging or re-running a single stage. All actions accept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-CI / -LI / -LF / -XO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target records, and 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 / -EH / -CD / -CH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override dates at run time.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ACTIONS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-UF Deep Dive: One Command, Full Cycle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486400" cy="4480560"/>
          </a:xfrm>
          <a:prstGeom prst="roundRect">
            <a:avLst>
              <a:gd name="adj" fmla="val 204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due local file record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49377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/ copy the server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&amp; convert (-PR) into a remote file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local file (tar / compress or -BC)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via dsarch using the record's action</a:t>
            </a:r>
            <a:endParaRPr lang="en-US" sz="1400" dirty="0"/>
          </a:p>
          <a:p>
            <a:pPr marL="254000" indent="-254000">
              <a:lnSpc>
                <a:spcPct val="110000"/>
              </a:lnSpc>
              <a:spcAft>
                <a:spcPts val="900"/>
              </a:spcAft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temporary files (-CL)</a:t>
            </a:r>
            <a:endParaRPr lang="en-US" sz="1400" dirty="0"/>
          </a:p>
          <a:p>
            <a:pPr marL="254000" indent="-254000">
              <a:lnSpc>
                <a:spcPct val="110000"/>
              </a:lnSpc>
              <a:buSzPct val="100000"/>
              <a:buFont typeface="+mj-lt"/>
              <a:buAutoNum type="arabicPeriod" startAt="1"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data end date/hour &amp; next-due times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554480"/>
          <a:ext cx="5532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160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Mode/Info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96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process every elapsed period (else newest only)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-FU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force at least one update even if not due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-CP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allow the current, not-yet-complete period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-RA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re-archive (pass -RA to dsarch)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-RD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re-download even if the file exists locally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-MO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periods not yet archived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-IE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skip failures &amp; continue (with -MU)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-QE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stop the dataset on first error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-PL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fork N child processes for parallel records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9C641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-CC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carbon-copy email recipients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199632" y="5943600"/>
            <a:ext cx="5532120" cy="384048"/>
          </a:xfrm>
          <a:prstGeom prst="roundRect">
            <a:avLst>
              <a:gd name="adj" fmla="val 14286"/>
            </a:avLst>
          </a:prstGeom>
          <a:solidFill>
            <a:srgbClr val="12212E"/>
          </a:solidFill>
          <a:ln/>
        </p:spPr>
      </p:sp>
      <p:sp>
        <p:nvSpPr>
          <p:cNvPr id="9" name="Text 6"/>
          <p:cNvSpPr/>
          <p:nvPr/>
        </p:nvSpPr>
        <p:spPr>
          <a:xfrm>
            <a:off x="6382512" y="594360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d337000 -UF -MU -IE -CC schuster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Archiving &amp; Content Metadata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local file is built,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hands it to </a:t>
            </a:r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dsarch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archive onto GDEX, then optionally gathers content metadata so the new data is discoverable.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2423160"/>
            <a:ext cx="548640" cy="54864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423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☁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229514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 to GDEX  —  dsarch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508760" y="266090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calls dsarch with the record's action (AS / AW / AQ). -OP appends extra dsarch options; -RA forces re-archiving. This is the step that publishes each file.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657600"/>
            <a:ext cx="548640" cy="54864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657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352958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content metadata  —  gatherxml  (-GX)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508760" y="389534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Optional. When -GX is set in the local record's Options, dsupdt runs gatherxml on the just-archived file to index its variables and spatial / temporal coverage.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4617720"/>
            <a:ext cx="11274552" cy="1097280"/>
          </a:xfrm>
          <a:prstGeom prst="roundRect">
            <a:avLst>
              <a:gd name="adj" fmla="val 666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892040"/>
            <a:ext cx="548640" cy="5486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892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764024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Refresh the search index  —  scm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508760" y="5129784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archiving, dsupdt runs the search-metadata command (scm -d DS -r w) to summarize / refresh the dataset's web tables so the new content is searchable.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5897880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589788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steps are non-fatal: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gatherxml or scm failure is reported in the e-mail but never blocks or retries the archive.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Temporal &amp; Generic Patterns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Placeholders in file names, download commands, and descriptions are substituted at update time. Default delimiters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 &gt;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(change with -PD).  By default patterns use the period's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date/hour.</a:t>
            </a:r>
            <a:endParaRPr lang="en-US" sz="14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74066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374904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Pattern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&lt;YYYYMM&gt;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4-digit year + 2-digit month → 200710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&lt;YYYY/MM/DD&gt;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path-style date components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&lt;CYYYY.MM.DDC&gt;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C … C to use the current date/hour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&lt;BYYYY.MM.DDB&gt;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 in B … B to use the period's begin 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&lt;M*M&gt;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per-fraction id: C=A,B,C  c=a,b,c  N=1,2,3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&lt;HH&gt;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hour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2-digit hour for sub-daily cadence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8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65A82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&lt;P0&gt; &lt;P1&gt;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C72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221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values supplied via -GP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0" marB="0" anchor="ctr">
                    <a:lnL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092440" y="2103120"/>
            <a:ext cx="3639312" cy="3246120"/>
          </a:xfrm>
          <a:prstGeom prst="roundRect">
            <a:avLst>
              <a:gd name="adj" fmla="val 2817"/>
            </a:avLst>
          </a:prstGeom>
          <a:solidFill>
            <a:srgbClr val="0E1B2E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2240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321040" y="2697480"/>
            <a:ext cx="3246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uv.&lt;YYYYMM&gt;.bln
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 date </a:t>
            </a:r>
            <a:pPr indent="0" marL="0">
              <a:lnSpc>
                <a:spcPct val="10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2007-10-31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becomes
</a:t>
            </a:r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uv.200710.bln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5486400"/>
            <a:ext cx="11274552" cy="640080"/>
          </a:xfrm>
          <a:prstGeom prst="roundRect">
            <a:avLst>
              <a:gd name="adj" fmla="val 11429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work dir:  </a:t>
            </a:r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server path carries a date the remote name lacks, embed that date in -WD so different dates don't overwrite each other.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Commands with  '!'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fields are shell commands by design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(-DC / -BC / -CL)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Any value field can also become a command by prefixing it with </a:t>
            </a:r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'!'</a:t>
            </a:r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dsupdt runs it and uses the stdout as the value.  Temporal patterns are substituted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21792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194560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Command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194560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each remote file is fetched from the server (wget, cp, mftp, …).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99632" y="2331720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64224" y="2505456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2" name="Text 10"/>
          <p:cNvSpPr/>
          <p:nvPr/>
        </p:nvSpPr>
        <p:spPr>
          <a:xfrm>
            <a:off x="6364224" y="2505456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-BC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36992" y="2441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Command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36992" y="2715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utility that assembles / converts the local file after download.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194560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Command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2194560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Post-archive cleanup command for temporary or intermediate files.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3255264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64224" y="3429000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2" name="Text 20"/>
          <p:cNvSpPr/>
          <p:nvPr/>
        </p:nvSpPr>
        <p:spPr>
          <a:xfrm>
            <a:off x="6364224" y="3429000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 '!…'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936992" y="336499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File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936992" y="36393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resolved at run time — e.g. pick the newest matching server file.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57200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1792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-LF  '!…'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2194560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File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2194560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the local file name from a script instead of a fixed pattern.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199632" y="4178808"/>
            <a:ext cx="5532120" cy="786384"/>
          </a:xfrm>
          <a:prstGeom prst="roundRect">
            <a:avLst>
              <a:gd name="adj" fmla="val 9302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64224" y="4352544"/>
            <a:ext cx="1417320" cy="438912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32" name="Text 30"/>
          <p:cNvSpPr/>
          <p:nvPr/>
        </p:nvSpPr>
        <p:spPr>
          <a:xfrm>
            <a:off x="6364224" y="4352544"/>
            <a:ext cx="1417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-DE  '!…'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936992" y="42885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/ note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7936992" y="456285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 data note dynamically from command output.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57200" y="5212080"/>
            <a:ext cx="11274552" cy="1170432"/>
          </a:xfrm>
          <a:prstGeom prst="roundRect">
            <a:avLst>
              <a:gd name="adj" fmla="val 7813"/>
            </a:avLst>
          </a:prstGeom>
          <a:solidFill>
            <a:srgbClr val="0E1B2E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 —  pick the newest matching file at update time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85800" y="57424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d540000 SR -LI 1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C4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-RF </a:t>
            </a:r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'!ls -t /glade/incoming/&lt;YYYYMM&gt;*.grib | head -1'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Scheduling &amp; Execution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production the whole chain is automated — currently under </a:t>
            </a:r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PBS batch control</a:t>
            </a:r>
            <a:pPr indent="0" marL="0">
              <a:buNone/>
            </a:pPr>
            <a:r>
              <a:rPr lang="en-US" sz="15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2304288"/>
            <a:ext cx="3422904" cy="347472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15568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Control Record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85800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Holds the schedule — frequency (-FQ), due interval (-DI), next-due time; local records link to it via -CI. A cron / daemon dsupdt run in delayed mode (-BP) records each due command in GDEXDB.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13" name="Text 11"/>
          <p:cNvSpPr/>
          <p:nvPr/>
        </p:nvSpPr>
        <p:spPr>
          <a:xfrm>
            <a:off x="786384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a dscheck record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98392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4383024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383024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2E8B7A"/>
          </a:solidFill>
          <a:ln/>
        </p:spPr>
      </p:sp>
      <p:sp>
        <p:nvSpPr>
          <p:cNvPr id="17" name="Shape 15"/>
          <p:cNvSpPr/>
          <p:nvPr/>
        </p:nvSpPr>
        <p:spPr>
          <a:xfrm>
            <a:off x="4383024" y="2304288"/>
            <a:ext cx="3422904" cy="347472"/>
          </a:xfrm>
          <a:prstGeom prst="rect">
            <a:avLst/>
          </a:prstGeom>
          <a:solidFill>
            <a:srgbClr val="2E8B7A"/>
          </a:solidFill>
          <a:ln/>
        </p:spPr>
      </p:sp>
      <p:sp>
        <p:nvSpPr>
          <p:cNvPr id="18" name="Shape 16"/>
          <p:cNvSpPr/>
          <p:nvPr/>
        </p:nvSpPr>
        <p:spPr>
          <a:xfrm>
            <a:off x="4565904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65904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41392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dscheck daemon / cron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4611624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Polls GDEXDB, dispatches each recorded command, and retries on failure — -d [hosts] [retries 1-99]. This is the centralized, automatic launcher.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84192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23" name="Text 21"/>
          <p:cNvSpPr/>
          <p:nvPr/>
        </p:nvSpPr>
        <p:spPr>
          <a:xfrm>
            <a:off x="4712208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2E8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the real dsupdt process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824216" y="3017520"/>
            <a:ext cx="4663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25" name="Shape 23"/>
          <p:cNvSpPr/>
          <p:nvPr/>
        </p:nvSpPr>
        <p:spPr>
          <a:xfrm>
            <a:off x="8308848" y="1920240"/>
            <a:ext cx="3422904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76200" dist="25400" dir="5400000">
              <a:srgbClr val="9FB6C6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308848" y="1920240"/>
            <a:ext cx="3422904" cy="731520"/>
          </a:xfrm>
          <a:prstGeom prst="roundRect">
            <a:avLst>
              <a:gd name="adj" fmla="val 12500"/>
            </a:avLst>
          </a:prstGeom>
          <a:solidFill>
            <a:srgbClr val="E896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308848" y="2304288"/>
            <a:ext cx="3422904" cy="347472"/>
          </a:xfrm>
          <a:prstGeom prst="rect">
            <a:avLst/>
          </a:prstGeom>
          <a:solidFill>
            <a:srgbClr val="E8963A"/>
          </a:solidFill>
          <a:ln/>
        </p:spPr>
      </p:sp>
      <p:sp>
        <p:nvSpPr>
          <p:cNvPr id="28" name="Shape 26"/>
          <p:cNvSpPr/>
          <p:nvPr/>
        </p:nvSpPr>
        <p:spPr>
          <a:xfrm>
            <a:off x="8491728" y="2084832"/>
            <a:ext cx="402336" cy="40233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8491728" y="20848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967216" y="1965960"/>
            <a:ext cx="25999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PBS batch job</a:t>
            </a:r>
            <a:endParaRPr lang="en-US" sz="1550" dirty="0"/>
          </a:p>
        </p:txBody>
      </p:sp>
      <p:sp>
        <p:nvSpPr>
          <p:cNvPr id="31" name="Text 29"/>
          <p:cNvSpPr/>
          <p:nvPr/>
        </p:nvSpPr>
        <p:spPr>
          <a:xfrm>
            <a:off x="8537448" y="2788920"/>
            <a:ext cx="296570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dsupdt process currently runs as a PBS batch job — -d PBS with -QS qsub options; -PL forks parallel records for heavy datasets.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8510016" y="4462272"/>
            <a:ext cx="3020568" cy="502920"/>
          </a:xfrm>
          <a:prstGeom prst="roundRect">
            <a:avLst>
              <a:gd name="adj" fmla="val 9091"/>
            </a:avLst>
          </a:prstGeom>
          <a:solidFill>
            <a:srgbClr val="E3EEF3"/>
          </a:solidFill>
          <a:ln/>
        </p:spPr>
      </p:sp>
      <p:sp>
        <p:nvSpPr>
          <p:cNvPr id="33" name="Text 31"/>
          <p:cNvSpPr/>
          <p:nvPr/>
        </p:nvSpPr>
        <p:spPr>
          <a:xfrm>
            <a:off x="8638032" y="4462272"/>
            <a:ext cx="2874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pPr indent="0" marL="0">
              <a:buNone/>
            </a:pPr>
            <a:r>
              <a:rPr lang="en-US" sz="12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download → build → archive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394960"/>
            <a:ext cx="11274552" cy="822960"/>
          </a:xfrm>
          <a:prstGeom prst="roundRect">
            <a:avLst>
              <a:gd name="adj" fmla="val 11111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85800" y="562356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685800" y="5623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1280160" y="5394960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/ manual: 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</a:t>
            </a:r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221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-UF</a:t>
            </a:r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yourself — or from a plain cron job on a specific host — for one-off runs, re-archiving, and debugging. No control record or dscheck needed.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 Interval &amp; Multi-Period Updates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09928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  Frequency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of one update period (1D, 6H, 1M, …)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9192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2E8B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7889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  MultipleUpdate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58368" y="3182112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every elapsed period, not just the newest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758184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E896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86791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-VI  ValidInterval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4261104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back this far to re-check / re-archive late data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837176"/>
            <a:ext cx="5577840" cy="960120"/>
          </a:xfrm>
          <a:prstGeom prst="roundRect">
            <a:avLst>
              <a:gd name="adj" fmla="val 7619"/>
            </a:avLst>
          </a:prstGeom>
          <a:solidFill>
            <a:srgbClr val="EEF4F8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946904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-DI  DueInterval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58368" y="5340096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time from period end until data is expected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09360" y="1600200"/>
            <a:ext cx="5422392" cy="2788920"/>
          </a:xfrm>
          <a:prstGeom prst="roundRect">
            <a:avLst>
              <a:gd name="adj" fmla="val 3279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 window  (VI = 4D, FQ = 1D)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29400" y="2651760"/>
            <a:ext cx="4754880" cy="0"/>
          </a:xfrm>
          <a:prstGeom prst="line">
            <a:avLst/>
          </a:prstGeom>
          <a:noFill/>
          <a:ln w="25400">
            <a:solidFill>
              <a:srgbClr val="5A7A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2881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1753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1" name="Shape 19"/>
          <p:cNvSpPr/>
          <p:nvPr/>
        </p:nvSpPr>
        <p:spPr>
          <a:xfrm>
            <a:off x="890625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94976" y="2551176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83696" y="2551176"/>
            <a:ext cx="201168" cy="201168"/>
          </a:xfrm>
          <a:prstGeom prst="ellipse">
            <a:avLst/>
          </a:prstGeom>
          <a:solidFill>
            <a:srgbClr val="9FE0C9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− VI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835640" y="28346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37960" y="320040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period is re-checked. Already-archived periods report “no newer file”; a newer source file triggers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9FE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re-archive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D8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VI = 0 → single period, no newer-file check.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309360" y="4526280"/>
            <a:ext cx="5422392" cy="1508760"/>
          </a:xfrm>
          <a:prstGeom prst="roundRect">
            <a:avLst>
              <a:gd name="adj" fmla="val 6061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4645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updates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537960" y="498348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With -MR Y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many-to-one build tolerates missing remotes. If -VI is also set, the update is held open until the files arrive or the window expires.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59893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8963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 / -QE / -EC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govern how errors interact with multi-period runs: skip &amp; continue, quit, or normal.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Temporal Intervals Fit Together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advances one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(FQ)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period. A single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2E8B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 walks every elapsed period inside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Interval (VI)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look-back window, while the </a:t>
            </a:r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Interval (DI)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when each period becomes due.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33088" y="2331720"/>
            <a:ext cx="6547104" cy="1417320"/>
          </a:xfrm>
          <a:prstGeom prst="roundRect">
            <a:avLst>
              <a:gd name="adj" fmla="val 5161"/>
            </a:avLst>
          </a:prstGeom>
          <a:solidFill>
            <a:srgbClr val="FBEDDC"/>
          </a:solidFill>
          <a:ln w="15875">
            <a:solidFill>
              <a:srgbClr val="E8963A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4270248" y="2395728"/>
            <a:ext cx="6272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— look-back re-check window   (now − VI → now)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05840" y="3246120"/>
            <a:ext cx="9692640" cy="0"/>
          </a:xfrm>
          <a:prstGeom prst="line">
            <a:avLst/>
          </a:prstGeom>
          <a:noFill/>
          <a:ln w="25400">
            <a:solidFill>
              <a:srgbClr val="8AA6B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2862072"/>
            <a:ext cx="1554480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872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0" y="2862072"/>
            <a:ext cx="0" cy="201168"/>
          </a:xfrm>
          <a:prstGeom prst="line">
            <a:avLst/>
          </a:prstGeom>
          <a:noFill/>
          <a:ln w="1905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25328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FQ — one period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6984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07-09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624328" y="3127248"/>
            <a:ext cx="237744" cy="237744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15" name="Text 13"/>
          <p:cNvSpPr/>
          <p:nvPr/>
        </p:nvSpPr>
        <p:spPr>
          <a:xfrm>
            <a:off x="21945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74904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07-11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97680" y="2286000"/>
            <a:ext cx="0" cy="1508760"/>
          </a:xfrm>
          <a:prstGeom prst="line">
            <a:avLst/>
          </a:prstGeom>
          <a:noFill/>
          <a:ln w="19050">
            <a:solidFill>
              <a:srgbClr val="1C7293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9933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Date (GMT)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7880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C7293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3538728" y="3127248"/>
            <a:ext cx="237744" cy="23774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Shape 19"/>
          <p:cNvSpPr/>
          <p:nvPr/>
        </p:nvSpPr>
        <p:spPr>
          <a:xfrm>
            <a:off x="3794760" y="3246120"/>
            <a:ext cx="36576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  <a:headEnd type="triangle"/>
          </a:ln>
        </p:spPr>
      </p:sp>
      <p:sp>
        <p:nvSpPr>
          <p:cNvPr id="22" name="Text 20"/>
          <p:cNvSpPr/>
          <p:nvPr/>
        </p:nvSpPr>
        <p:spPr>
          <a:xfrm>
            <a:off x="3063240" y="291693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GMT → Denver (−6h)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73328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4" name="Text 22"/>
          <p:cNvSpPr/>
          <p:nvPr/>
        </p:nvSpPr>
        <p:spPr>
          <a:xfrm>
            <a:off x="530352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287768" y="3127248"/>
            <a:ext cx="237744" cy="237744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6" name="Text 24"/>
          <p:cNvSpPr/>
          <p:nvPr/>
        </p:nvSpPr>
        <p:spPr>
          <a:xfrm>
            <a:off x="685800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07-13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884224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07-14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0396728" y="3127248"/>
            <a:ext cx="237744" cy="237744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966960" y="34472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07-15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0515600" y="2286000"/>
            <a:ext cx="0" cy="1508760"/>
          </a:xfrm>
          <a:prstGeom prst="line">
            <a:avLst/>
          </a:prstGeom>
          <a:noFill/>
          <a:ln w="19050">
            <a:solidFill>
              <a:srgbClr val="12212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9966960" y="19933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339328" y="2286000"/>
            <a:ext cx="0" cy="1508760"/>
          </a:xfrm>
          <a:prstGeom prst="line">
            <a:avLst/>
          </a:prstGeom>
          <a:noFill/>
          <a:ln w="15875">
            <a:solidFill>
              <a:srgbClr val="5C6E7C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7196328" y="184708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cutoff</a:t>
            </a:r>
            <a:endParaRPr lang="en-US" sz="105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(now − DI)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297680" y="3813048"/>
            <a:ext cx="2176272" cy="0"/>
          </a:xfrm>
          <a:prstGeom prst="line">
            <a:avLst/>
          </a:prstGeom>
          <a:noFill/>
          <a:ln w="22225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4160520" y="39044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— next-due = period end + DI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0424160" y="3950208"/>
            <a:ext cx="182880" cy="18288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8" name="Text 36"/>
          <p:cNvSpPr/>
          <p:nvPr/>
        </p:nvSpPr>
        <p:spPr>
          <a:xfrm>
            <a:off x="8458200" y="392277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 — job runs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458200" y="4142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period start + CO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10643616" y="4041648"/>
            <a:ext cx="1133856" cy="0"/>
          </a:xfrm>
          <a:prstGeom prst="line">
            <a:avLst/>
          </a:prstGeom>
          <a:noFill/>
          <a:ln w="19050">
            <a:solidFill>
              <a:srgbClr val="065A82"/>
            </a:solidFill>
            <a:prstDash val="dash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11804904" y="3959352"/>
            <a:ext cx="164592" cy="164592"/>
          </a:xfrm>
          <a:prstGeom prst="rect">
            <a:avLst/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607040" y="374904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FQ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11201400" y="4133088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CT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45" name="Text 43"/>
          <p:cNvSpPr/>
          <p:nvPr/>
        </p:nvSpPr>
        <p:spPr>
          <a:xfrm>
            <a:off x="91440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earlier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3429000" y="4434840"/>
            <a:ext cx="201168" cy="20116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7" name="Text 45"/>
          <p:cNvSpPr/>
          <p:nvPr/>
        </p:nvSpPr>
        <p:spPr>
          <a:xfrm>
            <a:off x="370332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Re-checked — no newer source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6217920" y="4434840"/>
            <a:ext cx="201168" cy="20116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49" name="Text 47"/>
          <p:cNvSpPr/>
          <p:nvPr/>
        </p:nvSpPr>
        <p:spPr>
          <a:xfrm>
            <a:off x="649224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 / re-archived this run</a:t>
            </a:r>
            <a:endParaRPr lang="en-US" sz="1150" dirty="0"/>
          </a:p>
        </p:txBody>
      </p:sp>
      <p:sp>
        <p:nvSpPr>
          <p:cNvPr id="50" name="Shape 48"/>
          <p:cNvSpPr/>
          <p:nvPr/>
        </p:nvSpPr>
        <p:spPr>
          <a:xfrm>
            <a:off x="9006840" y="4434840"/>
            <a:ext cx="201168" cy="20116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281160" y="4379976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due (waiting DI)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4773168"/>
            <a:ext cx="11274552" cy="932688"/>
          </a:xfrm>
          <a:prstGeom prst="roundRect">
            <a:avLst>
              <a:gd name="adj" fmla="val 7843"/>
            </a:avLst>
          </a:prstGeom>
          <a:solidFill>
            <a:srgbClr val="EEF4F8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8368" y="4828032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ControlTime  —  when the job itself runs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658368" y="510235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sets the run time (YYYY-MM-DD HH:NN:SS). Each success steps it by one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-FQ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(Next CT = CT + FQ);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-CO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only offsets the run from the period start (daily → day start + CO), so it cancels in the step. Failure retries after </a:t>
            </a:r>
            <a:pPr indent="0" marL="0">
              <a:buNone/>
            </a:pPr>
            <a:r>
              <a:rPr lang="en-US" sz="115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-RI</a:t>
            </a:r>
            <a:pPr indent="0" marL="0"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  e.g.  </a:t>
            </a:r>
            <a:pPr indent="0" marL="0">
              <a:buNone/>
            </a:pPr>
            <a:r>
              <a:rPr lang="en-US" sz="1150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d609000 -SU -CT "2026-07-11 09:00:00" -FQ 1D -CO 9H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658368" y="53949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zones:  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end date/hour (End Date,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-ED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-EH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is server time (GMT), while </a:t>
            </a:r>
            <a:pPr indent="0" marL="0">
              <a:buNone/>
            </a:pPr>
            <a:r>
              <a:rPr lang="en-US" sz="1100" b="1" dirty="0">
                <a:solidFill>
                  <a:srgbClr val="B57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-CT</a:t>
            </a:r>
            <a:pPr indent="0" marL="0">
              <a:buNone/>
            </a:pPr>
            <a:r>
              <a:rPr lang="en-US" sz="11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local time the job runs (Denver, MDT = GMT−6h in summer) — don’t mix the two.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457200" y="5833872"/>
            <a:ext cx="11274552" cy="502920"/>
          </a:xfrm>
          <a:prstGeom prst="roundRect">
            <a:avLst>
              <a:gd name="adj" fmla="val 14545"/>
            </a:avLst>
          </a:prstGeom>
          <a:solidFill>
            <a:srgbClr val="E3EEF3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85800" y="5833872"/>
            <a:ext cx="10835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run re-checks every period in the VI window: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already-archived periods report “no newer file”, newly available periods are archived, and periods still within DI of now are left for the next run.  </a:t>
            </a:r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= 0 → only the most recent period.</a:t>
            </a:r>
            <a:endParaRPr lang="en-US" sz="1150" dirty="0"/>
          </a:p>
        </p:txBody>
      </p:sp>
      <p:sp>
        <p:nvSpPr>
          <p:cNvPr id="58" name="Text 56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Email Reporting  (-MC / -EMailControl)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197864" y="1755648"/>
            <a:ext cx="731520" cy="7315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48640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detailed report, always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755648"/>
            <a:ext cx="731520" cy="7315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98648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16936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only, no detail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157216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97880" y="1755648"/>
            <a:ext cx="731520" cy="7315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5897880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248656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266944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report, only on error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507224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47888" y="1755648"/>
            <a:ext cx="731520" cy="7315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8247888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598664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on error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616952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summary, only on error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857232" y="1554480"/>
            <a:ext cx="221284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25400">
            <a:solidFill>
              <a:srgbClr val="5C6E7C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597896" y="1755648"/>
            <a:ext cx="731520" cy="731520"/>
          </a:xfrm>
          <a:prstGeom prst="ellipse">
            <a:avLst/>
          </a:prstGeom>
          <a:solidFill>
            <a:srgbClr val="5C6E7C"/>
          </a:solidFill>
          <a:ln/>
        </p:spPr>
      </p:sp>
      <p:sp>
        <p:nvSpPr>
          <p:cNvPr id="26" name="Text 24"/>
          <p:cNvSpPr/>
          <p:nvPr/>
        </p:nvSpPr>
        <p:spPr>
          <a:xfrm>
            <a:off x="10597896" y="1755648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25146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966960" y="2852928"/>
            <a:ext cx="1993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email at all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566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sections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457200" y="4023360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57200" y="4023360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C0392B"/>
          </a:solidFill>
          <a:ln/>
        </p:spPr>
      </p:sp>
      <p:sp>
        <p:nvSpPr>
          <p:cNvPr id="32" name="Text 30"/>
          <p:cNvSpPr/>
          <p:nvPr/>
        </p:nvSpPr>
        <p:spPr>
          <a:xfrm>
            <a:off x="457200" y="4023360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377440" y="4023360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errors — survives in every mode; raw failures are prefixed with the failing command / dataset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4736592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57200" y="4736592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065A82"/>
          </a:solidFill>
          <a:ln/>
        </p:spPr>
      </p:sp>
      <p:sp>
        <p:nvSpPr>
          <p:cNvPr id="36" name="Text 34"/>
          <p:cNvSpPr/>
          <p:nvPr/>
        </p:nvSpPr>
        <p:spPr>
          <a:xfrm>
            <a:off x="457200" y="4736592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2377440" y="4736592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headline count + rolled-up “N files ARCHIVED” range lines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57200" y="5449824"/>
            <a:ext cx="11274552" cy="621792"/>
          </a:xfrm>
          <a:prstGeom prst="roundRect">
            <a:avLst>
              <a:gd name="adj" fmla="val 8824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57200" y="5449824"/>
            <a:ext cx="1737360" cy="621792"/>
          </a:xfrm>
          <a:prstGeom prst="roundRect">
            <a:avLst>
              <a:gd name="adj" fmla="val 8824"/>
            </a:avLst>
          </a:prstGeom>
          <a:solidFill>
            <a:srgbClr val="1C7293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5449824"/>
            <a:ext cx="1737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2377440" y="5449824"/>
            <a:ext cx="9189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per-file lines; consecutive no-op re-checks collapse into one range line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Related: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-EE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(=E),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(=S),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(=N),  </a:t>
            </a:r>
            <a:pPr algn="ctr" indent="0" marL="0">
              <a:buNone/>
            </a:pPr>
            <a:r>
              <a:rPr lang="en-US" sz="1150" b="1" dirty="0">
                <a:solidFill>
                  <a:srgbClr val="5C6E7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-CC</a:t>
            </a:r>
            <a:pPr algn="ctr" indent="0" marL="0"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adds carbon-copy recipients.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Mode Options at a Glance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-MU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417320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all elapsed periods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42816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34256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4334256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-FU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202936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one update even if not due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028432" y="160020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19872" y="171907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8119872" y="171907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988552" y="160020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 current, not-yet-due period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57200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8640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-MO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417320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not-yet-archived periods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242816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34256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4334256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02936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re-archive via dsarch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028432" y="2276856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19872" y="2395728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8119872" y="239572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-RD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988552" y="22768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existing remote file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7200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-CN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417320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re-download if changed on server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242816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334256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4" name="Text 32"/>
          <p:cNvSpPr/>
          <p:nvPr/>
        </p:nvSpPr>
        <p:spPr>
          <a:xfrm>
            <a:off x="4334256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-RE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202936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end date/hour from file time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028432" y="2953512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19872" y="3072384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38" name="Text 36"/>
          <p:cNvSpPr/>
          <p:nvPr/>
        </p:nvSpPr>
        <p:spPr>
          <a:xfrm>
            <a:off x="8119872" y="3072384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-IE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988552" y="295351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errors, continue (with -MU)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457200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48640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-QE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417320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quit dataset on first error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242816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334256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46" name="Text 44"/>
          <p:cNvSpPr/>
          <p:nvPr/>
        </p:nvSpPr>
        <p:spPr>
          <a:xfrm>
            <a:off x="4334256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-GZ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202936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GMT as controlling time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8028432" y="3630168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19872" y="3749040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0" name="Text 48"/>
          <p:cNvSpPr/>
          <p:nvPr/>
        </p:nvSpPr>
        <p:spPr>
          <a:xfrm>
            <a:off x="8119872" y="3749040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-NY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8988552" y="363016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Feb 29 in leap years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457200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48640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4" name="Text 52"/>
          <p:cNvSpPr/>
          <p:nvPr/>
        </p:nvSpPr>
        <p:spPr>
          <a:xfrm>
            <a:off x="548640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-KR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1417320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remote file (copy, not move)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4242816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334256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58" name="Text 56"/>
          <p:cNvSpPr/>
          <p:nvPr/>
        </p:nvSpPr>
        <p:spPr>
          <a:xfrm>
            <a:off x="4334256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-KS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202936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server file (copy, not move)</a:t>
            </a:r>
            <a:endParaRPr lang="en-US" sz="1150" dirty="0"/>
          </a:p>
        </p:txBody>
      </p:sp>
      <p:sp>
        <p:nvSpPr>
          <p:cNvPr id="60" name="Shape 58"/>
          <p:cNvSpPr/>
          <p:nvPr/>
        </p:nvSpPr>
        <p:spPr>
          <a:xfrm>
            <a:off x="8028432" y="4306824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EEF4F8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19872" y="4425696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2" name="Text 60"/>
          <p:cNvSpPr/>
          <p:nvPr/>
        </p:nvSpPr>
        <p:spPr>
          <a:xfrm>
            <a:off x="8119872" y="4425696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-UB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8988552" y="43068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period begin time for patterns</a:t>
            </a:r>
            <a:endParaRPr lang="en-US" sz="1150" dirty="0"/>
          </a:p>
        </p:txBody>
      </p:sp>
      <p:sp>
        <p:nvSpPr>
          <p:cNvPr id="64" name="Shape 62"/>
          <p:cNvSpPr/>
          <p:nvPr/>
        </p:nvSpPr>
        <p:spPr>
          <a:xfrm>
            <a:off x="457200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48640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66" name="Text 64"/>
          <p:cNvSpPr/>
          <p:nvPr/>
        </p:nvSpPr>
        <p:spPr>
          <a:xfrm>
            <a:off x="548640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-UT</a:t>
            </a:r>
            <a:endParaRPr lang="en-US" sz="1200" dirty="0"/>
          </a:p>
        </p:txBody>
      </p:sp>
      <p:sp>
        <p:nvSpPr>
          <p:cNvPr id="67" name="Text 65"/>
          <p:cNvSpPr/>
          <p:nvPr/>
        </p:nvSpPr>
        <p:spPr>
          <a:xfrm>
            <a:off x="1417320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end/next-due time advance</a:t>
            </a:r>
            <a:endParaRPr lang="en-US" sz="1150" dirty="0"/>
          </a:p>
        </p:txBody>
      </p:sp>
      <p:sp>
        <p:nvSpPr>
          <p:cNvPr id="68" name="Shape 66"/>
          <p:cNvSpPr/>
          <p:nvPr/>
        </p:nvSpPr>
        <p:spPr>
          <a:xfrm>
            <a:off x="4242816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4334256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0" name="Text 68"/>
          <p:cNvSpPr/>
          <p:nvPr/>
        </p:nvSpPr>
        <p:spPr>
          <a:xfrm>
            <a:off x="4334256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-BG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5202936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background; suppress screen output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8028432" y="4983480"/>
            <a:ext cx="370332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119872" y="5102352"/>
            <a:ext cx="777240" cy="329184"/>
          </a:xfrm>
          <a:prstGeom prst="roundRect">
            <a:avLst>
              <a:gd name="adj" fmla="val 13889"/>
            </a:avLst>
          </a:prstGeom>
          <a:solidFill>
            <a:srgbClr val="065A82"/>
          </a:solidFill>
          <a:ln/>
        </p:spPr>
      </p:sp>
      <p:sp>
        <p:nvSpPr>
          <p:cNvPr id="74" name="Text 72"/>
          <p:cNvSpPr/>
          <p:nvPr/>
        </p:nvSpPr>
        <p:spPr>
          <a:xfrm>
            <a:off x="8119872" y="5102352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-NE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988552" y="49834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 notification email</a:t>
            </a:r>
            <a:endParaRPr lang="en-US" sz="1150" dirty="0"/>
          </a:p>
        </p:txBody>
      </p:sp>
      <p:sp>
        <p:nvSpPr>
          <p:cNvPr id="76" name="Text 74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modes can be preset in the control record via -UC (single letters) and -KF / -MC / -EC.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78" name="Text 76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CONFIGURATION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 &amp; Prerequisites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77393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⌘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71600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dsarch/dsupdt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operational datasets run under dsupdt/dsarch control; dsupdt hands its local files to dsarch for archiving onto GDEX.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99632" y="155448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19088" y="177393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19088" y="17739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114032" y="173736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$UPDTWKP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114032" y="212140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for working dirs. If set to /lustre/gdex/work, then $UPDTWKP/zji/icoads resolves under it; if unset, -WD is used as given.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76656" y="3328416"/>
            <a:ext cx="566928" cy="566928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71600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owning specialist may run a record. Use -MD to override, or -LN to run on behalf of another (auto-adds -MD to dsarch).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99632" y="310896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19088" y="3328416"/>
            <a:ext cx="566928" cy="566928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1" name="Text 19"/>
          <p:cNvSpPr/>
          <p:nvPr/>
        </p:nvSpPr>
        <p:spPr>
          <a:xfrm>
            <a:off x="6419088" y="332841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114032" y="329184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dNNNNNN.*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114032" y="367588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files must start with the dataset number and match -DS — a guard against operating on the wrong dataset.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76656" y="4882896"/>
            <a:ext cx="566928" cy="566928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6" name="Text 24"/>
          <p:cNvSpPr/>
          <p:nvPr/>
        </p:nvSpPr>
        <p:spPr>
          <a:xfrm>
            <a:off x="676656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∥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71600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-PL parallelism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71600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Fork N child processes, each handling one record, for datasets with many independent, time-consuming updates.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4663440"/>
            <a:ext cx="55321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CBDCE6"/>
            </a:solidFill>
            <a:prstDash val="solid"/>
          </a:ln>
          <a:effectLst>
            <a:outerShdw sx="100000" sy="100000" kx="0" ky="0" algn="bl" rotWithShape="0" blurRad="50800" dist="25400" dir="5400000">
              <a:srgbClr val="9FB6C6">
                <a:alpha val="2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419088" y="488289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6419088" y="48828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114032" y="4846320"/>
            <a:ext cx="4434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1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-DB / logs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14032" y="5230368"/>
            <a:ext cx="4434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 logging via -DB level [path] [file]; default log path $DSSHOME/dssdb/log, file pgdss.dbg.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658368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Troubleshooting &amp; Recovery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065A82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78308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325880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Stuck lock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crashed run may leave PID/host on a record, blocking reprocessing on another host.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13232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0" name="Text 8"/>
          <p:cNvSpPr/>
          <p:nvPr/>
        </p:nvSpPr>
        <p:spPr>
          <a:xfrm>
            <a:off x="841248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-CI 57</a:t>
            </a:r>
            <a:endParaRPr lang="en-US" sz="11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-UL -LI 33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99632" y="155448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428232" y="1783080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428232" y="1783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068312" y="175564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data ready?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73952" y="233172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remote-file availability before committing to an update.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55664" y="274320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274320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d540000 -CU -CA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E8963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85800" y="3977640"/>
            <a:ext cx="502920" cy="50292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20" name="Text 18"/>
          <p:cNvSpPr/>
          <p:nvPr/>
        </p:nvSpPr>
        <p:spPr>
          <a:xfrm>
            <a:off x="685800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325880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 a period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 a different date to re-archive or recover a deleted action.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13232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24" name="Text 22"/>
          <p:cNvSpPr/>
          <p:nvPr/>
        </p:nvSpPr>
        <p:spPr>
          <a:xfrm>
            <a:off x="841248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d540000 -UF -CD 2026-07-01 -RA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99632" y="3749040"/>
            <a:ext cx="553212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25400">
            <a:solidFill>
              <a:srgbClr val="2E8B7A"/>
            </a:solidFill>
            <a:prstDash val="solid"/>
          </a:ln>
          <a:effectLst>
            <a:outerShdw sx="100000" sy="100000" kx="0" ky="0" algn="bl" rotWithShape="0" blurRad="63500" dist="25400" dir="5400000">
              <a:srgbClr val="9FB6C6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428232" y="3977640"/>
            <a:ext cx="502920" cy="502920"/>
          </a:xfrm>
          <a:prstGeom prst="ellipse">
            <a:avLst/>
          </a:prstGeom>
          <a:solidFill>
            <a:srgbClr val="2E8B7A"/>
          </a:solidFill>
          <a:ln/>
        </p:spPr>
      </p:sp>
      <p:sp>
        <p:nvSpPr>
          <p:cNvPr id="27" name="Text 25"/>
          <p:cNvSpPr/>
          <p:nvPr/>
        </p:nvSpPr>
        <p:spPr>
          <a:xfrm>
            <a:off x="6428232" y="3977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068312" y="3950208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221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Retry on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73952" y="45262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records retry automatically after -RI; -EC sets error behavior.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55664" y="4937760"/>
            <a:ext cx="5020056" cy="621792"/>
          </a:xfrm>
          <a:prstGeom prst="roundRect">
            <a:avLst>
              <a:gd name="adj" fmla="val 7353"/>
            </a:avLst>
          </a:prstGeom>
          <a:solidFill>
            <a:srgbClr val="0E1B2E"/>
          </a:solidFill>
          <a:ln/>
        </p:spPr>
      </p:sp>
      <p:sp>
        <p:nvSpPr>
          <p:cNvPr id="31" name="Text 29"/>
          <p:cNvSpPr/>
          <p:nvPr/>
        </p:nvSpPr>
        <p:spPr>
          <a:xfrm>
            <a:off x="6583680" y="4937760"/>
            <a:ext cx="4800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d540000 -SC -CI 5 -RI 12H -EC 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dsupdt  •  Developer &amp; General Usage Guide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1368735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E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4297680"/>
            <a:ext cx="2743200" cy="274320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01200" y="4663440"/>
            <a:ext cx="2011680" cy="201168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66960" y="5029200"/>
            <a:ext cx="1280160" cy="128016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Config to Archive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640080" y="2103120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210312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record types: control (dcupdt), local (dlupdt), remote (drupdt)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2816352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8163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25880" y="2816352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-UF drives download → build → archive → clean in one command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3529584"/>
            <a:ext cx="502920" cy="50292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5295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25880" y="3529584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to a control record; dscheck dispatches, retries, and reports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242816"/>
            <a:ext cx="502920" cy="50292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2428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25880" y="4242816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 </a:t>
            </a:r>
            <a:pPr indent="0" marL="0">
              <a:buNone/>
            </a:pPr>
            <a:r>
              <a:rPr lang="en-US" sz="1500" dirty="0">
                <a:solidFill>
                  <a:srgbClr val="9F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patterns, valid interval, parallelism, and email controls per record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0080" y="525780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25780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E896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more  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full guide: dsupdt.usg   •   docs: gdex-docs-dsupdt.readthedocs.io   •   repo: 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84168" y="320040"/>
            <a:ext cx="4023360" cy="402336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87088" y="822960"/>
            <a:ext cx="3017520" cy="3017520"/>
          </a:xfrm>
          <a:prstGeom prst="ellipse">
            <a:avLst/>
          </a:prstGeom>
          <a:ln w="12700">
            <a:solidFill>
              <a:srgbClr val="1C3A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090008" y="1325880"/>
            <a:ext cx="2011680" cy="2011680"/>
          </a:xfrm>
          <a:prstGeom prst="ellipse">
            <a:avLst/>
          </a:prstGeom>
          <a:ln w="25400">
            <a:solidFill>
              <a:srgbClr val="E8963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92928" y="1828800"/>
            <a:ext cx="1005840" cy="1005840"/>
          </a:xfrm>
          <a:prstGeom prst="ellipse">
            <a:avLst/>
          </a:prstGeom>
          <a:solidFill>
            <a:srgbClr val="E8963A"/>
          </a:solidFill>
          <a:ln/>
        </p:spPr>
      </p:sp>
      <p:sp>
        <p:nvSpPr>
          <p:cNvPr id="6" name="Text 4"/>
          <p:cNvSpPr/>
          <p:nvPr/>
        </p:nvSpPr>
        <p:spPr>
          <a:xfrm>
            <a:off x="5592928" y="182880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E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457200" y="3246120"/>
            <a:ext cx="112745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Questions?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57200" y="416052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752448" y="5074920"/>
            <a:ext cx="8686800" cy="822960"/>
          </a:xfrm>
          <a:prstGeom prst="roundRect">
            <a:avLst>
              <a:gd name="adj" fmla="val 11111"/>
            </a:avLst>
          </a:prstGeom>
          <a:solidFill>
            <a:srgbClr val="16273D"/>
          </a:solidFill>
          <a:ln w="12700">
            <a:solidFill>
              <a:srgbClr val="2A42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52448" y="507492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FE0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dsupdt -h &lt;OPT&gt;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dsupdt.usg   •   </a:t>
            </a:r>
            <a:pPr algn="ctr" indent="0" marL="0">
              <a:buNone/>
            </a:pPr>
            <a:r>
              <a:rPr lang="en-US" sz="1300" dirty="0">
                <a:solidFill>
                  <a:srgbClr val="8FB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github.com/NCAR/rda-python-dsupdt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2026-07-15T16:11:27Z</dcterms:created>
  <dcterms:modified xsi:type="dcterms:W3CDTF">2026-07-15T16:11:27Z</dcterms:modified>
</cp:coreProperties>
</file>