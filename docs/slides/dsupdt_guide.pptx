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hyperlink" Target="https://pypi.org/project/rda-python-dsupdt" TargetMode="External"/><Relationship Id="rId3" Type="http://schemas.openxmlformats.org/officeDocument/2006/relationships/hyperlink" Target="https://gdex-docs-dsupdt.readthedocs.io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dex-docs-dsupdt.readthedocs.io" TargetMode="External"/><Relationship Id="rId2" Type="http://schemas.openxmlformats.org/officeDocument/2006/relationships/hyperlink" Target="https://github.com/NCAR/rda-python-dsupd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NCAR/rda-python-dsupd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1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A8C7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A8C700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99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IT &amp; LEARN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&amp; Resources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691640"/>
            <a:ext cx="3602736" cy="128016"/>
          </a:xfrm>
          <a:prstGeom prst="rect">
            <a:avLst/>
          </a:prstGeom>
          <a:solidFill>
            <a:srgbClr val="1A658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075688"/>
            <a:ext cx="566928" cy="566928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⌥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 Repository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 code, issues, and contributions.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2169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NCAR/rda-python-dsupdt.git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3054096" cy="0"/>
          </a:xfrm>
          <a:prstGeom prst="line">
            <a:avLst/>
          </a:prstGeom>
          <a:noFill/>
          <a:ln w="12700">
            <a:solidFill>
              <a:srgbClr val="C3D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297680" y="1691640"/>
            <a:ext cx="3602736" cy="128016"/>
          </a:xfrm>
          <a:prstGeom prst="rect">
            <a:avLst/>
          </a:prstGeom>
          <a:solidFill>
            <a:srgbClr val="00797C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0" y="2075688"/>
            <a:ext cx="566928" cy="566928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5780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PyPI Package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 the released package with pip.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0" y="3703320"/>
            <a:ext cx="3054096" cy="749808"/>
          </a:xfrm>
          <a:prstGeom prst="roundRect">
            <a:avLst>
              <a:gd name="adj" fmla="val 6098"/>
            </a:avLst>
          </a:prstGeom>
          <a:solidFill>
            <a:srgbClr val="012169"/>
          </a:solidFill>
          <a:ln/>
        </p:spPr>
      </p:sp>
      <p:sp>
        <p:nvSpPr>
          <p:cNvPr id="21" name="Text 19"/>
          <p:cNvSpPr/>
          <p:nvPr/>
        </p:nvSpPr>
        <p:spPr>
          <a:xfrm>
            <a:off x="4700016" y="370332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rda_python_dsupdt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0" y="4800600"/>
            <a:ext cx="3054096" cy="0"/>
          </a:xfrm>
          <a:prstGeom prst="line">
            <a:avLst/>
          </a:prstGeom>
          <a:noFill/>
          <a:ln w="12700">
            <a:solidFill>
              <a:srgbClr val="C3D7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9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pypi.org/project/rda-python-dsupdt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691640"/>
            <a:ext cx="3602736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1691640"/>
            <a:ext cx="3602736" cy="128016"/>
          </a:xfrm>
          <a:prstGeom prst="rect">
            <a:avLst/>
          </a:prstGeom>
          <a:solidFill>
            <a:srgbClr val="6E8300"/>
          </a:solidFill>
          <a:ln/>
        </p:spPr>
      </p:sp>
      <p:sp>
        <p:nvSpPr>
          <p:cNvPr id="26" name="Shape 24"/>
          <p:cNvSpPr/>
          <p:nvPr/>
        </p:nvSpPr>
        <p:spPr>
          <a:xfrm>
            <a:off x="8412480" y="2075688"/>
            <a:ext cx="566928" cy="566928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0756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098280" y="2075688"/>
            <a:ext cx="2459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12480" y="2825496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Read the Docs, built from the GitHub repo gdex-docs-dsupdt.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412480" y="4800600"/>
            <a:ext cx="3054096" cy="0"/>
          </a:xfrm>
          <a:prstGeom prst="line">
            <a:avLst/>
          </a:prstGeom>
          <a:noFill/>
          <a:ln w="12700">
            <a:solidFill>
              <a:srgbClr val="C3D7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85546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8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 </a:t>
            </a:r>
            <a:pPr indent="0" marL="0">
              <a:buNone/>
            </a:pPr>
            <a:r>
              <a:rPr lang="en-US" sz="1050" b="1" u="sng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console command:  </a:t>
            </a:r>
            <a:pPr algn="ctr"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installing the package puts the  </a:t>
            </a:r>
            <a:pPr algn="ctr" indent="0" marL="0">
              <a:buNone/>
            </a:pPr>
            <a:r>
              <a:rPr lang="en-US" sz="13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command on your  </a:t>
            </a:r>
            <a:pPr algn="ctr" indent="0" marL="0">
              <a:buNone/>
            </a:pPr>
            <a:r>
              <a:rPr lang="en-US" sz="13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algn="ctr"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— run  </a:t>
            </a:r>
            <a:pPr algn="ctr" indent="0" marL="0">
              <a:buNone/>
            </a:pPr>
            <a:r>
              <a:rPr lang="en-US" sz="13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</a:t>
            </a:r>
            <a:pPr algn="ctr"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to get started.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BE2E9"/>
          </a:solidFill>
          <a:ln w="25400">
            <a:solidFill>
              <a:srgbClr val="1A65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BE2E9"/>
          </a:solidFill>
          <a:ln w="25400">
            <a:solidFill>
              <a:srgbClr val="007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BE2E9"/>
          </a:solidFill>
          <a:ln w="25400">
            <a:solidFill>
              <a:srgbClr val="0079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DBE2E9"/>
          </a:solidFill>
          <a:ln w="25400">
            <a:solidFill>
              <a:srgbClr val="6E83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12169"/>
          </a:solidFill>
          <a:ln w="25400">
            <a:solidFill>
              <a:srgbClr val="01216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12169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CED9E5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A658F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A658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1A658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7FA3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7FA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007FA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0797C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0797C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00797C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Remote-file frequency (many → one)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12169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BE2E9"/>
          </a:solidFill>
          <a:ln w="25400">
            <a:solidFill>
              <a:srgbClr val="6E83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6E8300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BE2E9"/>
          </a:solidFill>
          <a:ln w="25400">
            <a:solidFill>
              <a:srgbClr val="0079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797C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BE2E9"/>
          </a:solidFill>
          <a:ln w="25400">
            <a:solidFill>
              <a:srgbClr val="007FA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007FA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CED9E5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2169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2169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2169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2169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2169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12169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BE2E9"/>
          </a:solidFill>
          <a:ln w="25400">
            <a:solidFill>
              <a:srgbClr val="1A65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2169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BE2E9"/>
          </a:solidFill>
          <a:ln w="25400">
            <a:solidFill>
              <a:srgbClr val="6E83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2169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DBE2E9"/>
          </a:solidFill>
          <a:ln w="25400">
            <a:solidFill>
              <a:srgbClr val="0079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12169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12169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A8C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BE2E9"/>
          </a:solidFill>
          <a:ln w="25400">
            <a:solidFill>
              <a:srgbClr val="1A65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A658F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1A658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BE2E9"/>
          </a:solidFill>
          <a:ln w="25400">
            <a:solidFill>
              <a:srgbClr val="007FA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7FA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007FA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DBE2E9"/>
          </a:solidFill>
          <a:ln w="25400">
            <a:solidFill>
              <a:srgbClr val="0079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0797C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00797C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9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CED9E5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5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5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58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 frequency — how often updates run, e.g. 1W, 1M, 1M/3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ControlOffset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ControlTime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RetryInterval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how long remote files stay valid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ParentIndex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UpdateControl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EMailControl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 / S / E / B / N report level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ErrorControl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 ignore / Q quit / N normal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KeepFile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HostName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restrict/allow processing hosts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007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FA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ActionName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dsarch action: AS, AW, AQ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options string passed to dsarch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fetch/copy/generate the file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Frequency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data-file frequency, e.g. 1M, 6H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data end date of next update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EndHour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 (sub-daily cadence)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FA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FA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DueInterval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→ ready lead 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ValidInterval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re-check / hold-open window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AgeTime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min remote-file age to fetch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WorkDir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staging dir (root $UPDTWKP)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ProcessRemote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validate/convert cmd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BuildCommand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user build cmd (vs tar)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7FA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CleanCommand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remove temp files after</a:t>
                      </a:r>
                      <a:endParaRPr lang="en-US" sz="11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BE2E9"/>
          </a:solidFill>
          <a:ln w="19050">
            <a:solidFill>
              <a:srgbClr val="00797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or server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BE2E9"/>
          </a:solidFill>
          <a:ln w="19050">
            <a:solidFill>
              <a:srgbClr val="0079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DBE2E9"/>
          </a:solidFill>
          <a:ln w="19050">
            <a:solidFill>
              <a:srgbClr val="0079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7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Long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7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Purpose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97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97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LocalIndex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97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97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ServerFile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97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97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DownloadOrder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97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TimeInterval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remote-file frequency — only when many remotes → one local, e.g. 6H, 5D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97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start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97C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3565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window end (with -TI)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6E8300"/>
          </a:solidFill>
          <a:ln w="12700">
            <a:solidFill>
              <a:srgbClr val="6E83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A658F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7FA3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797C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9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A658F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7FA3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0797C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9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CED9E5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3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Effect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3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re-archive (pass -RA to dsarch)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only periods not yet archived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stop the dataset on first error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E83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add carbon-copy email recipients</a:t>
                      </a:r>
                      <a:endParaRPr lang="en-US" sz="12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012169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CED9E5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5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Basis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5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Meaning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658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FA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FA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date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path-style date components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FA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current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FA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begin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FA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fraction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FA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end hour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2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658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7FA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runtime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12169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generic values supplied via -GP</a:t>
                      </a:r>
                      <a:endParaRPr lang="en-US" sz="12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3D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12169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6E8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CED9E5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6E8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1A658F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1A658F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1A658F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6E83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6E8300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6E8300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12169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C3D7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1A658F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1A658F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1A658F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ED9E5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0797C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079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00797C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ED9E5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0797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6E8300"/>
            </a:solidFill>
            <a:prstDash val="solid"/>
          </a:ln>
          <a:effectLst>
            <a:outerShdw sx="100000" sy="100000" kx="0" ky="0" algn="bl" rotWithShape="0" blurRad="76200" dist="25400" dir="5400000">
              <a:srgbClr val="C3D7EE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6E8300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6E8300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CED9E5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121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BE2E9"/>
          </a:solidFill>
          <a:ln w="19050">
            <a:solidFill>
              <a:srgbClr val="1A65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BE2E9"/>
          </a:solidFill>
          <a:ln w="19050">
            <a:solidFill>
              <a:srgbClr val="0079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9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BE2E9"/>
          </a:solidFill>
          <a:ln w="19050">
            <a:solidFill>
              <a:srgbClr val="6E83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8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DBE2E9"/>
          </a:solidFill>
          <a:ln w="19050">
            <a:solidFill>
              <a:srgbClr val="007FA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12169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7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A8C700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A8C7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A8C700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A8C70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40C1A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0C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BE2E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CED9E5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6E8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79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9300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DBE2E9"/>
          </a:solidFill>
          <a:ln w="15875">
            <a:solidFill>
              <a:srgbClr val="6E83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63016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97999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1A658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1A658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1A65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97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00797C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97C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00797C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7FA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007FA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007FA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830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6E830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830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6E8300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830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6E8300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3565A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3565A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012169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3565A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007FA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1A658F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316736" cy="0"/>
          </a:xfrm>
          <a:prstGeom prst="line">
            <a:avLst/>
          </a:prstGeom>
          <a:noFill/>
          <a:ln w="19050">
            <a:solidFill>
              <a:srgbClr val="1A658F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477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1A658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Update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7442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18304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DBE2E9"/>
          </a:solidFill>
          <a:ln w="12700">
            <a:solidFill>
              <a:srgbClr val="1A658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77316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ControlTime  —  when the job itself runs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658368" y="5029200"/>
            <a:ext cx="10881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sets the run time (YYYY-MM-DD HH:NN:SS). Each success steps it by one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(Next CT = CT + FQ);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  e.g.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07F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58368" y="544982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zones: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data end date/hour (End Date,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is server time (GMT), while </a:t>
            </a:r>
            <a:pPr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65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is local time the job runs (Denver, MDT = GMT−6h in summer) — don’t mix the two.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457200" y="5943600"/>
            <a:ext cx="11274552" cy="475488"/>
          </a:xfrm>
          <a:prstGeom prst="roundRect">
            <a:avLst>
              <a:gd name="adj" fmla="val 15385"/>
            </a:avLst>
          </a:prstGeom>
          <a:solidFill>
            <a:srgbClr val="CED9E5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943600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Each run re-checks every period in the VI window: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 = 0 → only the most recent period.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797C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07FA3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6E8300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A658F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3565A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3565A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A658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07FA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356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FA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DBE2E9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1A658F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A658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3D7EE"/>
            </a:solidFill>
            <a:prstDash val="solid"/>
          </a:ln>
          <a:effectLst>
            <a:outerShdw sx="100000" sy="100000" kx="0" ky="0" algn="bl" rotWithShape="0" blurRad="50800" dist="25400" dir="5400000">
              <a:srgbClr val="C3D7EE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3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A658F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2169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7FA3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2169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6E8300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6E83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2169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0797C"/>
            </a:solidFill>
            <a:prstDash val="solid"/>
          </a:ln>
          <a:effectLst>
            <a:outerShdw sx="100000" sy="100000" kx="0" ky="0" algn="bl" rotWithShape="0" blurRad="63500" dist="25400" dir="5400000">
              <a:srgbClr val="C3D7E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00797C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12169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3565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121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A8C7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C7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1A658F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007FA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A8C7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full guide: dsupdt.usg   •   docs: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gdex-docs-dsupdt.readthedocs.io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repo: </a:t>
            </a:r>
            <a:pPr indent="0" marL="0">
              <a:lnSpc>
                <a:spcPct val="110000"/>
              </a:lnSpc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121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2C4E7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A8C7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A8C700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12169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0B2A63"/>
          </a:solidFill>
          <a:ln w="12700">
            <a:solidFill>
              <a:srgbClr val="2C4E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0C1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u="sng" dirty="0">
                <a:solidFill>
                  <a:srgbClr val="C3D7EE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2026-07-16T16:00:21Z</dcterms:created>
  <dcterms:modified xsi:type="dcterms:W3CDTF">2026-07-16T16:00:21Z</dcterms:modified>
</cp:coreProperties>
</file>