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</p:sldIdLst>
  <p:notesMasterIdLst>
    <p:notesMasterId r:id="rId2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notesMaster" Target="notesMasters/notesMaster1.xml"/><Relationship Id="rId27" Type="http://schemas.openxmlformats.org/officeDocument/2006/relationships/presProps" Target="presProps.xml"/><Relationship Id="rId28" Type="http://schemas.openxmlformats.org/officeDocument/2006/relationships/viewProps" Target="viewProps.xml"/><Relationship Id="rId29" Type="http://schemas.openxmlformats.org/officeDocument/2006/relationships/theme" Target="theme/theme1.xml"/><Relationship Id="rId3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E1B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772400" y="-365760"/>
            <a:ext cx="3108960" cy="3108960"/>
          </a:xfrm>
          <a:prstGeom prst="ellipse">
            <a:avLst/>
          </a:prstGeom>
          <a:ln w="12700">
            <a:solidFill>
              <a:srgbClr val="1C3A55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183880" y="45720"/>
            <a:ext cx="2286000" cy="2286000"/>
          </a:xfrm>
          <a:prstGeom prst="ellipse">
            <a:avLst/>
          </a:prstGeom>
          <a:ln w="12700">
            <a:solidFill>
              <a:srgbClr val="1C3A55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595360" y="457200"/>
            <a:ext cx="1463040" cy="1463040"/>
          </a:xfrm>
          <a:prstGeom prst="ellipse">
            <a:avLst/>
          </a:prstGeom>
          <a:ln w="25400">
            <a:solidFill>
              <a:srgbClr val="E8963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732520" y="822960"/>
            <a:ext cx="822960" cy="822960"/>
          </a:xfrm>
          <a:prstGeom prst="ellipse">
            <a:avLst/>
          </a:prstGeom>
          <a:solidFill>
            <a:srgbClr val="E8963A"/>
          </a:solidFill>
          <a:ln/>
        </p:spPr>
      </p:sp>
      <p:sp>
        <p:nvSpPr>
          <p:cNvPr id="6" name="Text 4"/>
          <p:cNvSpPr/>
          <p:nvPr/>
        </p:nvSpPr>
        <p:spPr>
          <a:xfrm>
            <a:off x="8732520" y="82296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0E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↻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640080" y="21488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dsupdt</a:t>
            </a:r>
            <a:endParaRPr lang="en-US" sz="7800" dirty="0"/>
          </a:p>
        </p:txBody>
      </p:sp>
      <p:sp>
        <p:nvSpPr>
          <p:cNvPr id="8" name="Text 6"/>
          <p:cNvSpPr/>
          <p:nvPr/>
        </p:nvSpPr>
        <p:spPr>
          <a:xfrm>
            <a:off x="658368" y="3383280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Periodic Dataset Updates for the GDEX Servers</a:t>
            </a:r>
            <a:endParaRPr lang="en-US" sz="2400" dirty="0"/>
          </a:p>
        </p:txBody>
      </p:sp>
      <p:sp>
        <p:nvSpPr>
          <p:cNvPr id="9" name="Text 7"/>
          <p:cNvSpPr/>
          <p:nvPr/>
        </p:nvSpPr>
        <p:spPr>
          <a:xfrm>
            <a:off x="658368" y="397764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8FB0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Download → Build → Archive, scheduled and automated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658368" y="4892040"/>
            <a:ext cx="2317090" cy="457200"/>
          </a:xfrm>
          <a:prstGeom prst="roundRect">
            <a:avLst>
              <a:gd name="adj" fmla="val 20000"/>
            </a:avLst>
          </a:prstGeom>
          <a:solidFill>
            <a:srgbClr val="16273D"/>
          </a:solidFill>
          <a:ln w="12700">
            <a:solidFill>
              <a:srgbClr val="2A425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58368" y="4892040"/>
            <a:ext cx="231709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Developer Configuration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3158338" y="4892040"/>
            <a:ext cx="1420978" cy="457200"/>
          </a:xfrm>
          <a:prstGeom prst="roundRect">
            <a:avLst>
              <a:gd name="adj" fmla="val 20000"/>
            </a:avLst>
          </a:prstGeom>
          <a:solidFill>
            <a:srgbClr val="16273D"/>
          </a:solidFill>
          <a:ln w="12700">
            <a:solidFill>
              <a:srgbClr val="2A425C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158338" y="4892040"/>
            <a:ext cx="142097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General Usage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4762195" y="4892040"/>
            <a:ext cx="2406701" cy="457200"/>
          </a:xfrm>
          <a:prstGeom prst="roundRect">
            <a:avLst>
              <a:gd name="adj" fmla="val 20000"/>
            </a:avLst>
          </a:prstGeom>
          <a:solidFill>
            <a:srgbClr val="16273D"/>
          </a:solidFill>
          <a:ln w="12700">
            <a:solidFill>
              <a:srgbClr val="2A425C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762195" y="4892040"/>
            <a:ext cx="2406701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rda_python_dsupdt v3.0.9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658368" y="59436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F8CA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Companion utility to  dsarch  •  orchestrated by the  dscheck  daemon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OVERVIEW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221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is dsupdt?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57200" y="1508760"/>
            <a:ext cx="484632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dsupdt</a:t>
            </a:r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performs </a:t>
            </a:r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periodic dataset updates</a:t>
            </a:r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it retrieves data from remote servers, assembles archive-ready local files, and hands them to </a:t>
            </a:r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dsarch</a:t>
            </a:r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for archiving onto the GDEX Servers.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457200" y="3246120"/>
            <a:ext cx="4846320" cy="2788920"/>
          </a:xfrm>
          <a:prstGeom prst="roundRect">
            <a:avLst>
              <a:gd name="adj" fmla="val 3279"/>
            </a:avLst>
          </a:prstGeom>
          <a:solidFill>
            <a:srgbClr val="EEF4F8"/>
          </a:solidFill>
          <a:ln w="12700">
            <a:solidFill>
              <a:srgbClr val="CBDCE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85800" y="342900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Configured per dataset in GDEXDB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685800" y="3840480"/>
            <a:ext cx="4434840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operational datasets run under </a:t>
            </a:r>
            <a:pPr indent="0" marL="0">
              <a:lnSpc>
                <a:spcPct val="112000"/>
              </a:lnSpc>
              <a:buNone/>
            </a:pPr>
            <a:r>
              <a:rPr lang="en-US" sz="130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dsupdt / dsarch</a:t>
            </a:r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; configuration spans three record types.</a:t>
            </a:r>
            <a:pPr indent="0" marL="0">
              <a:lnSpc>
                <a:spcPct val="112000"/>
              </a:lnSpc>
              <a:buNone/>
            </a:pPr>
            <a:endParaRPr lang="en-US" sz="13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Edit records from the CLI (</a:t>
            </a:r>
            <a:endParaRPr lang="en-US" sz="13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300" b="1" dirty="0">
                <a:solidFill>
                  <a:srgbClr val="065A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-GA / -SA</a:t>
            </a:r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) or the web Config Editor (next slide).</a:t>
            </a:r>
            <a:pPr indent="0" marL="0">
              <a:lnSpc>
                <a:spcPct val="112000"/>
              </a:lnSpc>
              <a:buNone/>
            </a:pPr>
            <a:endParaRPr lang="en-US" sz="13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the owning specialist may run an update record (override with </a:t>
            </a:r>
            <a:endParaRPr lang="en-US" sz="13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300" b="1" dirty="0">
                <a:solidFill>
                  <a:srgbClr val="065A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-MD</a:t>
            </a:r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).</a:t>
            </a:r>
            <a:pPr indent="0" marL="0">
              <a:lnSpc>
                <a:spcPct val="112000"/>
              </a:lnSpc>
              <a:buNone/>
            </a:pPr>
            <a:endParaRPr lang="en-US" sz="13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Input files must be named </a:t>
            </a:r>
            <a:endParaRPr lang="en-US" sz="13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300" b="1" dirty="0">
                <a:solidFill>
                  <a:srgbClr val="065A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dNNNNNN.*</a:t>
            </a:r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to guard against the wrong dataset.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5715000" y="1508760"/>
            <a:ext cx="30632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2700">
            <a:solidFill>
              <a:srgbClr val="CBDCE6"/>
            </a:solidFill>
            <a:prstDash val="solid"/>
          </a:ln>
          <a:effectLst>
            <a:outerShdw sx="100000" sy="100000" kx="0" ky="0" algn="bl" rotWithShape="0" blurRad="63500" dist="25400" dir="5400000">
              <a:srgbClr val="9FB6C6">
                <a:alpha val="35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5916168" y="1728216"/>
            <a:ext cx="566928" cy="566928"/>
          </a:xfrm>
          <a:prstGeom prst="ellipse">
            <a:avLst/>
          </a:prstGeom>
          <a:solidFill>
            <a:srgbClr val="065A82"/>
          </a:solidFill>
          <a:ln/>
        </p:spPr>
      </p:sp>
      <p:sp>
        <p:nvSpPr>
          <p:cNvPr id="10" name="Text 8"/>
          <p:cNvSpPr/>
          <p:nvPr/>
        </p:nvSpPr>
        <p:spPr>
          <a:xfrm>
            <a:off x="5916168" y="172821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⚙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6629400" y="1709928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Configure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6629400" y="2112264"/>
            <a:ext cx="2011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update controls, local &amp; remote file records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9006840" y="1508760"/>
            <a:ext cx="30632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2700">
            <a:solidFill>
              <a:srgbClr val="CBDCE6"/>
            </a:solidFill>
            <a:prstDash val="solid"/>
          </a:ln>
          <a:effectLst>
            <a:outerShdw sx="100000" sy="100000" kx="0" ky="0" algn="bl" rotWithShape="0" blurRad="63500" dist="25400" dir="5400000">
              <a:srgbClr val="9FB6C6">
                <a:alpha val="35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9208008" y="1728216"/>
            <a:ext cx="566928" cy="566928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15" name="Text 13"/>
          <p:cNvSpPr/>
          <p:nvPr/>
        </p:nvSpPr>
        <p:spPr>
          <a:xfrm>
            <a:off x="9208008" y="172821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↓</a:t>
            </a:r>
            <a:endParaRPr lang="en-US" sz="2000" dirty="0"/>
          </a:p>
        </p:txBody>
      </p:sp>
      <p:sp>
        <p:nvSpPr>
          <p:cNvPr id="16" name="Text 14"/>
          <p:cNvSpPr/>
          <p:nvPr/>
        </p:nvSpPr>
        <p:spPr>
          <a:xfrm>
            <a:off x="9921240" y="1709928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Download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9921240" y="2112264"/>
            <a:ext cx="2011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 / fetch server files to a working area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5715000" y="3108960"/>
            <a:ext cx="30632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2700">
            <a:solidFill>
              <a:srgbClr val="CBDCE6"/>
            </a:solidFill>
            <a:prstDash val="solid"/>
          </a:ln>
          <a:effectLst>
            <a:outerShdw sx="100000" sy="100000" kx="0" ky="0" algn="bl" rotWithShape="0" blurRad="63500" dist="25400" dir="5400000">
              <a:srgbClr val="9FB6C6">
                <a:alpha val="35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5916168" y="3328416"/>
            <a:ext cx="566928" cy="566928"/>
          </a:xfrm>
          <a:prstGeom prst="ellipse">
            <a:avLst/>
          </a:prstGeom>
          <a:solidFill>
            <a:srgbClr val="065A82"/>
          </a:solidFill>
          <a:ln/>
        </p:spPr>
      </p:sp>
      <p:sp>
        <p:nvSpPr>
          <p:cNvPr id="20" name="Text 18"/>
          <p:cNvSpPr/>
          <p:nvPr/>
        </p:nvSpPr>
        <p:spPr>
          <a:xfrm>
            <a:off x="5916168" y="332841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⚡</a:t>
            </a:r>
            <a:endParaRPr lang="en-US" sz="2000" dirty="0"/>
          </a:p>
        </p:txBody>
      </p:sp>
      <p:sp>
        <p:nvSpPr>
          <p:cNvPr id="21" name="Text 19"/>
          <p:cNvSpPr/>
          <p:nvPr/>
        </p:nvSpPr>
        <p:spPr>
          <a:xfrm>
            <a:off x="6629400" y="3310128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Validate &amp; Build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6629400" y="3712464"/>
            <a:ext cx="2011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specialist routines, tar &amp; compress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9006840" y="3108960"/>
            <a:ext cx="30632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2700">
            <a:solidFill>
              <a:srgbClr val="CBDCE6"/>
            </a:solidFill>
            <a:prstDash val="solid"/>
          </a:ln>
          <a:effectLst>
            <a:outerShdw sx="100000" sy="100000" kx="0" ky="0" algn="bl" rotWithShape="0" blurRad="63500" dist="25400" dir="5400000">
              <a:srgbClr val="9FB6C6">
                <a:alpha val="35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9208008" y="3328416"/>
            <a:ext cx="566928" cy="566928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25" name="Text 23"/>
          <p:cNvSpPr/>
          <p:nvPr/>
        </p:nvSpPr>
        <p:spPr>
          <a:xfrm>
            <a:off x="9208008" y="332841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☁</a:t>
            </a:r>
            <a:endParaRPr lang="en-US" sz="2000" dirty="0"/>
          </a:p>
        </p:txBody>
      </p:sp>
      <p:sp>
        <p:nvSpPr>
          <p:cNvPr id="26" name="Text 24"/>
          <p:cNvSpPr/>
          <p:nvPr/>
        </p:nvSpPr>
        <p:spPr>
          <a:xfrm>
            <a:off x="9921240" y="3310128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Archive</a:t>
            </a:r>
            <a:endParaRPr lang="en-US" sz="1500" dirty="0"/>
          </a:p>
        </p:txBody>
      </p:sp>
      <p:sp>
        <p:nvSpPr>
          <p:cNvPr id="27" name="Text 25"/>
          <p:cNvSpPr/>
          <p:nvPr/>
        </p:nvSpPr>
        <p:spPr>
          <a:xfrm>
            <a:off x="9921240" y="3712464"/>
            <a:ext cx="2011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 local files to dsarch → GDEX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5715000" y="4709160"/>
            <a:ext cx="30632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2700">
            <a:solidFill>
              <a:srgbClr val="CBDCE6"/>
            </a:solidFill>
            <a:prstDash val="solid"/>
          </a:ln>
          <a:effectLst>
            <a:outerShdw sx="100000" sy="100000" kx="0" ky="0" algn="bl" rotWithShape="0" blurRad="63500" dist="25400" dir="5400000">
              <a:srgbClr val="9FB6C6">
                <a:alpha val="35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5916168" y="4928616"/>
            <a:ext cx="566928" cy="566928"/>
          </a:xfrm>
          <a:prstGeom prst="ellipse">
            <a:avLst/>
          </a:prstGeom>
          <a:solidFill>
            <a:srgbClr val="065A82"/>
          </a:solidFill>
          <a:ln/>
        </p:spPr>
      </p:sp>
      <p:sp>
        <p:nvSpPr>
          <p:cNvPr id="30" name="Text 28"/>
          <p:cNvSpPr/>
          <p:nvPr/>
        </p:nvSpPr>
        <p:spPr>
          <a:xfrm>
            <a:off x="5916168" y="492861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2000" dirty="0"/>
          </a:p>
        </p:txBody>
      </p:sp>
      <p:sp>
        <p:nvSpPr>
          <p:cNvPr id="31" name="Text 29"/>
          <p:cNvSpPr/>
          <p:nvPr/>
        </p:nvSpPr>
        <p:spPr>
          <a:xfrm>
            <a:off x="6629400" y="4910328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Clean</a:t>
            </a:r>
            <a:endParaRPr lang="en-US" sz="1500" dirty="0"/>
          </a:p>
        </p:txBody>
      </p:sp>
      <p:sp>
        <p:nvSpPr>
          <p:cNvPr id="32" name="Text 30"/>
          <p:cNvSpPr/>
          <p:nvPr/>
        </p:nvSpPr>
        <p:spPr>
          <a:xfrm>
            <a:off x="6629400" y="5312664"/>
            <a:ext cx="2011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remove temporary files after success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9006840" y="4709160"/>
            <a:ext cx="30632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2700">
            <a:solidFill>
              <a:srgbClr val="CBDCE6"/>
            </a:solidFill>
            <a:prstDash val="solid"/>
          </a:ln>
          <a:effectLst>
            <a:outerShdw sx="100000" sy="100000" kx="0" ky="0" algn="bl" rotWithShape="0" blurRad="63500" dist="25400" dir="5400000">
              <a:srgbClr val="9FB6C6">
                <a:alpha val="35000"/>
              </a:srgbClr>
            </a:outerShdw>
          </a:effectLst>
        </p:spPr>
      </p:sp>
      <p:sp>
        <p:nvSpPr>
          <p:cNvPr id="34" name="Shape 32"/>
          <p:cNvSpPr/>
          <p:nvPr/>
        </p:nvSpPr>
        <p:spPr>
          <a:xfrm>
            <a:off x="9208008" y="4928616"/>
            <a:ext cx="566928" cy="566928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35" name="Text 33"/>
          <p:cNvSpPr/>
          <p:nvPr/>
        </p:nvSpPr>
        <p:spPr>
          <a:xfrm>
            <a:off x="9208008" y="492861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2000" dirty="0"/>
          </a:p>
        </p:txBody>
      </p:sp>
      <p:sp>
        <p:nvSpPr>
          <p:cNvPr id="36" name="Text 34"/>
          <p:cNvSpPr/>
          <p:nvPr/>
        </p:nvSpPr>
        <p:spPr>
          <a:xfrm>
            <a:off x="9921240" y="4910328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</a:t>
            </a:r>
            <a:endParaRPr lang="en-US" sz="1500" dirty="0"/>
          </a:p>
        </p:txBody>
      </p:sp>
      <p:sp>
        <p:nvSpPr>
          <p:cNvPr id="37" name="Text 35"/>
          <p:cNvSpPr/>
          <p:nvPr/>
        </p:nvSpPr>
        <p:spPr>
          <a:xfrm>
            <a:off x="9921240" y="5312664"/>
            <a:ext cx="2011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remote-file availability</a:t>
            </a:r>
            <a:endParaRPr lang="en-US" sz="1200" dirty="0"/>
          </a:p>
        </p:txBody>
      </p:sp>
      <p:sp>
        <p:nvSpPr>
          <p:cNvPr id="38" name="Text 36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dsupdt  •  Developer &amp; General Usage Guide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11368735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IT WORKS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221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Five-Stage Update Pipeline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02920" y="2011680"/>
            <a:ext cx="1993392" cy="2286000"/>
          </a:xfrm>
          <a:prstGeom prst="roundRect">
            <a:avLst>
              <a:gd name="adj" fmla="val 4587"/>
            </a:avLst>
          </a:prstGeom>
          <a:solidFill>
            <a:srgbClr val="EEF4F8"/>
          </a:solidFill>
          <a:ln w="25400">
            <a:solidFill>
              <a:srgbClr val="065A82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79576" y="2267712"/>
            <a:ext cx="640080" cy="640080"/>
          </a:xfrm>
          <a:prstGeom prst="ellipse">
            <a:avLst/>
          </a:prstGeom>
          <a:solidFill>
            <a:srgbClr val="065A82"/>
          </a:solidFill>
          <a:ln/>
        </p:spPr>
      </p:sp>
      <p:sp>
        <p:nvSpPr>
          <p:cNvPr id="6" name="Text 4"/>
          <p:cNvSpPr/>
          <p:nvPr/>
        </p:nvSpPr>
        <p:spPr>
          <a:xfrm>
            <a:off x="1179576" y="2267712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594360" y="2999232"/>
            <a:ext cx="181051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Server Files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640080" y="3474720"/>
            <a:ext cx="17190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original files on the remote server or a local area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2514600" y="2011680"/>
            <a:ext cx="283464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600" dirty="0"/>
          </a:p>
        </p:txBody>
      </p:sp>
      <p:sp>
        <p:nvSpPr>
          <p:cNvPr id="10" name="Shape 8"/>
          <p:cNvSpPr/>
          <p:nvPr/>
        </p:nvSpPr>
        <p:spPr>
          <a:xfrm>
            <a:off x="2816352" y="2011680"/>
            <a:ext cx="1993392" cy="2286000"/>
          </a:xfrm>
          <a:prstGeom prst="roundRect">
            <a:avLst>
              <a:gd name="adj" fmla="val 4587"/>
            </a:avLst>
          </a:prstGeom>
          <a:solidFill>
            <a:srgbClr val="EEF4F8"/>
          </a:solidFill>
          <a:ln w="25400">
            <a:solidFill>
              <a:srgbClr val="1C7293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493008" y="2267712"/>
            <a:ext cx="640080" cy="640080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12" name="Text 10"/>
          <p:cNvSpPr/>
          <p:nvPr/>
        </p:nvSpPr>
        <p:spPr>
          <a:xfrm>
            <a:off x="3493008" y="2267712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400" dirty="0"/>
          </a:p>
        </p:txBody>
      </p:sp>
      <p:sp>
        <p:nvSpPr>
          <p:cNvPr id="13" name="Text 11"/>
          <p:cNvSpPr/>
          <p:nvPr/>
        </p:nvSpPr>
        <p:spPr>
          <a:xfrm>
            <a:off x="2907792" y="2999232"/>
            <a:ext cx="181051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Remote Files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2953512" y="3474720"/>
            <a:ext cx="17190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staged in the working directory (-WD)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4828032" y="2011680"/>
            <a:ext cx="283464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600" dirty="0"/>
          </a:p>
        </p:txBody>
      </p:sp>
      <p:sp>
        <p:nvSpPr>
          <p:cNvPr id="16" name="Shape 14"/>
          <p:cNvSpPr/>
          <p:nvPr/>
        </p:nvSpPr>
        <p:spPr>
          <a:xfrm>
            <a:off x="5129784" y="2011680"/>
            <a:ext cx="1993392" cy="2286000"/>
          </a:xfrm>
          <a:prstGeom prst="roundRect">
            <a:avLst>
              <a:gd name="adj" fmla="val 4587"/>
            </a:avLst>
          </a:prstGeom>
          <a:solidFill>
            <a:srgbClr val="EEF4F8"/>
          </a:solidFill>
          <a:ln w="25400">
            <a:solidFill>
              <a:srgbClr val="2E8B7A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5806440" y="2267712"/>
            <a:ext cx="640080" cy="640080"/>
          </a:xfrm>
          <a:prstGeom prst="ellipse">
            <a:avLst/>
          </a:prstGeom>
          <a:solidFill>
            <a:srgbClr val="2E8B7A"/>
          </a:solidFill>
          <a:ln/>
        </p:spPr>
      </p:sp>
      <p:sp>
        <p:nvSpPr>
          <p:cNvPr id="18" name="Text 16"/>
          <p:cNvSpPr/>
          <p:nvPr/>
        </p:nvSpPr>
        <p:spPr>
          <a:xfrm>
            <a:off x="5806440" y="2267712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400" dirty="0"/>
          </a:p>
        </p:txBody>
      </p:sp>
      <p:sp>
        <p:nvSpPr>
          <p:cNvPr id="19" name="Text 17"/>
          <p:cNvSpPr/>
          <p:nvPr/>
        </p:nvSpPr>
        <p:spPr>
          <a:xfrm>
            <a:off x="5221224" y="2999232"/>
            <a:ext cx="181051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 Files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5266944" y="3474720"/>
            <a:ext cx="17190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validated, converted, tarred / compressed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7141464" y="2011680"/>
            <a:ext cx="283464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2E8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600" dirty="0"/>
          </a:p>
        </p:txBody>
      </p:sp>
      <p:sp>
        <p:nvSpPr>
          <p:cNvPr id="22" name="Shape 20"/>
          <p:cNvSpPr/>
          <p:nvPr/>
        </p:nvSpPr>
        <p:spPr>
          <a:xfrm>
            <a:off x="7443216" y="2011680"/>
            <a:ext cx="1993392" cy="2286000"/>
          </a:xfrm>
          <a:prstGeom prst="roundRect">
            <a:avLst>
              <a:gd name="adj" fmla="val 4587"/>
            </a:avLst>
          </a:prstGeom>
          <a:solidFill>
            <a:srgbClr val="EEF4F8"/>
          </a:solidFill>
          <a:ln w="25400">
            <a:solidFill>
              <a:srgbClr val="E8963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8119872" y="2267712"/>
            <a:ext cx="640080" cy="640080"/>
          </a:xfrm>
          <a:prstGeom prst="ellipse">
            <a:avLst/>
          </a:prstGeom>
          <a:solidFill>
            <a:srgbClr val="E8963A"/>
          </a:solidFill>
          <a:ln/>
        </p:spPr>
      </p:sp>
      <p:sp>
        <p:nvSpPr>
          <p:cNvPr id="24" name="Text 22"/>
          <p:cNvSpPr/>
          <p:nvPr/>
        </p:nvSpPr>
        <p:spPr>
          <a:xfrm>
            <a:off x="8119872" y="2267712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2400" dirty="0"/>
          </a:p>
        </p:txBody>
      </p:sp>
      <p:sp>
        <p:nvSpPr>
          <p:cNvPr id="25" name="Text 23"/>
          <p:cNvSpPr/>
          <p:nvPr/>
        </p:nvSpPr>
        <p:spPr>
          <a:xfrm>
            <a:off x="7534656" y="2999232"/>
            <a:ext cx="181051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dsarch</a:t>
            </a:r>
            <a:endParaRPr lang="en-US" sz="1500" dirty="0"/>
          </a:p>
        </p:txBody>
      </p:sp>
      <p:sp>
        <p:nvSpPr>
          <p:cNvPr id="26" name="Text 24"/>
          <p:cNvSpPr/>
          <p:nvPr/>
        </p:nvSpPr>
        <p:spPr>
          <a:xfrm>
            <a:off x="7580376" y="3474720"/>
            <a:ext cx="17190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archive action AS / AW / AQ applied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9454896" y="2011680"/>
            <a:ext cx="283464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E89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600" dirty="0"/>
          </a:p>
        </p:txBody>
      </p:sp>
      <p:sp>
        <p:nvSpPr>
          <p:cNvPr id="28" name="Shape 26"/>
          <p:cNvSpPr/>
          <p:nvPr/>
        </p:nvSpPr>
        <p:spPr>
          <a:xfrm>
            <a:off x="9756648" y="2011680"/>
            <a:ext cx="1993392" cy="2286000"/>
          </a:xfrm>
          <a:prstGeom prst="roundRect">
            <a:avLst>
              <a:gd name="adj" fmla="val 4587"/>
            </a:avLst>
          </a:prstGeom>
          <a:solidFill>
            <a:srgbClr val="0E1B2E"/>
          </a:solidFill>
          <a:ln w="25400">
            <a:solidFill>
              <a:srgbClr val="0E1B2E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10433304" y="2267712"/>
            <a:ext cx="640080" cy="640080"/>
          </a:xfrm>
          <a:prstGeom prst="ellipse">
            <a:avLst/>
          </a:prstGeom>
          <a:solidFill>
            <a:srgbClr val="0E1B2E"/>
          </a:solidFill>
          <a:ln/>
        </p:spPr>
      </p:sp>
      <p:sp>
        <p:nvSpPr>
          <p:cNvPr id="30" name="Text 28"/>
          <p:cNvSpPr/>
          <p:nvPr/>
        </p:nvSpPr>
        <p:spPr>
          <a:xfrm>
            <a:off x="10433304" y="2267712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2400" dirty="0"/>
          </a:p>
        </p:txBody>
      </p:sp>
      <p:sp>
        <p:nvSpPr>
          <p:cNvPr id="31" name="Text 29"/>
          <p:cNvSpPr/>
          <p:nvPr/>
        </p:nvSpPr>
        <p:spPr>
          <a:xfrm>
            <a:off x="9848088" y="2999232"/>
            <a:ext cx="181051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GDEX Servers</a:t>
            </a:r>
            <a:endParaRPr lang="en-US" sz="1500" dirty="0"/>
          </a:p>
        </p:txBody>
      </p:sp>
      <p:sp>
        <p:nvSpPr>
          <p:cNvPr id="32" name="Text 30"/>
          <p:cNvSpPr/>
          <p:nvPr/>
        </p:nvSpPr>
        <p:spPr>
          <a:xfrm>
            <a:off x="9893808" y="3474720"/>
            <a:ext cx="17190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published &amp; discoverable</a:t>
            </a:r>
            <a:endParaRPr lang="en-US" sz="1150" dirty="0"/>
          </a:p>
        </p:txBody>
      </p:sp>
      <p:sp>
        <p:nvSpPr>
          <p:cNvPr id="33" name="Shape 31"/>
          <p:cNvSpPr/>
          <p:nvPr/>
        </p:nvSpPr>
        <p:spPr>
          <a:xfrm>
            <a:off x="502920" y="4892040"/>
            <a:ext cx="11201400" cy="1234440"/>
          </a:xfrm>
          <a:prstGeom prst="roundRect">
            <a:avLst>
              <a:gd name="adj" fmla="val 7407"/>
            </a:avLst>
          </a:prstGeom>
          <a:solidFill>
            <a:srgbClr val="E3EEF3"/>
          </a:solidFill>
          <a:ln w="12700">
            <a:solidFill>
              <a:srgbClr val="CBDCE6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731520" y="5138928"/>
            <a:ext cx="731520" cy="731520"/>
          </a:xfrm>
          <a:prstGeom prst="ellipse">
            <a:avLst/>
          </a:prstGeom>
          <a:solidFill>
            <a:srgbClr val="065A82"/>
          </a:solidFill>
          <a:ln/>
        </p:spPr>
      </p:sp>
      <p:sp>
        <p:nvSpPr>
          <p:cNvPr id="35" name="Text 33"/>
          <p:cNvSpPr/>
          <p:nvPr/>
        </p:nvSpPr>
        <p:spPr>
          <a:xfrm>
            <a:off x="731520" y="5138928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⌘</a:t>
            </a:r>
            <a:endParaRPr lang="en-US" sz="2200" dirty="0"/>
          </a:p>
        </p:txBody>
      </p:sp>
      <p:sp>
        <p:nvSpPr>
          <p:cNvPr id="36" name="Text 34"/>
          <p:cNvSpPr/>
          <p:nvPr/>
        </p:nvSpPr>
        <p:spPr>
          <a:xfrm>
            <a:off x="1645920" y="5074920"/>
            <a:ext cx="98755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command runs the whole chain.  </a:t>
            </a:r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1221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-UF (-UpdateFile)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performs all stages end-to-end. The individual steps </a:t>
            </a:r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1221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-DR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</a:t>
            </a:r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1221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-BL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</a:t>
            </a:r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1221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-PB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</a:t>
            </a:r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1221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-AF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</a:t>
            </a:r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1221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-CF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let you drive each stage separately.</a:t>
            </a:r>
            <a:endParaRPr lang="en-US" sz="1400" dirty="0"/>
          </a:p>
        </p:txBody>
      </p:sp>
      <p:sp>
        <p:nvSpPr>
          <p:cNvPr id="37" name="Text 35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dsupdt  •  Developer &amp; General Usage Guide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11368735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MODEL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221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Record Types in GDEXDB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457200" y="1554480"/>
            <a:ext cx="3611880" cy="4114800"/>
          </a:xfrm>
          <a:prstGeom prst="roundRect">
            <a:avLst>
              <a:gd name="adj" fmla="val 2532"/>
            </a:avLst>
          </a:prstGeom>
          <a:solidFill>
            <a:srgbClr val="FFFFFF"/>
          </a:solidFill>
          <a:ln w="25400">
            <a:solidFill>
              <a:srgbClr val="065A82"/>
            </a:solidFill>
            <a:prstDash val="solid"/>
          </a:ln>
          <a:effectLst>
            <a:outerShdw sx="100000" sy="100000" kx="0" ky="0" algn="bl" rotWithShape="0" blurRad="76200" dist="25400" dir="5400000">
              <a:srgbClr val="9FB6C6">
                <a:alpha val="3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457200" y="1554480"/>
            <a:ext cx="3611880" cy="1051560"/>
          </a:xfrm>
          <a:prstGeom prst="roundRect">
            <a:avLst>
              <a:gd name="adj" fmla="val 8696"/>
            </a:avLst>
          </a:prstGeom>
          <a:solidFill>
            <a:srgbClr val="065A82"/>
          </a:solidFill>
          <a:ln/>
        </p:spPr>
      </p:sp>
      <p:sp>
        <p:nvSpPr>
          <p:cNvPr id="6" name="Shape 4"/>
          <p:cNvSpPr/>
          <p:nvPr/>
        </p:nvSpPr>
        <p:spPr>
          <a:xfrm>
            <a:off x="457200" y="2103120"/>
            <a:ext cx="3611880" cy="502920"/>
          </a:xfrm>
          <a:prstGeom prst="rect">
            <a:avLst/>
          </a:prstGeom>
          <a:solidFill>
            <a:srgbClr val="065A82"/>
          </a:solidFill>
          <a:ln/>
        </p:spPr>
      </p:sp>
      <p:sp>
        <p:nvSpPr>
          <p:cNvPr id="7" name="Text 5"/>
          <p:cNvSpPr/>
          <p:nvPr/>
        </p:nvSpPr>
        <p:spPr>
          <a:xfrm>
            <a:off x="685800" y="1682496"/>
            <a:ext cx="3154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Update Control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685800" y="2121408"/>
            <a:ext cx="3154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8F2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dcupdt   </a:t>
            </a:r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-SC / -GC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731520" y="2834640"/>
            <a:ext cx="31089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Schedules when updates run</a:t>
            </a:r>
            <a:endParaRPr lang="en-US" sz="1350" dirty="0"/>
          </a:p>
          <a:p>
            <a:pPr marL="177800" indent="-177800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Frequency, offset, retry, valid interval</a:t>
            </a:r>
            <a:endParaRPr lang="en-US" sz="1350" dirty="0"/>
          </a:p>
          <a:p>
            <a:pPr marL="177800" indent="-177800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Email &amp; error controls</a:t>
            </a:r>
            <a:endParaRPr lang="en-US" sz="1350" dirty="0"/>
          </a:p>
          <a:p>
            <a:pPr marL="177800" indent="-177800">
              <a:lnSpc>
                <a:spcPct val="105000"/>
              </a:lnSpc>
              <a:buSzPct val="100000"/>
              <a:buChar char="•"/>
            </a:pPr>
            <a:r>
              <a:rPr lang="en-US" sz="13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Launched by the dscheck daemon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4325112" y="1554480"/>
            <a:ext cx="3611880" cy="4114800"/>
          </a:xfrm>
          <a:prstGeom prst="roundRect">
            <a:avLst>
              <a:gd name="adj" fmla="val 2532"/>
            </a:avLst>
          </a:prstGeom>
          <a:solidFill>
            <a:srgbClr val="FFFFFF"/>
          </a:solidFill>
          <a:ln w="25400">
            <a:solidFill>
              <a:srgbClr val="1C7293"/>
            </a:solidFill>
            <a:prstDash val="solid"/>
          </a:ln>
          <a:effectLst>
            <a:outerShdw sx="100000" sy="100000" kx="0" ky="0" algn="bl" rotWithShape="0" blurRad="76200" dist="25400" dir="5400000">
              <a:srgbClr val="9FB6C6">
                <a:alpha val="3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325112" y="1554480"/>
            <a:ext cx="3611880" cy="1051560"/>
          </a:xfrm>
          <a:prstGeom prst="roundRect">
            <a:avLst>
              <a:gd name="adj" fmla="val 8696"/>
            </a:avLst>
          </a:prstGeom>
          <a:solidFill>
            <a:srgbClr val="1C7293"/>
          </a:solidFill>
          <a:ln/>
        </p:spPr>
      </p:sp>
      <p:sp>
        <p:nvSpPr>
          <p:cNvPr id="12" name="Shape 10"/>
          <p:cNvSpPr/>
          <p:nvPr/>
        </p:nvSpPr>
        <p:spPr>
          <a:xfrm>
            <a:off x="4325112" y="2103120"/>
            <a:ext cx="3611880" cy="502920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13" name="Text 11"/>
          <p:cNvSpPr/>
          <p:nvPr/>
        </p:nvSpPr>
        <p:spPr>
          <a:xfrm>
            <a:off x="4553712" y="1682496"/>
            <a:ext cx="3154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Local File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4553712" y="2121408"/>
            <a:ext cx="3154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8F2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dlupdt   </a:t>
            </a:r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-SL / -GL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99432" y="2834640"/>
            <a:ext cx="31089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Minimum config for an update</a:t>
            </a:r>
            <a:endParaRPr lang="en-US" sz="1350" dirty="0"/>
          </a:p>
          <a:p>
            <a:pPr marL="177800" indent="-177800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 file name &amp; dsarch action</a:t>
            </a:r>
            <a:endParaRPr lang="en-US" sz="1350" dirty="0"/>
          </a:p>
          <a:p>
            <a:pPr marL="177800" indent="-177800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Download / build / clean commands</a:t>
            </a:r>
            <a:endParaRPr lang="en-US" sz="1350" dirty="0"/>
          </a:p>
          <a:p>
            <a:pPr marL="177800" indent="-177800">
              <a:lnSpc>
                <a:spcPct val="105000"/>
              </a:lnSpc>
              <a:buSzPct val="100000"/>
              <a:buChar char="•"/>
            </a:pPr>
            <a:r>
              <a:rPr lang="en-US" sz="13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Tracks next end date/hour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8193024" y="1554480"/>
            <a:ext cx="3611880" cy="4114800"/>
          </a:xfrm>
          <a:prstGeom prst="roundRect">
            <a:avLst>
              <a:gd name="adj" fmla="val 2532"/>
            </a:avLst>
          </a:prstGeom>
          <a:solidFill>
            <a:srgbClr val="FFFFFF"/>
          </a:solidFill>
          <a:ln w="25400">
            <a:solidFill>
              <a:srgbClr val="2E8B7A"/>
            </a:solidFill>
            <a:prstDash val="solid"/>
          </a:ln>
          <a:effectLst>
            <a:outerShdw sx="100000" sy="100000" kx="0" ky="0" algn="bl" rotWithShape="0" blurRad="76200" dist="25400" dir="5400000">
              <a:srgbClr val="9FB6C6">
                <a:alpha val="30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8193024" y="1554480"/>
            <a:ext cx="3611880" cy="1051560"/>
          </a:xfrm>
          <a:prstGeom prst="roundRect">
            <a:avLst>
              <a:gd name="adj" fmla="val 8696"/>
            </a:avLst>
          </a:prstGeom>
          <a:solidFill>
            <a:srgbClr val="2E8B7A"/>
          </a:solidFill>
          <a:ln/>
        </p:spPr>
      </p:sp>
      <p:sp>
        <p:nvSpPr>
          <p:cNvPr id="18" name="Shape 16"/>
          <p:cNvSpPr/>
          <p:nvPr/>
        </p:nvSpPr>
        <p:spPr>
          <a:xfrm>
            <a:off x="8193024" y="2103120"/>
            <a:ext cx="3611880" cy="502920"/>
          </a:xfrm>
          <a:prstGeom prst="rect">
            <a:avLst/>
          </a:prstGeom>
          <a:solidFill>
            <a:srgbClr val="2E8B7A"/>
          </a:solidFill>
          <a:ln/>
        </p:spPr>
      </p:sp>
      <p:sp>
        <p:nvSpPr>
          <p:cNvPr id="19" name="Text 17"/>
          <p:cNvSpPr/>
          <p:nvPr/>
        </p:nvSpPr>
        <p:spPr>
          <a:xfrm>
            <a:off x="8421624" y="1682496"/>
            <a:ext cx="3154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Remote File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8421624" y="2121408"/>
            <a:ext cx="3154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8F2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drupdt   </a:t>
            </a:r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-SR / -GR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8467344" y="2834640"/>
            <a:ext cx="31089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when remote ≠ local name</a:t>
            </a:r>
            <a:endParaRPr lang="en-US" sz="1350" dirty="0"/>
          </a:p>
          <a:p>
            <a:pPr marL="177800" indent="-177800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Many remotes → one local file</a:t>
            </a:r>
            <a:endParaRPr lang="en-US" sz="1350" dirty="0"/>
          </a:p>
          <a:p>
            <a:pPr marL="177800" indent="-177800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Server file &amp; download order</a:t>
            </a:r>
            <a:endParaRPr lang="en-US" sz="1350" dirty="0"/>
          </a:p>
          <a:p>
            <a:pPr marL="177800" indent="-177800">
              <a:lnSpc>
                <a:spcPct val="105000"/>
              </a:lnSpc>
              <a:buSzPct val="100000"/>
              <a:buChar char="•"/>
            </a:pPr>
            <a:r>
              <a:rPr lang="en-US" sz="13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 interval for sub-periods</a:t>
            </a:r>
            <a:endParaRPr lang="en-US" sz="1350" dirty="0"/>
          </a:p>
        </p:txBody>
      </p:sp>
      <p:sp>
        <p:nvSpPr>
          <p:cNvPr id="22" name="Text 20"/>
          <p:cNvSpPr/>
          <p:nvPr/>
        </p:nvSpPr>
        <p:spPr>
          <a:xfrm>
            <a:off x="457200" y="589788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 → edit → Set:  </a:t>
            </a:r>
            <a:pPr algn="ctr" indent="0" marL="0">
              <a:buNone/>
            </a:pPr>
            <a:r>
              <a:rPr lang="en-US" sz="1300" b="1" dirty="0">
                <a:solidFill>
                  <a:srgbClr val="5C6E7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-GA (-GetAll)</a:t>
            </a:r>
            <a:pPr algn="ctr" indent="0" marL="0">
              <a:buNone/>
            </a:pPr>
            <a:r>
              <a:rPr lang="en-US" sz="13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dumps all three sections;  </a:t>
            </a:r>
            <a:pPr algn="ctr" indent="0" marL="0">
              <a:buNone/>
            </a:pPr>
            <a:r>
              <a:rPr lang="en-US" sz="1300" b="1" dirty="0">
                <a:solidFill>
                  <a:srgbClr val="5C6E7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-SA (-SetAll)</a:t>
            </a:r>
            <a:pPr algn="ctr" indent="0" marL="0">
              <a:buNone/>
            </a:pPr>
            <a:r>
              <a:rPr lang="en-US" sz="13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applies an edited file back to GDEXDB.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dsupdt  •  Developer &amp; General Usage Guide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11368735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GENERAL USAGE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221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Anatomy of a Command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457200" y="1508760"/>
            <a:ext cx="11247120" cy="868680"/>
          </a:xfrm>
          <a:prstGeom prst="roundRect">
            <a:avLst>
              <a:gd name="adj" fmla="val 8421"/>
            </a:avLst>
          </a:prstGeom>
          <a:solidFill>
            <a:srgbClr val="0E1B2E"/>
          </a:solidFill>
          <a:ln/>
        </p:spPr>
      </p:sp>
      <p:sp>
        <p:nvSpPr>
          <p:cNvPr id="5" name="Text 3"/>
          <p:cNvSpPr/>
          <p:nvPr/>
        </p:nvSpPr>
        <p:spPr>
          <a:xfrm>
            <a:off x="685800" y="1508760"/>
            <a:ext cx="107899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dsupdt </a:t>
            </a:r>
            <a:pPr indent="0" marL="0">
              <a:buNone/>
            </a:pPr>
            <a:r>
              <a:rPr lang="en-US" sz="2200" dirty="0">
                <a:solidFill>
                  <a:srgbClr val="8FB0C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[-DS dNNNNNN] </a:t>
            </a:r>
            <a:pPr indent="0" marL="0">
              <a:buNone/>
            </a:pPr>
            <a:r>
              <a:rPr lang="en-US" sz="2200" b="1" dirty="0">
                <a:solidFill>
                  <a:srgbClr val="E896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&lt;Action&gt; </a:t>
            </a:r>
            <a:pPr indent="0" marL="0">
              <a:buNone/>
            </a:pPr>
            <a:r>
              <a:rPr lang="en-US" sz="2200" b="1" dirty="0">
                <a:solidFill>
                  <a:srgbClr val="7FD1B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[Mode…] </a:t>
            </a:r>
            <a:pPr indent="0" marL="0">
              <a:buNone/>
            </a:pPr>
            <a:r>
              <a:rPr lang="en-US" sz="2200" b="1" dirty="0">
                <a:solidFill>
                  <a:srgbClr val="9FC4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[Info…]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457200" y="2697480"/>
            <a:ext cx="3611880" cy="2148840"/>
          </a:xfrm>
          <a:prstGeom prst="roundRect">
            <a:avLst>
              <a:gd name="adj" fmla="val 4255"/>
            </a:avLst>
          </a:prstGeom>
          <a:solidFill>
            <a:srgbClr val="EEF4F8"/>
          </a:solidFill>
          <a:ln w="25400">
            <a:solidFill>
              <a:srgbClr val="E8963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13232" y="2898648"/>
            <a:ext cx="2148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9C641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Action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2651760" y="2926080"/>
            <a:ext cx="1188720" cy="384048"/>
          </a:xfrm>
          <a:prstGeom prst="roundRect">
            <a:avLst>
              <a:gd name="adj" fmla="val 19048"/>
            </a:avLst>
          </a:prstGeom>
          <a:solidFill>
            <a:srgbClr val="E8963A"/>
          </a:solidFill>
          <a:ln/>
        </p:spPr>
      </p:sp>
      <p:sp>
        <p:nvSpPr>
          <p:cNvPr id="9" name="Text 7"/>
          <p:cNvSpPr/>
          <p:nvPr/>
        </p:nvSpPr>
        <p:spPr>
          <a:xfrm>
            <a:off x="2651760" y="2926080"/>
            <a:ext cx="1188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per run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713232" y="3520440"/>
            <a:ext cx="31089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Selects the task. Takes no value. E.g. -UF, -GC, -SL, -AF. Some actions imply others.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325112" y="2697480"/>
            <a:ext cx="3611880" cy="2148840"/>
          </a:xfrm>
          <a:prstGeom prst="roundRect">
            <a:avLst>
              <a:gd name="adj" fmla="val 4255"/>
            </a:avLst>
          </a:prstGeom>
          <a:solidFill>
            <a:srgbClr val="EEF4F8"/>
          </a:solidFill>
          <a:ln w="25400">
            <a:solidFill>
              <a:srgbClr val="2E8B7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581144" y="2898648"/>
            <a:ext cx="2148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5E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Mode</a:t>
            </a:r>
            <a:endParaRPr lang="en-US" sz="2200" dirty="0"/>
          </a:p>
        </p:txBody>
      </p:sp>
      <p:sp>
        <p:nvSpPr>
          <p:cNvPr id="13" name="Shape 11"/>
          <p:cNvSpPr/>
          <p:nvPr/>
        </p:nvSpPr>
        <p:spPr>
          <a:xfrm>
            <a:off x="6519672" y="2926080"/>
            <a:ext cx="1188720" cy="384048"/>
          </a:xfrm>
          <a:prstGeom prst="roundRect">
            <a:avLst>
              <a:gd name="adj" fmla="val 19048"/>
            </a:avLst>
          </a:prstGeom>
          <a:solidFill>
            <a:srgbClr val="2E8B7A"/>
          </a:solidFill>
          <a:ln/>
        </p:spPr>
      </p:sp>
      <p:sp>
        <p:nvSpPr>
          <p:cNvPr id="14" name="Text 12"/>
          <p:cNvSpPr/>
          <p:nvPr/>
        </p:nvSpPr>
        <p:spPr>
          <a:xfrm>
            <a:off x="6519672" y="2926080"/>
            <a:ext cx="1188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Zero or more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4581144" y="3520440"/>
            <a:ext cx="31089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Modifies behavior; takes no value. E.g. -MU, -FU, -RA, -NE, -GZ.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8193024" y="2697480"/>
            <a:ext cx="3611880" cy="2148840"/>
          </a:xfrm>
          <a:prstGeom prst="roundRect">
            <a:avLst>
              <a:gd name="adj" fmla="val 4255"/>
            </a:avLst>
          </a:prstGeom>
          <a:solidFill>
            <a:srgbClr val="EEF4F8"/>
          </a:solidFill>
          <a:ln w="25400">
            <a:solidFill>
              <a:srgbClr val="1C7293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449056" y="2898648"/>
            <a:ext cx="2148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4A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Info</a:t>
            </a:r>
            <a:endParaRPr lang="en-US" sz="2200" dirty="0"/>
          </a:p>
        </p:txBody>
      </p:sp>
      <p:sp>
        <p:nvSpPr>
          <p:cNvPr id="18" name="Shape 16"/>
          <p:cNvSpPr/>
          <p:nvPr/>
        </p:nvSpPr>
        <p:spPr>
          <a:xfrm>
            <a:off x="10387584" y="2926080"/>
            <a:ext cx="1188720" cy="384048"/>
          </a:xfrm>
          <a:prstGeom prst="roundRect">
            <a:avLst>
              <a:gd name="adj" fmla="val 19048"/>
            </a:avLst>
          </a:prstGeom>
          <a:solidFill>
            <a:srgbClr val="1C7293"/>
          </a:solidFill>
          <a:ln/>
        </p:spPr>
      </p:sp>
      <p:sp>
        <p:nvSpPr>
          <p:cNvPr id="19" name="Text 17"/>
          <p:cNvSpPr/>
          <p:nvPr/>
        </p:nvSpPr>
        <p:spPr>
          <a:xfrm>
            <a:off x="10387584" y="2926080"/>
            <a:ext cx="1188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Carries data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8449056" y="3520440"/>
            <a:ext cx="31089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Supplies values: dataset, indices, dates, file names, commands. E.g. -CI, -ED, -LF.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457200" y="5074920"/>
            <a:ext cx="11247120" cy="1005840"/>
          </a:xfrm>
          <a:prstGeom prst="roundRect">
            <a:avLst>
              <a:gd name="adj" fmla="val 9091"/>
            </a:avLst>
          </a:prstGeom>
          <a:solidFill>
            <a:srgbClr val="E3EEF3"/>
          </a:solidFill>
          <a:ln w="12700">
            <a:solidFill>
              <a:srgbClr val="CBDCE6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31520" y="5138928"/>
            <a:ext cx="107899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Notation &amp; filters   </a:t>
            </a:r>
            <a:pPr indent="0" marL="0">
              <a:lnSpc>
                <a:spcPct val="110000"/>
              </a:lnSpc>
              <a:buNone/>
            </a:pPr>
            <a:r>
              <a:rPr lang="en-US" sz="1350" b="1" dirty="0">
                <a:solidFill>
                  <a:srgbClr val="1221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(A|B)</a:t>
            </a:r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short|long form  •  option names are case-insensitive, values are not  •  Get-style filters accept  </a:t>
            </a:r>
            <a:pPr indent="0" marL="0">
              <a:lnSpc>
                <a:spcPct val="110000"/>
              </a:lnSpc>
              <a:buNone/>
            </a:pPr>
            <a:r>
              <a:rPr lang="en-US" sz="1350" b="1" dirty="0">
                <a:solidFill>
                  <a:srgbClr val="065A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! &lt; &gt; &lt;&gt;</a:t>
            </a:r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•  the first  </a:t>
            </a:r>
            <a:pPr indent="0" marL="0">
              <a:lnSpc>
                <a:spcPct val="110000"/>
              </a:lnSpc>
              <a:buNone/>
            </a:pPr>
            <a:r>
              <a:rPr lang="en-US" sz="1350" b="1" dirty="0">
                <a:solidFill>
                  <a:srgbClr val="1221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-DS</a:t>
            </a:r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may omit its option name.</a:t>
            </a:r>
            <a:endParaRPr lang="en-US" sz="1350" dirty="0"/>
          </a:p>
        </p:txBody>
      </p:sp>
      <p:sp>
        <p:nvSpPr>
          <p:cNvPr id="23" name="Text 21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dsupdt  •  Developer &amp; General Usage Guide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11368735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GENERAL USAGE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221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Quick Start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457200" y="1554480"/>
            <a:ext cx="5486400" cy="1298448"/>
          </a:xfrm>
          <a:prstGeom prst="roundRect">
            <a:avLst>
              <a:gd name="adj" fmla="val 5634"/>
            </a:avLst>
          </a:prstGeom>
          <a:solidFill>
            <a:srgbClr val="FFFFFF"/>
          </a:solidFill>
          <a:ln w="12700">
            <a:solidFill>
              <a:srgbClr val="CBDCE6"/>
            </a:solidFill>
            <a:prstDash val="solid"/>
          </a:ln>
          <a:effectLst>
            <a:outerShdw sx="100000" sy="100000" kx="0" ky="0" algn="bl" rotWithShape="0" blurRad="63500" dist="25400" dir="5400000">
              <a:srgbClr val="9FB6C6">
                <a:alpha val="3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13232" y="2011680"/>
            <a:ext cx="384048" cy="384048"/>
          </a:xfrm>
          <a:prstGeom prst="ellipse">
            <a:avLst/>
          </a:prstGeom>
          <a:solidFill>
            <a:srgbClr val="065A82"/>
          </a:solidFill>
          <a:ln/>
        </p:spPr>
      </p:sp>
      <p:sp>
        <p:nvSpPr>
          <p:cNvPr id="6" name="Text 4"/>
          <p:cNvSpPr/>
          <p:nvPr/>
        </p:nvSpPr>
        <p:spPr>
          <a:xfrm>
            <a:off x="713232" y="19842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280160" y="173736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Show a single option's help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1280160" y="2121408"/>
            <a:ext cx="4434840" cy="502920"/>
          </a:xfrm>
          <a:prstGeom prst="roundRect">
            <a:avLst>
              <a:gd name="adj" fmla="val 9091"/>
            </a:avLst>
          </a:prstGeom>
          <a:solidFill>
            <a:srgbClr val="0E1B2E"/>
          </a:solidFill>
          <a:ln/>
        </p:spPr>
      </p:sp>
      <p:sp>
        <p:nvSpPr>
          <p:cNvPr id="9" name="Text 7"/>
          <p:cNvSpPr/>
          <p:nvPr/>
        </p:nvSpPr>
        <p:spPr>
          <a:xfrm>
            <a:off x="1417320" y="2121408"/>
            <a:ext cx="4206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FE0C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dsupdt -h -UF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217920" y="1554480"/>
            <a:ext cx="5486400" cy="1298448"/>
          </a:xfrm>
          <a:prstGeom prst="roundRect">
            <a:avLst>
              <a:gd name="adj" fmla="val 5634"/>
            </a:avLst>
          </a:prstGeom>
          <a:solidFill>
            <a:srgbClr val="FFFFFF"/>
          </a:solidFill>
          <a:ln w="12700">
            <a:solidFill>
              <a:srgbClr val="CBDCE6"/>
            </a:solidFill>
            <a:prstDash val="solid"/>
          </a:ln>
          <a:effectLst>
            <a:outerShdw sx="100000" sy="100000" kx="0" ky="0" algn="bl" rotWithShape="0" blurRad="63500" dist="25400" dir="5400000">
              <a:srgbClr val="9FB6C6">
                <a:alpha val="3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6473952" y="2011680"/>
            <a:ext cx="384048" cy="384048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12" name="Text 10"/>
          <p:cNvSpPr/>
          <p:nvPr/>
        </p:nvSpPr>
        <p:spPr>
          <a:xfrm>
            <a:off x="6473952" y="19842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7040880" y="173736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 update control records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7040880" y="2121408"/>
            <a:ext cx="4434840" cy="502920"/>
          </a:xfrm>
          <a:prstGeom prst="roundRect">
            <a:avLst>
              <a:gd name="adj" fmla="val 9091"/>
            </a:avLst>
          </a:prstGeom>
          <a:solidFill>
            <a:srgbClr val="0E1B2E"/>
          </a:solidFill>
          <a:ln/>
        </p:spPr>
      </p:sp>
      <p:sp>
        <p:nvSpPr>
          <p:cNvPr id="15" name="Text 13"/>
          <p:cNvSpPr/>
          <p:nvPr/>
        </p:nvSpPr>
        <p:spPr>
          <a:xfrm>
            <a:off x="7178040" y="2121408"/>
            <a:ext cx="4206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FE0C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dsupdt d540000 -GC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457200" y="3054096"/>
            <a:ext cx="5486400" cy="1298448"/>
          </a:xfrm>
          <a:prstGeom prst="roundRect">
            <a:avLst>
              <a:gd name="adj" fmla="val 5634"/>
            </a:avLst>
          </a:prstGeom>
          <a:solidFill>
            <a:srgbClr val="FFFFFF"/>
          </a:solidFill>
          <a:ln w="12700">
            <a:solidFill>
              <a:srgbClr val="CBDCE6"/>
            </a:solidFill>
            <a:prstDash val="solid"/>
          </a:ln>
          <a:effectLst>
            <a:outerShdw sx="100000" sy="100000" kx="0" ky="0" algn="bl" rotWithShape="0" blurRad="63500" dist="25400" dir="5400000">
              <a:srgbClr val="9FB6C6">
                <a:alpha val="30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713232" y="3511296"/>
            <a:ext cx="384048" cy="384048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18" name="Text 16"/>
          <p:cNvSpPr/>
          <p:nvPr/>
        </p:nvSpPr>
        <p:spPr>
          <a:xfrm>
            <a:off x="713232" y="348386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1280160" y="3236976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 local file records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1280160" y="3621024"/>
            <a:ext cx="4434840" cy="502920"/>
          </a:xfrm>
          <a:prstGeom prst="roundRect">
            <a:avLst>
              <a:gd name="adj" fmla="val 9091"/>
            </a:avLst>
          </a:prstGeom>
          <a:solidFill>
            <a:srgbClr val="0E1B2E"/>
          </a:solidFill>
          <a:ln/>
        </p:spPr>
      </p:sp>
      <p:sp>
        <p:nvSpPr>
          <p:cNvPr id="21" name="Text 19"/>
          <p:cNvSpPr/>
          <p:nvPr/>
        </p:nvSpPr>
        <p:spPr>
          <a:xfrm>
            <a:off x="1417320" y="3621024"/>
            <a:ext cx="4206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FE0C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dsupdt d540000 -GL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217920" y="3054096"/>
            <a:ext cx="5486400" cy="1298448"/>
          </a:xfrm>
          <a:prstGeom prst="roundRect">
            <a:avLst>
              <a:gd name="adj" fmla="val 5634"/>
            </a:avLst>
          </a:prstGeom>
          <a:solidFill>
            <a:srgbClr val="FFFFFF"/>
          </a:solidFill>
          <a:ln w="12700">
            <a:solidFill>
              <a:srgbClr val="CBDCE6"/>
            </a:solidFill>
            <a:prstDash val="solid"/>
          </a:ln>
          <a:effectLst>
            <a:outerShdw sx="100000" sy="100000" kx="0" ky="0" algn="bl" rotWithShape="0" blurRad="63500" dist="25400" dir="5400000">
              <a:srgbClr val="9FB6C6">
                <a:alpha val="30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6473952" y="3511296"/>
            <a:ext cx="384048" cy="384048"/>
          </a:xfrm>
          <a:prstGeom prst="ellipse">
            <a:avLst/>
          </a:prstGeom>
          <a:solidFill>
            <a:srgbClr val="2E8B7A"/>
          </a:solidFill>
          <a:ln/>
        </p:spPr>
      </p:sp>
      <p:sp>
        <p:nvSpPr>
          <p:cNvPr id="24" name="Text 22"/>
          <p:cNvSpPr/>
          <p:nvPr/>
        </p:nvSpPr>
        <p:spPr>
          <a:xfrm>
            <a:off x="6473952" y="348386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1800" dirty="0"/>
          </a:p>
        </p:txBody>
      </p:sp>
      <p:sp>
        <p:nvSpPr>
          <p:cNvPr id="25" name="Text 23"/>
          <p:cNvSpPr/>
          <p:nvPr/>
        </p:nvSpPr>
        <p:spPr>
          <a:xfrm>
            <a:off x="7040880" y="3236976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download–build–archive</a:t>
            </a:r>
            <a:endParaRPr lang="en-US" sz="1400" dirty="0"/>
          </a:p>
        </p:txBody>
      </p:sp>
      <p:sp>
        <p:nvSpPr>
          <p:cNvPr id="26" name="Shape 24"/>
          <p:cNvSpPr/>
          <p:nvPr/>
        </p:nvSpPr>
        <p:spPr>
          <a:xfrm>
            <a:off x="7040880" y="3621024"/>
            <a:ext cx="4434840" cy="502920"/>
          </a:xfrm>
          <a:prstGeom prst="roundRect">
            <a:avLst>
              <a:gd name="adj" fmla="val 9091"/>
            </a:avLst>
          </a:prstGeom>
          <a:solidFill>
            <a:srgbClr val="0E1B2E"/>
          </a:solidFill>
          <a:ln/>
        </p:spPr>
      </p:sp>
      <p:sp>
        <p:nvSpPr>
          <p:cNvPr id="27" name="Text 25"/>
          <p:cNvSpPr/>
          <p:nvPr/>
        </p:nvSpPr>
        <p:spPr>
          <a:xfrm>
            <a:off x="7178040" y="3621024"/>
            <a:ext cx="4206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FE0C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dsupdt d540000 -UF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457200" y="4553712"/>
            <a:ext cx="5486400" cy="1298448"/>
          </a:xfrm>
          <a:prstGeom prst="roundRect">
            <a:avLst>
              <a:gd name="adj" fmla="val 5634"/>
            </a:avLst>
          </a:prstGeom>
          <a:solidFill>
            <a:srgbClr val="FFFFFF"/>
          </a:solidFill>
          <a:ln w="12700">
            <a:solidFill>
              <a:srgbClr val="CBDCE6"/>
            </a:solidFill>
            <a:prstDash val="solid"/>
          </a:ln>
          <a:effectLst>
            <a:outerShdw sx="100000" sy="100000" kx="0" ky="0" algn="bl" rotWithShape="0" blurRad="63500" dist="25400" dir="5400000">
              <a:srgbClr val="9FB6C6">
                <a:alpha val="30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713232" y="5010912"/>
            <a:ext cx="384048" cy="384048"/>
          </a:xfrm>
          <a:prstGeom prst="ellipse">
            <a:avLst/>
          </a:prstGeom>
          <a:solidFill>
            <a:srgbClr val="2E8B7A"/>
          </a:solidFill>
          <a:ln/>
        </p:spPr>
      </p:sp>
      <p:sp>
        <p:nvSpPr>
          <p:cNvPr id="30" name="Text 28"/>
          <p:cNvSpPr/>
          <p:nvPr/>
        </p:nvSpPr>
        <p:spPr>
          <a:xfrm>
            <a:off x="713232" y="4983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1800" dirty="0"/>
          </a:p>
        </p:txBody>
      </p:sp>
      <p:sp>
        <p:nvSpPr>
          <p:cNvPr id="31" name="Text 29"/>
          <p:cNvSpPr/>
          <p:nvPr/>
        </p:nvSpPr>
        <p:spPr>
          <a:xfrm>
            <a:off x="1280160" y="4736592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Process all elapsed periods</a:t>
            </a:r>
            <a:endParaRPr lang="en-US" sz="1400" dirty="0"/>
          </a:p>
        </p:txBody>
      </p:sp>
      <p:sp>
        <p:nvSpPr>
          <p:cNvPr id="32" name="Shape 30"/>
          <p:cNvSpPr/>
          <p:nvPr/>
        </p:nvSpPr>
        <p:spPr>
          <a:xfrm>
            <a:off x="1280160" y="5120640"/>
            <a:ext cx="4434840" cy="502920"/>
          </a:xfrm>
          <a:prstGeom prst="roundRect">
            <a:avLst>
              <a:gd name="adj" fmla="val 9091"/>
            </a:avLst>
          </a:prstGeom>
          <a:solidFill>
            <a:srgbClr val="0E1B2E"/>
          </a:solidFill>
          <a:ln/>
        </p:spPr>
      </p:sp>
      <p:sp>
        <p:nvSpPr>
          <p:cNvPr id="33" name="Text 31"/>
          <p:cNvSpPr/>
          <p:nvPr/>
        </p:nvSpPr>
        <p:spPr>
          <a:xfrm>
            <a:off x="1417320" y="5120640"/>
            <a:ext cx="4206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FE0C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dsupdt d540000 -UF -MU -IE</a:t>
            </a:r>
            <a:endParaRPr lang="en-US" sz="1300" dirty="0"/>
          </a:p>
        </p:txBody>
      </p:sp>
      <p:sp>
        <p:nvSpPr>
          <p:cNvPr id="34" name="Shape 32"/>
          <p:cNvSpPr/>
          <p:nvPr/>
        </p:nvSpPr>
        <p:spPr>
          <a:xfrm>
            <a:off x="6217920" y="4553712"/>
            <a:ext cx="5486400" cy="1298448"/>
          </a:xfrm>
          <a:prstGeom prst="roundRect">
            <a:avLst>
              <a:gd name="adj" fmla="val 5634"/>
            </a:avLst>
          </a:prstGeom>
          <a:solidFill>
            <a:srgbClr val="FFFFFF"/>
          </a:solidFill>
          <a:ln w="12700">
            <a:solidFill>
              <a:srgbClr val="CBDCE6"/>
            </a:solidFill>
            <a:prstDash val="solid"/>
          </a:ln>
          <a:effectLst>
            <a:outerShdw sx="100000" sy="100000" kx="0" ky="0" algn="bl" rotWithShape="0" blurRad="63500" dist="25400" dir="5400000">
              <a:srgbClr val="9FB6C6">
                <a:alpha val="30000"/>
              </a:srgbClr>
            </a:outerShdw>
          </a:effectLst>
        </p:spPr>
      </p:sp>
      <p:sp>
        <p:nvSpPr>
          <p:cNvPr id="35" name="Shape 33"/>
          <p:cNvSpPr/>
          <p:nvPr/>
        </p:nvSpPr>
        <p:spPr>
          <a:xfrm>
            <a:off x="6473952" y="5010912"/>
            <a:ext cx="384048" cy="384048"/>
          </a:xfrm>
          <a:prstGeom prst="ellipse">
            <a:avLst/>
          </a:prstGeom>
          <a:solidFill>
            <a:srgbClr val="E8963A"/>
          </a:solidFill>
          <a:ln/>
        </p:spPr>
      </p:sp>
      <p:sp>
        <p:nvSpPr>
          <p:cNvPr id="36" name="Text 34"/>
          <p:cNvSpPr/>
          <p:nvPr/>
        </p:nvSpPr>
        <p:spPr>
          <a:xfrm>
            <a:off x="6473952" y="4983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1800" dirty="0"/>
          </a:p>
        </p:txBody>
      </p:sp>
      <p:sp>
        <p:nvSpPr>
          <p:cNvPr id="37" name="Text 35"/>
          <p:cNvSpPr/>
          <p:nvPr/>
        </p:nvSpPr>
        <p:spPr>
          <a:xfrm>
            <a:off x="7040880" y="4736592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remote-file availability</a:t>
            </a:r>
            <a:endParaRPr lang="en-US" sz="1400" dirty="0"/>
          </a:p>
        </p:txBody>
      </p:sp>
      <p:sp>
        <p:nvSpPr>
          <p:cNvPr id="38" name="Shape 36"/>
          <p:cNvSpPr/>
          <p:nvPr/>
        </p:nvSpPr>
        <p:spPr>
          <a:xfrm>
            <a:off x="7040880" y="5120640"/>
            <a:ext cx="4434840" cy="502920"/>
          </a:xfrm>
          <a:prstGeom prst="roundRect">
            <a:avLst>
              <a:gd name="adj" fmla="val 9091"/>
            </a:avLst>
          </a:prstGeom>
          <a:solidFill>
            <a:srgbClr val="0E1B2E"/>
          </a:solidFill>
          <a:ln/>
        </p:spPr>
      </p:sp>
      <p:sp>
        <p:nvSpPr>
          <p:cNvPr id="39" name="Text 37"/>
          <p:cNvSpPr/>
          <p:nvPr/>
        </p:nvSpPr>
        <p:spPr>
          <a:xfrm>
            <a:off x="7178040" y="5120640"/>
            <a:ext cx="4206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FE0C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dsupdt d540000 -CU</a:t>
            </a:r>
            <a:endParaRPr lang="en-US" sz="1300" dirty="0"/>
          </a:p>
        </p:txBody>
      </p:sp>
      <p:sp>
        <p:nvSpPr>
          <p:cNvPr id="40" name="Text 38"/>
          <p:cNvSpPr/>
          <p:nvPr/>
        </p:nvSpPr>
        <p:spPr>
          <a:xfrm>
            <a:off x="457200" y="594360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89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Tip:  </a:t>
            </a:r>
            <a:pPr algn="ctr" indent="0" marL="0">
              <a:buNone/>
            </a:pPr>
            <a:r>
              <a:rPr lang="en-US" sz="13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 </a:t>
            </a:r>
            <a:pPr algn="ctr" indent="0" marL="0">
              <a:buNone/>
            </a:pPr>
            <a:r>
              <a:rPr lang="en-US" sz="1300" b="1" dirty="0">
                <a:solidFill>
                  <a:srgbClr val="1221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dsupdt</a:t>
            </a:r>
            <a:pPr algn="ctr" indent="0" marL="0">
              <a:buNone/>
            </a:pPr>
            <a:r>
              <a:rPr lang="en-US" sz="13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with no arguments to page the full guide through  </a:t>
            </a:r>
            <a:pPr algn="ctr" indent="0" marL="0">
              <a:buNone/>
            </a:pPr>
            <a:r>
              <a:rPr lang="en-US" sz="1300" b="1" dirty="0">
                <a:solidFill>
                  <a:srgbClr val="1221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more</a:t>
            </a:r>
            <a:pPr algn="ctr" indent="0" marL="0">
              <a:buNone/>
            </a:pPr>
            <a:r>
              <a:rPr lang="en-US" sz="13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 Omit  </a:t>
            </a:r>
            <a:pPr algn="ctr" indent="0" marL="0">
              <a:buNone/>
            </a:pPr>
            <a:r>
              <a:rPr lang="en-US" sz="1300" b="1" dirty="0">
                <a:solidFill>
                  <a:srgbClr val="1221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-DS</a:t>
            </a:r>
            <a:pPr algn="ctr" indent="0" marL="0">
              <a:buNone/>
            </a:pPr>
            <a:r>
              <a:rPr lang="en-US" sz="13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on Get actions to list records across all of your datasets.</a:t>
            </a:r>
            <a:endParaRPr lang="en-US" sz="1300" dirty="0"/>
          </a:p>
        </p:txBody>
      </p:sp>
      <p:sp>
        <p:nvSpPr>
          <p:cNvPr id="41" name="Text 39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dsupdt  •  Developer &amp; General Usage Guide</a:t>
            </a:r>
            <a:endParaRPr lang="en-US" sz="900" dirty="0"/>
          </a:p>
        </p:txBody>
      </p:sp>
      <p:sp>
        <p:nvSpPr>
          <p:cNvPr id="42" name="Text 40"/>
          <p:cNvSpPr/>
          <p:nvPr/>
        </p:nvSpPr>
        <p:spPr>
          <a:xfrm>
            <a:off x="11368735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DEVELOPER CONFIGURATION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221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Configuration Workflow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457200" y="1554480"/>
            <a:ext cx="3611880" cy="2331720"/>
          </a:xfrm>
          <a:prstGeom prst="roundRect">
            <a:avLst>
              <a:gd name="adj" fmla="val 3922"/>
            </a:avLst>
          </a:prstGeom>
          <a:solidFill>
            <a:srgbClr val="EEF4F8"/>
          </a:solidFill>
          <a:ln w="25400">
            <a:solidFill>
              <a:srgbClr val="065A82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13232" y="1810512"/>
            <a:ext cx="640080" cy="640080"/>
          </a:xfrm>
          <a:prstGeom prst="ellipse">
            <a:avLst/>
          </a:prstGeom>
          <a:solidFill>
            <a:srgbClr val="065A82"/>
          </a:solidFill>
          <a:ln/>
        </p:spPr>
      </p:sp>
      <p:sp>
        <p:nvSpPr>
          <p:cNvPr id="6" name="Text 4"/>
          <p:cNvSpPr/>
          <p:nvPr/>
        </p:nvSpPr>
        <p:spPr>
          <a:xfrm>
            <a:off x="713232" y="1810512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↓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1463040" y="1828800"/>
            <a:ext cx="2423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65A8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GET</a:t>
            </a:r>
            <a:endParaRPr lang="en-US" sz="2400" dirty="0"/>
          </a:p>
        </p:txBody>
      </p:sp>
      <p:sp>
        <p:nvSpPr>
          <p:cNvPr id="8" name="Shape 6"/>
          <p:cNvSpPr/>
          <p:nvPr/>
        </p:nvSpPr>
        <p:spPr>
          <a:xfrm>
            <a:off x="685800" y="2606040"/>
            <a:ext cx="3154680" cy="566928"/>
          </a:xfrm>
          <a:prstGeom prst="roundRect">
            <a:avLst>
              <a:gd name="adj" fmla="val 8065"/>
            </a:avLst>
          </a:prstGeom>
          <a:solidFill>
            <a:srgbClr val="0E1B2E"/>
          </a:solidFill>
          <a:ln/>
        </p:spPr>
      </p:sp>
      <p:sp>
        <p:nvSpPr>
          <p:cNvPr id="9" name="Text 7"/>
          <p:cNvSpPr/>
          <p:nvPr/>
        </p:nvSpPr>
        <p:spPr>
          <a:xfrm>
            <a:off x="804672" y="2606040"/>
            <a:ext cx="29535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FE0C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dsupdt d277000 -GA -OF d277000.all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713232" y="3246120"/>
            <a:ext cx="31546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Dump all control/local/remote records to a file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4023360" y="2103120"/>
            <a:ext cx="3474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400" dirty="0"/>
          </a:p>
        </p:txBody>
      </p:sp>
      <p:sp>
        <p:nvSpPr>
          <p:cNvPr id="12" name="Shape 10"/>
          <p:cNvSpPr/>
          <p:nvPr/>
        </p:nvSpPr>
        <p:spPr>
          <a:xfrm>
            <a:off x="4325112" y="1554480"/>
            <a:ext cx="3611880" cy="2331720"/>
          </a:xfrm>
          <a:prstGeom prst="roundRect">
            <a:avLst>
              <a:gd name="adj" fmla="val 3922"/>
            </a:avLst>
          </a:prstGeom>
          <a:solidFill>
            <a:srgbClr val="EEF4F8"/>
          </a:solidFill>
          <a:ln w="25400">
            <a:solidFill>
              <a:srgbClr val="E8963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581144" y="1810512"/>
            <a:ext cx="640080" cy="640080"/>
          </a:xfrm>
          <a:prstGeom prst="ellipse">
            <a:avLst/>
          </a:prstGeom>
          <a:solidFill>
            <a:srgbClr val="E8963A"/>
          </a:solidFill>
          <a:ln/>
        </p:spPr>
      </p:sp>
      <p:sp>
        <p:nvSpPr>
          <p:cNvPr id="14" name="Text 12"/>
          <p:cNvSpPr/>
          <p:nvPr/>
        </p:nvSpPr>
        <p:spPr>
          <a:xfrm>
            <a:off x="4581144" y="1810512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✎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5330952" y="1828800"/>
            <a:ext cx="2423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E896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EDIT</a:t>
            </a:r>
            <a:endParaRPr lang="en-US" sz="2400" dirty="0"/>
          </a:p>
        </p:txBody>
      </p:sp>
      <p:sp>
        <p:nvSpPr>
          <p:cNvPr id="16" name="Shape 14"/>
          <p:cNvSpPr/>
          <p:nvPr/>
        </p:nvSpPr>
        <p:spPr>
          <a:xfrm>
            <a:off x="4553712" y="2606040"/>
            <a:ext cx="3154680" cy="566928"/>
          </a:xfrm>
          <a:prstGeom prst="roundRect">
            <a:avLst>
              <a:gd name="adj" fmla="val 8065"/>
            </a:avLst>
          </a:prstGeom>
          <a:solidFill>
            <a:srgbClr val="0E1B2E"/>
          </a:solidFill>
          <a:ln/>
        </p:spPr>
      </p:sp>
      <p:sp>
        <p:nvSpPr>
          <p:cNvPr id="17" name="Text 15"/>
          <p:cNvSpPr/>
          <p:nvPr/>
        </p:nvSpPr>
        <p:spPr>
          <a:xfrm>
            <a:off x="4672584" y="2606040"/>
            <a:ext cx="29535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FE0C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vi d277000.all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4581144" y="3246120"/>
            <a:ext cx="31546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Adjust values; sections [DCUPDT] [DLUPDT] [DRUPDT]</a:t>
            </a:r>
            <a:endParaRPr lang="en-US" sz="1250" dirty="0"/>
          </a:p>
        </p:txBody>
      </p:sp>
      <p:sp>
        <p:nvSpPr>
          <p:cNvPr id="19" name="Text 17"/>
          <p:cNvSpPr/>
          <p:nvPr/>
        </p:nvSpPr>
        <p:spPr>
          <a:xfrm>
            <a:off x="7891272" y="2103120"/>
            <a:ext cx="3474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400" dirty="0"/>
          </a:p>
        </p:txBody>
      </p:sp>
      <p:sp>
        <p:nvSpPr>
          <p:cNvPr id="20" name="Shape 18"/>
          <p:cNvSpPr/>
          <p:nvPr/>
        </p:nvSpPr>
        <p:spPr>
          <a:xfrm>
            <a:off x="8193024" y="1554480"/>
            <a:ext cx="3611880" cy="2331720"/>
          </a:xfrm>
          <a:prstGeom prst="roundRect">
            <a:avLst>
              <a:gd name="adj" fmla="val 3922"/>
            </a:avLst>
          </a:prstGeom>
          <a:solidFill>
            <a:srgbClr val="EEF4F8"/>
          </a:solidFill>
          <a:ln w="25400">
            <a:solidFill>
              <a:srgbClr val="2E8B7A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8449056" y="1810512"/>
            <a:ext cx="640080" cy="640080"/>
          </a:xfrm>
          <a:prstGeom prst="ellipse">
            <a:avLst/>
          </a:prstGeom>
          <a:solidFill>
            <a:srgbClr val="2E8B7A"/>
          </a:solidFill>
          <a:ln/>
        </p:spPr>
      </p:sp>
      <p:sp>
        <p:nvSpPr>
          <p:cNvPr id="22" name="Text 20"/>
          <p:cNvSpPr/>
          <p:nvPr/>
        </p:nvSpPr>
        <p:spPr>
          <a:xfrm>
            <a:off x="8449056" y="1810512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↑</a:t>
            </a:r>
            <a:endParaRPr lang="en-US" sz="2200" dirty="0"/>
          </a:p>
        </p:txBody>
      </p:sp>
      <p:sp>
        <p:nvSpPr>
          <p:cNvPr id="23" name="Text 21"/>
          <p:cNvSpPr/>
          <p:nvPr/>
        </p:nvSpPr>
        <p:spPr>
          <a:xfrm>
            <a:off x="9198864" y="1828800"/>
            <a:ext cx="2423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E8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SET</a:t>
            </a:r>
            <a:endParaRPr lang="en-US" sz="2400" dirty="0"/>
          </a:p>
        </p:txBody>
      </p:sp>
      <p:sp>
        <p:nvSpPr>
          <p:cNvPr id="24" name="Shape 22"/>
          <p:cNvSpPr/>
          <p:nvPr/>
        </p:nvSpPr>
        <p:spPr>
          <a:xfrm>
            <a:off x="8421624" y="2606040"/>
            <a:ext cx="3154680" cy="566928"/>
          </a:xfrm>
          <a:prstGeom prst="roundRect">
            <a:avLst>
              <a:gd name="adj" fmla="val 8065"/>
            </a:avLst>
          </a:prstGeom>
          <a:solidFill>
            <a:srgbClr val="0E1B2E"/>
          </a:solidFill>
          <a:ln/>
        </p:spPr>
      </p:sp>
      <p:sp>
        <p:nvSpPr>
          <p:cNvPr id="25" name="Text 23"/>
          <p:cNvSpPr/>
          <p:nvPr/>
        </p:nvSpPr>
        <p:spPr>
          <a:xfrm>
            <a:off x="8540496" y="2606040"/>
            <a:ext cx="29535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FE0C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dsupdt d277000 -SA -IF d277000.all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8449056" y="3246120"/>
            <a:ext cx="31546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Apply the edited file back to GDEXDB</a:t>
            </a:r>
            <a:endParaRPr lang="en-US" sz="1250" dirty="0"/>
          </a:p>
        </p:txBody>
      </p:sp>
      <p:sp>
        <p:nvSpPr>
          <p:cNvPr id="27" name="Shape 25"/>
          <p:cNvSpPr/>
          <p:nvPr/>
        </p:nvSpPr>
        <p:spPr>
          <a:xfrm>
            <a:off x="457200" y="4160520"/>
            <a:ext cx="11247120" cy="1920240"/>
          </a:xfrm>
          <a:prstGeom prst="roundRect">
            <a:avLst>
              <a:gd name="adj" fmla="val 4762"/>
            </a:avLst>
          </a:prstGeom>
          <a:solidFill>
            <a:srgbClr val="FFFFFF"/>
          </a:solidFill>
          <a:ln w="12700">
            <a:solidFill>
              <a:srgbClr val="CBDCE6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85800" y="429768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Input file (-IF) format</a:t>
            </a:r>
            <a:endParaRPr lang="en-US" sz="1500" dirty="0"/>
          </a:p>
        </p:txBody>
      </p:sp>
      <p:sp>
        <p:nvSpPr>
          <p:cNvPr id="29" name="Text 27"/>
          <p:cNvSpPr/>
          <p:nvPr/>
        </p:nvSpPr>
        <p:spPr>
          <a:xfrm>
            <a:off x="822960" y="470916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221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...</a:t>
            </a:r>
            <a:endParaRPr lang="en-US" sz="1250" dirty="0"/>
          </a:p>
        </p:txBody>
      </p:sp>
      <p:sp>
        <p:nvSpPr>
          <p:cNvPr id="30" name="Text 28"/>
          <p:cNvSpPr/>
          <p:nvPr/>
        </p:nvSpPr>
        <p:spPr>
          <a:xfrm>
            <a:off x="4114800" y="4709160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comment line</a:t>
            </a:r>
            <a:endParaRPr lang="en-US" sz="1250" dirty="0"/>
          </a:p>
        </p:txBody>
      </p:sp>
      <p:sp>
        <p:nvSpPr>
          <p:cNvPr id="31" name="Text 29"/>
          <p:cNvSpPr/>
          <p:nvPr/>
        </p:nvSpPr>
        <p:spPr>
          <a:xfrm>
            <a:off x="822960" y="498348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221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Dataset&lt;=&gt;d277000</a:t>
            </a:r>
            <a:endParaRPr lang="en-US" sz="1250" dirty="0"/>
          </a:p>
        </p:txBody>
      </p:sp>
      <p:sp>
        <p:nvSpPr>
          <p:cNvPr id="32" name="Text 30"/>
          <p:cNvSpPr/>
          <p:nvPr/>
        </p:nvSpPr>
        <p:spPr>
          <a:xfrm>
            <a:off x="4114800" y="4983480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single-value assignment  ( -ES sets '&lt;=&gt;' )</a:t>
            </a:r>
            <a:endParaRPr lang="en-US" sz="1250" dirty="0"/>
          </a:p>
        </p:txBody>
      </p:sp>
      <p:sp>
        <p:nvSpPr>
          <p:cNvPr id="33" name="Text 31"/>
          <p:cNvSpPr/>
          <p:nvPr/>
        </p:nvSpPr>
        <p:spPr>
          <a:xfrm>
            <a:off x="822960" y="525780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221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SC&lt;!&gt;</a:t>
            </a:r>
            <a:endParaRPr lang="en-US" sz="1250" dirty="0"/>
          </a:p>
        </p:txBody>
      </p:sp>
      <p:sp>
        <p:nvSpPr>
          <p:cNvPr id="34" name="Text 32"/>
          <p:cNvSpPr/>
          <p:nvPr/>
        </p:nvSpPr>
        <p:spPr>
          <a:xfrm>
            <a:off x="4114800" y="5257800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/ Mode marker  ( -AO sets '&lt;!&gt;' )</a:t>
            </a:r>
            <a:endParaRPr lang="en-US" sz="1250" dirty="0"/>
          </a:p>
        </p:txBody>
      </p:sp>
      <p:sp>
        <p:nvSpPr>
          <p:cNvPr id="35" name="Text 33"/>
          <p:cNvSpPr/>
          <p:nvPr/>
        </p:nvSpPr>
        <p:spPr>
          <a:xfrm>
            <a:off x="822960" y="553212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221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col1&lt;:&gt;col2&lt;:&gt;</a:t>
            </a:r>
            <a:endParaRPr lang="en-US" sz="1250" dirty="0"/>
          </a:p>
        </p:txBody>
      </p:sp>
      <p:sp>
        <p:nvSpPr>
          <p:cNvPr id="36" name="Text 34"/>
          <p:cNvSpPr/>
          <p:nvPr/>
        </p:nvSpPr>
        <p:spPr>
          <a:xfrm>
            <a:off x="4114800" y="5532120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tabular header row  ( -DV sets '&lt;:&gt;' )</a:t>
            </a:r>
            <a:endParaRPr lang="en-US" sz="1250" dirty="0"/>
          </a:p>
        </p:txBody>
      </p:sp>
      <p:sp>
        <p:nvSpPr>
          <p:cNvPr id="37" name="Text 35"/>
          <p:cNvSpPr/>
          <p:nvPr/>
        </p:nvSpPr>
        <p:spPr>
          <a:xfrm>
            <a:off x="822960" y="580644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221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dNNNNNN.*</a:t>
            </a:r>
            <a:endParaRPr lang="en-US" sz="1250" dirty="0"/>
          </a:p>
        </p:txBody>
      </p:sp>
      <p:sp>
        <p:nvSpPr>
          <p:cNvPr id="38" name="Text 36"/>
          <p:cNvSpPr/>
          <p:nvPr/>
        </p:nvSpPr>
        <p:spPr>
          <a:xfrm>
            <a:off x="4114800" y="5806440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file name must start with the dataset number</a:t>
            </a:r>
            <a:endParaRPr lang="en-US" sz="1250" dirty="0"/>
          </a:p>
        </p:txBody>
      </p:sp>
      <p:sp>
        <p:nvSpPr>
          <p:cNvPr id="39" name="Text 37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dsupdt  •  Developer &amp; General Usage Guide</a:t>
            </a:r>
            <a:endParaRPr lang="en-US" sz="900" dirty="0"/>
          </a:p>
        </p:txBody>
      </p:sp>
      <p:sp>
        <p:nvSpPr>
          <p:cNvPr id="40" name="Text 38"/>
          <p:cNvSpPr/>
          <p:nvPr/>
        </p:nvSpPr>
        <p:spPr>
          <a:xfrm>
            <a:off x="11368735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DEVELOPER CONFIGURATION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221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Web Config Editor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57200" y="146304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three record types can be edited in a browser — no </a:t>
            </a:r>
            <a:pPr indent="0" marL="0">
              <a:lnSpc>
                <a:spcPct val="110000"/>
              </a:lnSpc>
              <a:buNone/>
            </a:pPr>
            <a:r>
              <a:rPr lang="en-US" sz="1500" b="1" dirty="0">
                <a:solidFill>
                  <a:srgbClr val="065A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-GA / -SA</a:t>
            </a:r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Get/Edit/Set round-trip. Open the </a:t>
            </a:r>
            <a:pPr indent="0" marL="0">
              <a:lnSpc>
                <a:spcPct val="110000"/>
              </a:lnSpc>
              <a:buNone/>
            </a:pPr>
            <a:r>
              <a:rPr lang="en-US" sz="150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RDAMS PostgreSQL Configuration Editor</a:t>
            </a:r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and expand the </a:t>
            </a:r>
            <a:pPr indent="0" marL="0">
              <a:lnSpc>
                <a:spcPct val="110000"/>
              </a:lnSpc>
              <a:buNone/>
            </a:pPr>
            <a:r>
              <a:rPr lang="en-US" sz="15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DSUPDT</a:t>
            </a:r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menu.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457200" y="2148840"/>
            <a:ext cx="11274552" cy="502920"/>
          </a:xfrm>
          <a:prstGeom prst="roundRect">
            <a:avLst>
              <a:gd name="adj" fmla="val 10909"/>
            </a:avLst>
          </a:prstGeom>
          <a:solidFill>
            <a:srgbClr val="0E1B2E"/>
          </a:solidFill>
          <a:ln/>
        </p:spPr>
      </p:sp>
      <p:sp>
        <p:nvSpPr>
          <p:cNvPr id="6" name="Text 4"/>
          <p:cNvSpPr/>
          <p:nvPr/>
        </p:nvSpPr>
        <p:spPr>
          <a:xfrm>
            <a:off x="713232" y="2148840"/>
            <a:ext cx="10972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FE0C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gdex.ucar.edu/rda_pg_config</a:t>
            </a:r>
            <a:pPr indent="0" marL="0">
              <a:buNone/>
            </a:pPr>
            <a:r>
              <a:rPr lang="en-US" sz="1300" dirty="0">
                <a:solidFill>
                  <a:srgbClr val="E896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›  DSUPDT  ›  Update Control | Local File | Remote File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57200" y="2926080"/>
            <a:ext cx="3611880" cy="2148840"/>
          </a:xfrm>
          <a:prstGeom prst="roundRect">
            <a:avLst>
              <a:gd name="adj" fmla="val 4255"/>
            </a:avLst>
          </a:prstGeom>
          <a:solidFill>
            <a:srgbClr val="EEF4F8"/>
          </a:solidFill>
          <a:ln w="25400">
            <a:solidFill>
              <a:srgbClr val="065A82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57200" y="2926080"/>
            <a:ext cx="3611880" cy="548640"/>
          </a:xfrm>
          <a:prstGeom prst="roundRect">
            <a:avLst>
              <a:gd name="adj" fmla="val 16667"/>
            </a:avLst>
          </a:prstGeom>
          <a:solidFill>
            <a:srgbClr val="065A82"/>
          </a:solidFill>
          <a:ln/>
        </p:spPr>
      </p:sp>
      <p:sp>
        <p:nvSpPr>
          <p:cNvPr id="9" name="Shape 7"/>
          <p:cNvSpPr/>
          <p:nvPr/>
        </p:nvSpPr>
        <p:spPr>
          <a:xfrm>
            <a:off x="457200" y="3273552"/>
            <a:ext cx="3611880" cy="201168"/>
          </a:xfrm>
          <a:prstGeom prst="rect">
            <a:avLst/>
          </a:prstGeom>
          <a:solidFill>
            <a:srgbClr val="065A82"/>
          </a:solidFill>
          <a:ln/>
        </p:spPr>
      </p:sp>
      <p:sp>
        <p:nvSpPr>
          <p:cNvPr id="10" name="Text 8"/>
          <p:cNvSpPr/>
          <p:nvPr/>
        </p:nvSpPr>
        <p:spPr>
          <a:xfrm>
            <a:off x="658368" y="2926080"/>
            <a:ext cx="32095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Update Control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685800" y="3621024"/>
            <a:ext cx="3154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C6E7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dsupdt_control.php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685800" y="3931920"/>
            <a:ext cx="3154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65A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dcupdt • -SC / -GC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685800" y="4279392"/>
            <a:ext cx="3154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frequency, next-due, actions, e-mail &amp; error controls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4325112" y="2926080"/>
            <a:ext cx="3611880" cy="2148840"/>
          </a:xfrm>
          <a:prstGeom prst="roundRect">
            <a:avLst>
              <a:gd name="adj" fmla="val 4255"/>
            </a:avLst>
          </a:prstGeom>
          <a:solidFill>
            <a:srgbClr val="EEF4F8"/>
          </a:solidFill>
          <a:ln w="25400">
            <a:solidFill>
              <a:srgbClr val="1C7293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325112" y="2926080"/>
            <a:ext cx="3611880" cy="548640"/>
          </a:xfrm>
          <a:prstGeom prst="roundRect">
            <a:avLst>
              <a:gd name="adj" fmla="val 16667"/>
            </a:avLst>
          </a:prstGeom>
          <a:solidFill>
            <a:srgbClr val="1C7293"/>
          </a:solidFill>
          <a:ln/>
        </p:spPr>
      </p:sp>
      <p:sp>
        <p:nvSpPr>
          <p:cNvPr id="16" name="Shape 14"/>
          <p:cNvSpPr/>
          <p:nvPr/>
        </p:nvSpPr>
        <p:spPr>
          <a:xfrm>
            <a:off x="4325112" y="3273552"/>
            <a:ext cx="3611880" cy="201168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17" name="Text 15"/>
          <p:cNvSpPr/>
          <p:nvPr/>
        </p:nvSpPr>
        <p:spPr>
          <a:xfrm>
            <a:off x="4526280" y="2926080"/>
            <a:ext cx="32095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Local File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4553712" y="3621024"/>
            <a:ext cx="3154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C6E7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dsupdt_localfile.php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4553712" y="3931920"/>
            <a:ext cx="3154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C729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dlupdt • -SL / -GL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4553712" y="4279392"/>
            <a:ext cx="3154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file names, patterns, build / convert commands, archive action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8193024" y="2926080"/>
            <a:ext cx="3611880" cy="2148840"/>
          </a:xfrm>
          <a:prstGeom prst="roundRect">
            <a:avLst>
              <a:gd name="adj" fmla="val 4255"/>
            </a:avLst>
          </a:prstGeom>
          <a:solidFill>
            <a:srgbClr val="EEF4F8"/>
          </a:solidFill>
          <a:ln w="25400">
            <a:solidFill>
              <a:srgbClr val="2E8B7A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8193024" y="2926080"/>
            <a:ext cx="3611880" cy="548640"/>
          </a:xfrm>
          <a:prstGeom prst="roundRect">
            <a:avLst>
              <a:gd name="adj" fmla="val 16667"/>
            </a:avLst>
          </a:prstGeom>
          <a:solidFill>
            <a:srgbClr val="2E8B7A"/>
          </a:solidFill>
          <a:ln/>
        </p:spPr>
      </p:sp>
      <p:sp>
        <p:nvSpPr>
          <p:cNvPr id="23" name="Shape 21"/>
          <p:cNvSpPr/>
          <p:nvPr/>
        </p:nvSpPr>
        <p:spPr>
          <a:xfrm>
            <a:off x="8193024" y="3273552"/>
            <a:ext cx="3611880" cy="201168"/>
          </a:xfrm>
          <a:prstGeom prst="rect">
            <a:avLst/>
          </a:prstGeom>
          <a:solidFill>
            <a:srgbClr val="2E8B7A"/>
          </a:solidFill>
          <a:ln/>
        </p:spPr>
      </p:sp>
      <p:sp>
        <p:nvSpPr>
          <p:cNvPr id="24" name="Text 22"/>
          <p:cNvSpPr/>
          <p:nvPr/>
        </p:nvSpPr>
        <p:spPr>
          <a:xfrm>
            <a:off x="8394192" y="2926080"/>
            <a:ext cx="32095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Remote File</a:t>
            </a:r>
            <a:endParaRPr lang="en-US" sz="1700" dirty="0"/>
          </a:p>
        </p:txBody>
      </p:sp>
      <p:sp>
        <p:nvSpPr>
          <p:cNvPr id="25" name="Text 23"/>
          <p:cNvSpPr/>
          <p:nvPr/>
        </p:nvSpPr>
        <p:spPr>
          <a:xfrm>
            <a:off x="8421624" y="3621024"/>
            <a:ext cx="3154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C6E7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dsupdt_remotefile.php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8421624" y="3931920"/>
            <a:ext cx="3154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E8B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drupdt • -SR / -GR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8421624" y="4279392"/>
            <a:ext cx="3154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remote &amp; server names, download command &amp; order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457200" y="5394960"/>
            <a:ext cx="11274552" cy="822960"/>
          </a:xfrm>
          <a:prstGeom prst="roundRect">
            <a:avLst>
              <a:gd name="adj" fmla="val 11111"/>
            </a:avLst>
          </a:prstGeom>
          <a:solidFill>
            <a:srgbClr val="E3EEF3"/>
          </a:solidFill>
          <a:ln w="12700">
            <a:solidFill>
              <a:srgbClr val="CBDCE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685800" y="5623560"/>
            <a:ext cx="457200" cy="457200"/>
          </a:xfrm>
          <a:prstGeom prst="ellipse">
            <a:avLst/>
          </a:prstGeom>
          <a:solidFill>
            <a:srgbClr val="065A82"/>
          </a:solidFill>
          <a:ln/>
        </p:spPr>
      </p:sp>
      <p:sp>
        <p:nvSpPr>
          <p:cNvPr id="30" name="Text 28"/>
          <p:cNvSpPr/>
          <p:nvPr/>
        </p:nvSpPr>
        <p:spPr>
          <a:xfrm>
            <a:off x="685800" y="56235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✎</a:t>
            </a:r>
            <a:endParaRPr lang="en-US" sz="1600" dirty="0"/>
          </a:p>
        </p:txBody>
      </p:sp>
      <p:sp>
        <p:nvSpPr>
          <p:cNvPr id="31" name="Text 29"/>
          <p:cNvSpPr/>
          <p:nvPr/>
        </p:nvSpPr>
        <p:spPr>
          <a:xfrm>
            <a:off x="1280160" y="5394960"/>
            <a:ext cx="10241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Split-pane editor: </a:t>
            </a:r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pick a dataset &amp; record on top, edit fields below. A record is </a:t>
            </a:r>
            <a:pPr indent="0" marL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locked</a:t>
            </a:r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while open; add, edit, save, or delete, then release. Writes go straight to GDEXDB — identical to the CLI.</a:t>
            </a:r>
            <a:endParaRPr lang="en-US" sz="1250" dirty="0"/>
          </a:p>
        </p:txBody>
      </p:sp>
      <p:sp>
        <p:nvSpPr>
          <p:cNvPr id="32" name="Text 30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dsupdt  •  Developer &amp; General Usage Guide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11368735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DEVELOPER CONFIGURATION • DCUPDT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221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Update Control Record  (-SC)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57200" y="14173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Schedules automatic actions launched by </a:t>
            </a:r>
            <a:pPr indent="0" marL="0">
              <a:buNone/>
            </a:pPr>
            <a:r>
              <a:rPr lang="en-US" sz="14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dscheck</a:t>
            </a:r>
            <a:pPr indent="0" marL="0">
              <a:buNone/>
            </a:pPr>
            <a:r>
              <a:rPr lang="en-US" sz="14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 New record: index </a:t>
            </a:r>
            <a:pPr indent="0" marL="0">
              <a:buNone/>
            </a:pPr>
            <a:r>
              <a:rPr lang="en-US" sz="1400" b="1" dirty="0">
                <a:solidFill>
                  <a:srgbClr val="1221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pPr indent="0" marL="0">
              <a:buNone/>
            </a:pPr>
            <a:r>
              <a:rPr lang="en-US" sz="14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+ </a:t>
            </a:r>
            <a:pPr indent="0" marL="0">
              <a:buNone/>
            </a:pPr>
            <a:r>
              <a:rPr lang="en-US" sz="1400" b="1" dirty="0">
                <a:solidFill>
                  <a:srgbClr val="1221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-NC</a:t>
            </a:r>
            <a:pPr indent="0" marL="0">
              <a:buNone/>
            </a:pPr>
            <a:r>
              <a:rPr lang="en-US" sz="14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 Existing index is modified in place.</a:t>
            </a:r>
            <a:endParaRPr lang="en-US" sz="14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920240"/>
          <a:ext cx="11274552" cy="914400"/>
        </p:xfrm>
        <a:graphic>
          <a:graphicData uri="http://schemas.openxmlformats.org/drawingml/2006/table">
            <a:tbl>
              <a:tblPr/>
              <a:tblGrid>
                <a:gridCol w="1005840"/>
                <a:gridCol w="2377440"/>
                <a:gridCol w="7891272"/>
              </a:tblGrid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Opt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5A8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Long name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5A8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Purpose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5A82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65A8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-AN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ActionName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5C6E7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dsupdt task: UF, DR, BL, PB, CL, CU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65A8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-FQ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Frequency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5C6E7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how often, e.g. 1W, 1M, 6H, 1M/3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65A8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-CO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ControlOffset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5C6E7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delay after period end, e.g. 2D10H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65A8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-CT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ControlTime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5C6E7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next scheduled run  YYYY-MM-DD HH:NN:SS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65A8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-RI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RetryInterval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5C6E7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wait before retry after a failure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65A8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-VI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ValidInterval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5C6E7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how long remote files stay valid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65A8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-PI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ParentIndex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5C6E7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run only after parent control completes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65A8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-UC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UpdateControl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5C6E7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preset modes: B C E F G M N O Y Z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65A8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-MC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EMailControl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5C6E7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 / S / E / B / N report level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65A8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-EC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ErrorControl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5C6E7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 ignore / Q quit / N normal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65A8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-KF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KeepFile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5C6E7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 / R / B / N which files to keep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65A8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-HN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HostName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5C6E7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restrict/allow processing hosts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dsupdt  •  Developer &amp; General Usage Guide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11368735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DEVELOPER CONFIGURATION • DLUPDT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221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Local File Record  (-SL)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57200" y="14173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</a:t>
            </a:r>
            <a:pPr indent="0" marL="0">
              <a:buNone/>
            </a:pPr>
            <a:r>
              <a:rPr lang="en-US" sz="140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minimum</a:t>
            </a:r>
            <a:pPr indent="0" marL="0">
              <a:buNone/>
            </a:pPr>
            <a:r>
              <a:rPr lang="en-US" sz="14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configuration to update a file. Link to a control via </a:t>
            </a:r>
            <a:pPr indent="0" marL="0">
              <a:buNone/>
            </a:pPr>
            <a:r>
              <a:rPr lang="en-US" sz="1400" b="1" dirty="0">
                <a:solidFill>
                  <a:srgbClr val="1C729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-CI</a:t>
            </a:r>
            <a:pPr indent="0" marL="0">
              <a:buNone/>
            </a:pPr>
            <a:r>
              <a:rPr lang="en-US" sz="14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so its scheduled action runs automatically.  New: </a:t>
            </a:r>
            <a:pPr indent="0" marL="0">
              <a:buNone/>
            </a:pPr>
            <a:r>
              <a:rPr lang="en-US" sz="1400" b="1" dirty="0">
                <a:solidFill>
                  <a:srgbClr val="1221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index 0 + -NL</a:t>
            </a:r>
            <a:pPr indent="0" marL="0">
              <a:buNone/>
            </a:pPr>
            <a:r>
              <a:rPr lang="en-US" sz="14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4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920240"/>
          <a:ext cx="5532120" cy="914400"/>
        </p:xfrm>
        <a:graphic>
          <a:graphicData uri="http://schemas.openxmlformats.org/drawingml/2006/table">
            <a:tbl>
              <a:tblPr/>
              <a:tblGrid>
                <a:gridCol w="868680"/>
                <a:gridCol w="1691640"/>
                <a:gridCol w="297180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Opt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729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Long name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729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Purpose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7293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C7293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-LF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LocalFile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5C6E7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name, may embed temporal patterns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C7293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-AN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ActionName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5C6E7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dsarch action: AS, AW, AQ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C7293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-OP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Options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5C6E7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options string passed to dsarch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C7293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-DC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DownloadCommand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5C6E7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fetch/copy/generate the file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C7293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-FQ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Frequency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5C6E7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data cadence, e.g. 1M, 1W, 6H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C7293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-ED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EndDate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5C6E7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data end date of next update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C7293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-EH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EndHour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5C6E7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end hour (sub-daily cadence)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21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99632" y="1920240"/>
          <a:ext cx="5532120" cy="914400"/>
        </p:xfrm>
        <a:graphic>
          <a:graphicData uri="http://schemas.openxmlformats.org/drawingml/2006/table">
            <a:tbl>
              <a:tblPr/>
              <a:tblGrid>
                <a:gridCol w="868680"/>
                <a:gridCol w="1691640"/>
                <a:gridCol w="297180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Opt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729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Long name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729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Purpose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7293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C7293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-DI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DueInterval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5C6E7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end → ready lead time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C7293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-VI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ValidInterval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5C6E7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re-check / hold-open window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C7293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-AT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AgeTime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5C6E7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min remote-file age to fetch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C7293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-WD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WorkDir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5C6E7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staging dir (root $UPDTWKP)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C7293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-PR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ProcessRemote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5C6E7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user validate/convert cmd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C7293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-BC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BuildCommand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5C6E7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user build cmd (vs tar)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C7293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-CL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CleanCommand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5C6E7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remove temp files after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 3"/>
          <p:cNvSpPr/>
          <p:nvPr/>
        </p:nvSpPr>
        <p:spPr>
          <a:xfrm>
            <a:off x="457200" y="489204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E89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Patterns  </a:t>
            </a:r>
            <a:pPr algn="ctr" indent="0" marL="0">
              <a:buNone/>
            </a:pPr>
            <a:r>
              <a:rPr lang="en-US" sz="125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-LF / -RF / -DC / -DE (default delimiters </a:t>
            </a:r>
            <a:pPr algn="ctr" indent="0" marL="0">
              <a:buNone/>
            </a:pPr>
            <a:r>
              <a:rPr lang="en-US" sz="1250" b="1" dirty="0">
                <a:solidFill>
                  <a:srgbClr val="5C6E7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 &gt;</a:t>
            </a:r>
            <a:pPr algn="ctr" indent="0" marL="0">
              <a:buNone/>
            </a:pPr>
            <a:r>
              <a:rPr lang="en-US" sz="125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) are substituted at update time, e.g. </a:t>
            </a:r>
            <a:pPr algn="ctr" indent="0" marL="0">
              <a:buNone/>
            </a:pPr>
            <a:r>
              <a:rPr lang="en-US" sz="1250" b="1" dirty="0">
                <a:solidFill>
                  <a:srgbClr val="1221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file.&lt;YYYYMM&gt;.ext → file.200710.ext</a:t>
            </a:r>
            <a:pPr algn="ctr" indent="0" marL="0">
              <a:buNone/>
            </a:pPr>
            <a:r>
              <a:rPr lang="en-US" sz="125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250" dirty="0"/>
          </a:p>
        </p:txBody>
      </p:sp>
      <p:sp>
        <p:nvSpPr>
          <p:cNvPr id="8" name="Text 4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dsupdt  •  Developer &amp; General Usage Guide</a:t>
            </a:r>
            <a:endParaRPr lang="en-US" sz="900" dirty="0"/>
          </a:p>
        </p:txBody>
      </p:sp>
      <p:sp>
        <p:nvSpPr>
          <p:cNvPr id="9" name="Text 5"/>
          <p:cNvSpPr/>
          <p:nvPr/>
        </p:nvSpPr>
        <p:spPr>
          <a:xfrm>
            <a:off x="11368735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E8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DEVELOPER CONFIGURATION • DRUPDT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221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Remote File Record  (-SR)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57200" y="141732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a remote record only in these three cases: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457200" y="1874520"/>
            <a:ext cx="3611880" cy="1417320"/>
          </a:xfrm>
          <a:prstGeom prst="roundRect">
            <a:avLst>
              <a:gd name="adj" fmla="val 6452"/>
            </a:avLst>
          </a:prstGeom>
          <a:solidFill>
            <a:srgbClr val="EEF4F8"/>
          </a:solidFill>
          <a:ln w="19050">
            <a:solidFill>
              <a:srgbClr val="2E8B7A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76656" y="2276856"/>
            <a:ext cx="603504" cy="603504"/>
          </a:xfrm>
          <a:prstGeom prst="ellipse">
            <a:avLst/>
          </a:prstGeom>
          <a:solidFill>
            <a:srgbClr val="2E8B7A"/>
          </a:solidFill>
          <a:ln/>
        </p:spPr>
      </p:sp>
      <p:sp>
        <p:nvSpPr>
          <p:cNvPr id="7" name="Text 5"/>
          <p:cNvSpPr/>
          <p:nvPr/>
        </p:nvSpPr>
        <p:spPr>
          <a:xfrm>
            <a:off x="676656" y="2276856"/>
            <a:ext cx="6035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≠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1389888" y="2057400"/>
            <a:ext cx="2514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Different name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1389888" y="2441448"/>
            <a:ext cx="2514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remote file name differs from the local file name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325112" y="1874520"/>
            <a:ext cx="3611880" cy="1417320"/>
          </a:xfrm>
          <a:prstGeom prst="roundRect">
            <a:avLst>
              <a:gd name="adj" fmla="val 6452"/>
            </a:avLst>
          </a:prstGeom>
          <a:solidFill>
            <a:srgbClr val="EEF4F8"/>
          </a:solidFill>
          <a:ln w="19050">
            <a:solidFill>
              <a:srgbClr val="2E8B7A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544568" y="2276856"/>
            <a:ext cx="603504" cy="603504"/>
          </a:xfrm>
          <a:prstGeom prst="ellipse">
            <a:avLst/>
          </a:prstGeom>
          <a:solidFill>
            <a:srgbClr val="2E8B7A"/>
          </a:solidFill>
          <a:ln/>
        </p:spPr>
      </p:sp>
      <p:sp>
        <p:nvSpPr>
          <p:cNvPr id="12" name="Text 10"/>
          <p:cNvSpPr/>
          <p:nvPr/>
        </p:nvSpPr>
        <p:spPr>
          <a:xfrm>
            <a:off x="4544568" y="2276856"/>
            <a:ext cx="6035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∑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5257800" y="2057400"/>
            <a:ext cx="2514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Many → one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5257800" y="2441448"/>
            <a:ext cx="2514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several remote files are tarred into one local file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8193024" y="1874520"/>
            <a:ext cx="3611880" cy="1417320"/>
          </a:xfrm>
          <a:prstGeom prst="roundRect">
            <a:avLst>
              <a:gd name="adj" fmla="val 6452"/>
            </a:avLst>
          </a:prstGeom>
          <a:solidFill>
            <a:srgbClr val="EEF4F8"/>
          </a:solidFill>
          <a:ln w="19050">
            <a:solidFill>
              <a:srgbClr val="2E8B7A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412480" y="2276856"/>
            <a:ext cx="603504" cy="603504"/>
          </a:xfrm>
          <a:prstGeom prst="ellipse">
            <a:avLst/>
          </a:prstGeom>
          <a:solidFill>
            <a:srgbClr val="2E8B7A"/>
          </a:solidFill>
          <a:ln/>
        </p:spPr>
      </p:sp>
      <p:sp>
        <p:nvSpPr>
          <p:cNvPr id="17" name="Text 15"/>
          <p:cNvSpPr/>
          <p:nvPr/>
        </p:nvSpPr>
        <p:spPr>
          <a:xfrm>
            <a:off x="8412480" y="2276856"/>
            <a:ext cx="6035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⇄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9125712" y="2057400"/>
            <a:ext cx="2514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Multiple servers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9125712" y="2441448"/>
            <a:ext cx="2514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file available from several servers (-DO order)</a:t>
            </a:r>
            <a:endParaRPr lang="en-US" sz="12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3474720"/>
          <a:ext cx="11274552" cy="914400"/>
        </p:xfrm>
        <a:graphic>
          <a:graphicData uri="http://schemas.openxmlformats.org/drawingml/2006/table">
            <a:tbl>
              <a:tblPr/>
              <a:tblGrid>
                <a:gridCol w="1005840"/>
                <a:gridCol w="2286000"/>
                <a:gridCol w="7982712"/>
              </a:tblGrid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Opt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8B7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Long name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8B7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Purpose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8B7A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2E8B7A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-LI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LocalIndex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5C6E7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local record this remote belongs to (required)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2E8B7A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-RF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RemoteFile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5C6E7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remote name(s); join many with '::' ; '!' = shell cmd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2E8B7A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-SF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ServerFile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5C6E7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name on server if different from remote name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2E8B7A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-DC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DownloadCommand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5C6E7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overrides the local record's command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2E8B7A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-DO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DownloadOrder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5C6E7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try lowest index first, then ascending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2E8B7A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-TI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TimeInterval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5C6E7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one name per sub-period, e.g. 6H, 5D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2E8B7A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-BT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BeginTime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5C6E7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window start (with -TI)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2E8B7A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-ET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EndTime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5C6E7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window end (with -TI)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</a:tr>
            </a:tbl>
          </a:graphicData>
        </a:graphic>
      </p:graphicFrame>
      <p:sp>
        <p:nvSpPr>
          <p:cNvPr id="21" name="Text 18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dsupdt  •  Developer &amp; General Usage Guide</a:t>
            </a:r>
            <a:endParaRPr lang="en-US" sz="900" dirty="0"/>
          </a:p>
        </p:txBody>
      </p:sp>
      <p:sp>
        <p:nvSpPr>
          <p:cNvPr id="22" name="Text 19"/>
          <p:cNvSpPr/>
          <p:nvPr/>
        </p:nvSpPr>
        <p:spPr>
          <a:xfrm>
            <a:off x="11368735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89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UPDATE ACTIONS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221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Update Action Family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457200" y="1554480"/>
            <a:ext cx="2743200" cy="1371600"/>
          </a:xfrm>
          <a:prstGeom prst="roundRect">
            <a:avLst>
              <a:gd name="adj" fmla="val 5333"/>
            </a:avLst>
          </a:prstGeom>
          <a:solidFill>
            <a:srgbClr val="E8963A"/>
          </a:solidFill>
          <a:ln w="12700">
            <a:solidFill>
              <a:srgbClr val="E8963A"/>
            </a:solidFill>
            <a:prstDash val="solid"/>
          </a:ln>
          <a:effectLst>
            <a:outerShdw sx="100000" sy="100000" kx="0" ky="0" algn="bl" rotWithShape="0" blurRad="50800" dist="25400" dir="5400000">
              <a:srgbClr val="9FB6C6">
                <a:alpha val="25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640080" y="1691640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-UF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640080" y="205740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Update File</a:t>
            </a:r>
            <a:endParaRPr lang="en-US" sz="1350" dirty="0"/>
          </a:p>
        </p:txBody>
      </p:sp>
      <p:sp>
        <p:nvSpPr>
          <p:cNvPr id="7" name="Text 5"/>
          <p:cNvSpPr/>
          <p:nvPr/>
        </p:nvSpPr>
        <p:spPr>
          <a:xfrm>
            <a:off x="640080" y="2377440"/>
            <a:ext cx="2423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050" dirty="0">
                <a:solidFill>
                  <a:srgbClr val="F0E4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end-to-end: download → build → archive → clean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3310128" y="1554480"/>
            <a:ext cx="274320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9050">
            <a:solidFill>
              <a:srgbClr val="065A82"/>
            </a:solidFill>
            <a:prstDash val="solid"/>
          </a:ln>
          <a:effectLst>
            <a:outerShdw sx="100000" sy="100000" kx="0" ky="0" algn="bl" rotWithShape="0" blurRad="50800" dist="25400" dir="5400000">
              <a:srgbClr val="9FB6C6">
                <a:alpha val="25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3493008" y="1691640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65A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-DR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3493008" y="205740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Download Remote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3493008" y="2377440"/>
            <a:ext cx="2423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05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fetch/copy/generate remote files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6163056" y="1554480"/>
            <a:ext cx="274320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9050">
            <a:solidFill>
              <a:srgbClr val="1C7293"/>
            </a:solidFill>
            <a:prstDash val="solid"/>
          </a:ln>
          <a:effectLst>
            <a:outerShdw sx="100000" sy="100000" kx="0" ky="0" algn="bl" rotWithShape="0" blurRad="50800" dist="25400" dir="5400000">
              <a:srgbClr val="9FB6C6">
                <a:alpha val="25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6345936" y="1691640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C729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-BL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6345936" y="205740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Local</a:t>
            </a:r>
            <a:endParaRPr lang="en-US" sz="1350" dirty="0"/>
          </a:p>
        </p:txBody>
      </p:sp>
      <p:sp>
        <p:nvSpPr>
          <p:cNvPr id="15" name="Text 13"/>
          <p:cNvSpPr/>
          <p:nvPr/>
        </p:nvSpPr>
        <p:spPr>
          <a:xfrm>
            <a:off x="6345936" y="2377440"/>
            <a:ext cx="2423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05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validate, convert, tar/compress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9015984" y="1554480"/>
            <a:ext cx="274320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9050">
            <a:solidFill>
              <a:srgbClr val="2E8B7A"/>
            </a:solidFill>
            <a:prstDash val="solid"/>
          </a:ln>
          <a:effectLst>
            <a:outerShdw sx="100000" sy="100000" kx="0" ky="0" algn="bl" rotWithShape="0" blurRad="50800" dist="25400" dir="5400000">
              <a:srgbClr val="9FB6C6">
                <a:alpha val="25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9198864" y="1691640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E8B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-PB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9198864" y="205740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Process Both</a:t>
            </a:r>
            <a:endParaRPr lang="en-US" sz="1350" dirty="0"/>
          </a:p>
        </p:txBody>
      </p:sp>
      <p:sp>
        <p:nvSpPr>
          <p:cNvPr id="19" name="Text 17"/>
          <p:cNvSpPr/>
          <p:nvPr/>
        </p:nvSpPr>
        <p:spPr>
          <a:xfrm>
            <a:off x="9198864" y="2377440"/>
            <a:ext cx="2423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05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download + build in one step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457200" y="3108960"/>
            <a:ext cx="274320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9050">
            <a:solidFill>
              <a:srgbClr val="065A82"/>
            </a:solidFill>
            <a:prstDash val="solid"/>
          </a:ln>
          <a:effectLst>
            <a:outerShdw sx="100000" sy="100000" kx="0" ky="0" algn="bl" rotWithShape="0" blurRad="50800" dist="25400" dir="5400000">
              <a:srgbClr val="9FB6C6">
                <a:alpha val="25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640080" y="3246120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65A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-AF</a:t>
            </a:r>
            <a:endParaRPr lang="en-US" sz="2000" dirty="0"/>
          </a:p>
        </p:txBody>
      </p:sp>
      <p:sp>
        <p:nvSpPr>
          <p:cNvPr id="22" name="Text 20"/>
          <p:cNvSpPr/>
          <p:nvPr/>
        </p:nvSpPr>
        <p:spPr>
          <a:xfrm>
            <a:off x="640080" y="361188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Archive File</a:t>
            </a:r>
            <a:endParaRPr lang="en-US" sz="1350" dirty="0"/>
          </a:p>
        </p:txBody>
      </p:sp>
      <p:sp>
        <p:nvSpPr>
          <p:cNvPr id="23" name="Text 21"/>
          <p:cNvSpPr/>
          <p:nvPr/>
        </p:nvSpPr>
        <p:spPr>
          <a:xfrm>
            <a:off x="640080" y="3931920"/>
            <a:ext cx="2423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05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 local files to dsarch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3310128" y="3108960"/>
            <a:ext cx="274320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9050">
            <a:solidFill>
              <a:srgbClr val="1C7293"/>
            </a:solidFill>
            <a:prstDash val="solid"/>
          </a:ln>
          <a:effectLst>
            <a:outerShdw sx="100000" sy="100000" kx="0" ky="0" algn="bl" rotWithShape="0" blurRad="50800" dist="25400" dir="5400000">
              <a:srgbClr val="9FB6C6">
                <a:alpha val="25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3493008" y="3246120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C729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-CF</a:t>
            </a:r>
            <a:endParaRPr lang="en-US" sz="2000" dirty="0"/>
          </a:p>
        </p:txBody>
      </p:sp>
      <p:sp>
        <p:nvSpPr>
          <p:cNvPr id="26" name="Text 24"/>
          <p:cNvSpPr/>
          <p:nvPr/>
        </p:nvSpPr>
        <p:spPr>
          <a:xfrm>
            <a:off x="3493008" y="361188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Clean File</a:t>
            </a:r>
            <a:endParaRPr lang="en-US" sz="1350" dirty="0"/>
          </a:p>
        </p:txBody>
      </p:sp>
      <p:sp>
        <p:nvSpPr>
          <p:cNvPr id="27" name="Text 25"/>
          <p:cNvSpPr/>
          <p:nvPr/>
        </p:nvSpPr>
        <p:spPr>
          <a:xfrm>
            <a:off x="3493008" y="3931920"/>
            <a:ext cx="2423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05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remove temporary working files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6163056" y="3108960"/>
            <a:ext cx="274320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9050">
            <a:solidFill>
              <a:srgbClr val="2E8B7A"/>
            </a:solidFill>
            <a:prstDash val="solid"/>
          </a:ln>
          <a:effectLst>
            <a:outerShdw sx="100000" sy="100000" kx="0" ky="0" algn="bl" rotWithShape="0" blurRad="50800" dist="25400" dir="5400000">
              <a:srgbClr val="9FB6C6">
                <a:alpha val="25000"/>
              </a:srgbClr>
            </a:outerShdw>
          </a:effectLst>
        </p:spPr>
      </p:sp>
      <p:sp>
        <p:nvSpPr>
          <p:cNvPr id="29" name="Text 27"/>
          <p:cNvSpPr/>
          <p:nvPr/>
        </p:nvSpPr>
        <p:spPr>
          <a:xfrm>
            <a:off x="6345936" y="3246120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E8B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-CU</a:t>
            </a:r>
            <a:endParaRPr lang="en-US" sz="2000" dirty="0"/>
          </a:p>
        </p:txBody>
      </p:sp>
      <p:sp>
        <p:nvSpPr>
          <p:cNvPr id="30" name="Text 28"/>
          <p:cNvSpPr/>
          <p:nvPr/>
        </p:nvSpPr>
        <p:spPr>
          <a:xfrm>
            <a:off x="6345936" y="361188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Update</a:t>
            </a:r>
            <a:endParaRPr lang="en-US" sz="1350" dirty="0"/>
          </a:p>
        </p:txBody>
      </p:sp>
      <p:sp>
        <p:nvSpPr>
          <p:cNvPr id="31" name="Text 29"/>
          <p:cNvSpPr/>
          <p:nvPr/>
        </p:nvSpPr>
        <p:spPr>
          <a:xfrm>
            <a:off x="6345936" y="3931920"/>
            <a:ext cx="2423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05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remote-file availability</a:t>
            </a:r>
            <a:endParaRPr lang="en-US" sz="1050" dirty="0"/>
          </a:p>
        </p:txBody>
      </p:sp>
      <p:sp>
        <p:nvSpPr>
          <p:cNvPr id="32" name="Shape 30"/>
          <p:cNvSpPr/>
          <p:nvPr/>
        </p:nvSpPr>
        <p:spPr>
          <a:xfrm>
            <a:off x="9015984" y="3108960"/>
            <a:ext cx="274320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9050">
            <a:solidFill>
              <a:srgbClr val="5C6E7C"/>
            </a:solidFill>
            <a:prstDash val="solid"/>
          </a:ln>
          <a:effectLst>
            <a:outerShdw sx="100000" sy="100000" kx="0" ky="0" algn="bl" rotWithShape="0" blurRad="50800" dist="25400" dir="5400000">
              <a:srgbClr val="9FB6C6">
                <a:alpha val="25000"/>
              </a:srgbClr>
            </a:outerShdw>
          </a:effectLst>
        </p:spPr>
      </p:sp>
      <p:sp>
        <p:nvSpPr>
          <p:cNvPr id="33" name="Text 31"/>
          <p:cNvSpPr/>
          <p:nvPr/>
        </p:nvSpPr>
        <p:spPr>
          <a:xfrm>
            <a:off x="9198864" y="3246120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5C6E7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-UL</a:t>
            </a:r>
            <a:endParaRPr lang="en-US" sz="2000" dirty="0"/>
          </a:p>
        </p:txBody>
      </p:sp>
      <p:sp>
        <p:nvSpPr>
          <p:cNvPr id="34" name="Text 32"/>
          <p:cNvSpPr/>
          <p:nvPr/>
        </p:nvSpPr>
        <p:spPr>
          <a:xfrm>
            <a:off x="9198864" y="361188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Unlock</a:t>
            </a:r>
            <a:endParaRPr lang="en-US" sz="1350" dirty="0"/>
          </a:p>
        </p:txBody>
      </p:sp>
      <p:sp>
        <p:nvSpPr>
          <p:cNvPr id="35" name="Text 33"/>
          <p:cNvSpPr/>
          <p:nvPr/>
        </p:nvSpPr>
        <p:spPr>
          <a:xfrm>
            <a:off x="9198864" y="3931920"/>
            <a:ext cx="2423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05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clear locks from aborted runs</a:t>
            </a:r>
            <a:endParaRPr lang="en-US" sz="1050" dirty="0"/>
          </a:p>
        </p:txBody>
      </p:sp>
      <p:sp>
        <p:nvSpPr>
          <p:cNvPr id="36" name="Shape 34"/>
          <p:cNvSpPr/>
          <p:nvPr/>
        </p:nvSpPr>
        <p:spPr>
          <a:xfrm>
            <a:off x="457200" y="4892040"/>
            <a:ext cx="11274552" cy="1188720"/>
          </a:xfrm>
          <a:prstGeom prst="roundRect">
            <a:avLst>
              <a:gd name="adj" fmla="val 7692"/>
            </a:avLst>
          </a:prstGeom>
          <a:solidFill>
            <a:srgbClr val="E3EEF3"/>
          </a:solidFill>
          <a:ln w="12700">
            <a:solidFill>
              <a:srgbClr val="CBDCE6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731520" y="5029200"/>
            <a:ext cx="10789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5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-UF bundles the four steps.  </a:t>
            </a:r>
            <a:pPr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Stepping manually is useful for debugging or re-running a single stage. All actions accept </a:t>
            </a:r>
            <a:pPr indent="0" marL="0">
              <a:lnSpc>
                <a:spcPct val="112000"/>
              </a:lnSpc>
              <a:buNone/>
            </a:pPr>
            <a:r>
              <a:rPr lang="en-US" sz="1350" b="1" dirty="0">
                <a:solidFill>
                  <a:srgbClr val="1221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-CI / -LI / -LF / -XO</a:t>
            </a:r>
            <a:pPr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to target records, and </a:t>
            </a:r>
            <a:pPr indent="0" marL="0">
              <a:lnSpc>
                <a:spcPct val="112000"/>
              </a:lnSpc>
              <a:buNone/>
            </a:pPr>
            <a:r>
              <a:rPr lang="en-US" sz="1350" b="1" dirty="0">
                <a:solidFill>
                  <a:srgbClr val="1221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-ED / -EH / -CD / -CH</a:t>
            </a:r>
            <a:pPr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to override dates at run time.</a:t>
            </a:r>
            <a:endParaRPr lang="en-US" sz="1350" dirty="0"/>
          </a:p>
        </p:txBody>
      </p:sp>
      <p:sp>
        <p:nvSpPr>
          <p:cNvPr id="38" name="Text 36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dsupdt  •  Developer &amp; General Usage Guide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11368735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89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UPDATE ACTIONS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221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-UF Deep Dive: One Command, Full Cycle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457200" y="1554480"/>
            <a:ext cx="5486400" cy="4480560"/>
          </a:xfrm>
          <a:prstGeom prst="roundRect">
            <a:avLst>
              <a:gd name="adj" fmla="val 2041"/>
            </a:avLst>
          </a:prstGeom>
          <a:solidFill>
            <a:srgbClr val="EEF4F8"/>
          </a:solidFill>
          <a:ln w="12700">
            <a:solidFill>
              <a:srgbClr val="CBDCE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85800" y="173736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each due local file record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822960" y="2194560"/>
            <a:ext cx="493776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54000" indent="-254000">
              <a:lnSpc>
                <a:spcPct val="110000"/>
              </a:lnSpc>
              <a:spcAft>
                <a:spcPts val="900"/>
              </a:spcAft>
              <a:buSzPct val="100000"/>
              <a:buFont typeface="+mj-lt"/>
              <a:buAutoNum type="arabicPeriod" startAt="1"/>
            </a:pPr>
            <a:r>
              <a:rPr lang="en-US" sz="14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Download / copy the server file</a:t>
            </a:r>
            <a:endParaRPr lang="en-US" sz="1400" dirty="0"/>
          </a:p>
          <a:p>
            <a:pPr marL="254000" indent="-254000">
              <a:lnSpc>
                <a:spcPct val="110000"/>
              </a:lnSpc>
              <a:spcAft>
                <a:spcPts val="900"/>
              </a:spcAft>
              <a:buSzPct val="100000"/>
              <a:buFont typeface="+mj-lt"/>
              <a:buAutoNum type="arabicPeriod" startAt="1"/>
            </a:pPr>
            <a:r>
              <a:rPr lang="en-US" sz="14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Validate &amp; convert (-PR) into a remote file</a:t>
            </a:r>
            <a:endParaRPr lang="en-US" sz="1400" dirty="0"/>
          </a:p>
          <a:p>
            <a:pPr marL="254000" indent="-254000">
              <a:lnSpc>
                <a:spcPct val="110000"/>
              </a:lnSpc>
              <a:spcAft>
                <a:spcPts val="900"/>
              </a:spcAft>
              <a:buSzPct val="100000"/>
              <a:buFont typeface="+mj-lt"/>
              <a:buAutoNum type="arabicPeriod" startAt="1"/>
            </a:pPr>
            <a:r>
              <a:rPr lang="en-US" sz="14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the local file (tar / compress or -BC)</a:t>
            </a:r>
            <a:endParaRPr lang="en-US" sz="1400" dirty="0"/>
          </a:p>
          <a:p>
            <a:pPr marL="254000" indent="-254000">
              <a:lnSpc>
                <a:spcPct val="110000"/>
              </a:lnSpc>
              <a:spcAft>
                <a:spcPts val="900"/>
              </a:spcAft>
              <a:buSzPct val="100000"/>
              <a:buFont typeface="+mj-lt"/>
              <a:buAutoNum type="arabicPeriod" startAt="1"/>
            </a:pPr>
            <a:r>
              <a:rPr lang="en-US" sz="14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Archive via dsarch using the record's action</a:t>
            </a:r>
            <a:endParaRPr lang="en-US" sz="1400" dirty="0"/>
          </a:p>
          <a:p>
            <a:pPr marL="254000" indent="-254000">
              <a:lnSpc>
                <a:spcPct val="110000"/>
              </a:lnSpc>
              <a:spcAft>
                <a:spcPts val="900"/>
              </a:spcAft>
              <a:buSzPct val="100000"/>
              <a:buFont typeface="+mj-lt"/>
              <a:buAutoNum type="arabicPeriod" startAt="1"/>
            </a:pPr>
            <a:r>
              <a:rPr lang="en-US" sz="14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Clean temporary files (-CL)</a:t>
            </a:r>
            <a:endParaRPr lang="en-US" sz="1400" dirty="0"/>
          </a:p>
          <a:p>
            <a:pPr marL="254000" indent="-254000">
              <a:lnSpc>
                <a:spcPct val="110000"/>
              </a:lnSpc>
              <a:buSzPct val="100000"/>
              <a:buFont typeface="+mj-lt"/>
              <a:buAutoNum type="arabicPeriod" startAt="1"/>
            </a:pPr>
            <a:r>
              <a:rPr lang="en-US" sz="14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Advance data end date/hour &amp; next-due times</a:t>
            </a:r>
            <a:endParaRPr lang="en-US" sz="14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99632" y="1554480"/>
          <a:ext cx="553212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416052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Mode/Info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96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Effect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963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9C6416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-MU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process every elapsed period (else newest only)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9C6416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-FU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force at least one update even if not due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9C6416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-CP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allow the current, not-yet-complete period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9C6416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-RA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re-archive (pass -RA to dsarch)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9C6416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-RD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re-download even if the file exists locally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9C6416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-MO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only periods not yet archived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9C6416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-IE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skip failures &amp; continue (with -MU)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9C6416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-QE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stop the dataset on first error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9C6416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-PL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fork N child processes for parallel records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9C6416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-CC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add carbon-copy email recipients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6199632" y="5943600"/>
            <a:ext cx="5532120" cy="384048"/>
          </a:xfrm>
          <a:prstGeom prst="roundRect">
            <a:avLst>
              <a:gd name="adj" fmla="val 14286"/>
            </a:avLst>
          </a:prstGeom>
          <a:solidFill>
            <a:srgbClr val="12212E"/>
          </a:solidFill>
          <a:ln/>
        </p:spPr>
      </p:sp>
      <p:sp>
        <p:nvSpPr>
          <p:cNvPr id="9" name="Text 6"/>
          <p:cNvSpPr/>
          <p:nvPr/>
        </p:nvSpPr>
        <p:spPr>
          <a:xfrm>
            <a:off x="6382512" y="5943600"/>
            <a:ext cx="5166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FE0C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dsupdt d337000 -UF -MU -IE -CC schuster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dsupdt  •  Developer &amp; General Usage Guide</a:t>
            </a:r>
            <a:endParaRPr lang="en-US" sz="900" dirty="0"/>
          </a:p>
        </p:txBody>
      </p:sp>
      <p:sp>
        <p:nvSpPr>
          <p:cNvPr id="11" name="Text 8"/>
          <p:cNvSpPr/>
          <p:nvPr/>
        </p:nvSpPr>
        <p:spPr>
          <a:xfrm>
            <a:off x="11368735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IT WORKS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221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Archiving &amp; Content Metadata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57200" y="1463040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Once a local file is built, </a:t>
            </a:r>
            <a:pPr indent="0" marL="0">
              <a:lnSpc>
                <a:spcPct val="110000"/>
              </a:lnSpc>
              <a:buNone/>
            </a:pPr>
            <a:r>
              <a:rPr lang="en-US" sz="15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dsupdt</a:t>
            </a:r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hands it to </a:t>
            </a:r>
            <a:pPr indent="0" marL="0">
              <a:lnSpc>
                <a:spcPct val="110000"/>
              </a:lnSpc>
              <a:buNone/>
            </a:pPr>
            <a:r>
              <a:rPr lang="en-US" sz="15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dsarch</a:t>
            </a:r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to archive onto GDEX, then optionally gathers content metadata so the new data is discoverable.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457200" y="2148840"/>
            <a:ext cx="11274552" cy="1097280"/>
          </a:xfrm>
          <a:prstGeom prst="roundRect">
            <a:avLst>
              <a:gd name="adj" fmla="val 6667"/>
            </a:avLst>
          </a:prstGeom>
          <a:solidFill>
            <a:srgbClr val="EEF4F8"/>
          </a:solidFill>
          <a:ln w="12700">
            <a:solidFill>
              <a:srgbClr val="CBDC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31520" y="2423160"/>
            <a:ext cx="548640" cy="548640"/>
          </a:xfrm>
          <a:prstGeom prst="ellipse">
            <a:avLst/>
          </a:prstGeom>
          <a:solidFill>
            <a:srgbClr val="065A82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24231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☁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1508760" y="2295144"/>
            <a:ext cx="99943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Archive to GDEX  —  dsarch</a:t>
            </a:r>
            <a:endParaRPr lang="en-US" sz="1550" dirty="0"/>
          </a:p>
        </p:txBody>
      </p:sp>
      <p:sp>
        <p:nvSpPr>
          <p:cNvPr id="9" name="Text 7"/>
          <p:cNvSpPr/>
          <p:nvPr/>
        </p:nvSpPr>
        <p:spPr>
          <a:xfrm>
            <a:off x="1508760" y="2660904"/>
            <a:ext cx="985723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dsupdt calls dsarch with the record's action (AS / AW / AQ). -OP appends extra dsarch options; -RA forces re-archiving. This is the step that publishes each file.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457200" y="3383280"/>
            <a:ext cx="11274552" cy="1097280"/>
          </a:xfrm>
          <a:prstGeom prst="roundRect">
            <a:avLst>
              <a:gd name="adj" fmla="val 6667"/>
            </a:avLst>
          </a:prstGeom>
          <a:solidFill>
            <a:srgbClr val="EEF4F8"/>
          </a:solidFill>
          <a:ln w="12700">
            <a:solidFill>
              <a:srgbClr val="CBDCE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731520" y="3657600"/>
            <a:ext cx="548640" cy="548640"/>
          </a:xfrm>
          <a:prstGeom prst="ellipse">
            <a:avLst/>
          </a:prstGeom>
          <a:solidFill>
            <a:srgbClr val="2E8B7A"/>
          </a:solidFill>
          <a:ln/>
        </p:spPr>
      </p:sp>
      <p:sp>
        <p:nvSpPr>
          <p:cNvPr id="12" name="Text 10"/>
          <p:cNvSpPr/>
          <p:nvPr/>
        </p:nvSpPr>
        <p:spPr>
          <a:xfrm>
            <a:off x="731520" y="36576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⚙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1508760" y="3529584"/>
            <a:ext cx="99943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Gather content metadata  —  gatherxml  (-GX)</a:t>
            </a:r>
            <a:endParaRPr lang="en-US" sz="1550" dirty="0"/>
          </a:p>
        </p:txBody>
      </p:sp>
      <p:sp>
        <p:nvSpPr>
          <p:cNvPr id="14" name="Text 12"/>
          <p:cNvSpPr/>
          <p:nvPr/>
        </p:nvSpPr>
        <p:spPr>
          <a:xfrm>
            <a:off x="1508760" y="3895344"/>
            <a:ext cx="985723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Optional. When -GX is set in the local record's Options, dsupdt runs gatherxml on the just-archived file to index its variables and spatial / temporal coverage.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457200" y="4617720"/>
            <a:ext cx="11274552" cy="1097280"/>
          </a:xfrm>
          <a:prstGeom prst="roundRect">
            <a:avLst>
              <a:gd name="adj" fmla="val 6667"/>
            </a:avLst>
          </a:prstGeom>
          <a:solidFill>
            <a:srgbClr val="EEF4F8"/>
          </a:solidFill>
          <a:ln w="12700">
            <a:solidFill>
              <a:srgbClr val="CBDCE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31520" y="4892040"/>
            <a:ext cx="548640" cy="548640"/>
          </a:xfrm>
          <a:prstGeom prst="ellipse">
            <a:avLst/>
          </a:prstGeom>
          <a:solidFill>
            <a:srgbClr val="E8963A"/>
          </a:solidFill>
          <a:ln/>
        </p:spPr>
      </p:sp>
      <p:sp>
        <p:nvSpPr>
          <p:cNvPr id="17" name="Text 15"/>
          <p:cNvSpPr/>
          <p:nvPr/>
        </p:nvSpPr>
        <p:spPr>
          <a:xfrm>
            <a:off x="731520" y="48920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↻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1508760" y="4764024"/>
            <a:ext cx="99943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Refresh the search index  —  scm</a:t>
            </a:r>
            <a:endParaRPr lang="en-US" sz="1550" dirty="0"/>
          </a:p>
        </p:txBody>
      </p:sp>
      <p:sp>
        <p:nvSpPr>
          <p:cNvPr id="19" name="Text 17"/>
          <p:cNvSpPr/>
          <p:nvPr/>
        </p:nvSpPr>
        <p:spPr>
          <a:xfrm>
            <a:off x="1508760" y="5129784"/>
            <a:ext cx="985723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 archiving, dsupdt runs the search-metadata command (scm -d DS -r w) to summarize / refresh the dataset's web tables so the new content is searchable.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457200" y="5897880"/>
            <a:ext cx="11274552" cy="502920"/>
          </a:xfrm>
          <a:prstGeom prst="roundRect">
            <a:avLst>
              <a:gd name="adj" fmla="val 14545"/>
            </a:avLst>
          </a:prstGeom>
          <a:solidFill>
            <a:srgbClr val="E3EEF3"/>
          </a:solidFill>
          <a:ln w="12700">
            <a:solidFill>
              <a:srgbClr val="CBDCE6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85800" y="5897880"/>
            <a:ext cx="10789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Metadata steps are non-fatal: </a:t>
            </a:r>
            <a:pPr indent="0" marL="0">
              <a:buNone/>
            </a:pPr>
            <a:r>
              <a:rPr lang="en-US" sz="12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gatherxml or scm failure is reported in the e-mail but never blocks or retries the archive.</a:t>
            </a:r>
            <a:endParaRPr lang="en-US" sz="1250" dirty="0"/>
          </a:p>
        </p:txBody>
      </p:sp>
      <p:sp>
        <p:nvSpPr>
          <p:cNvPr id="22" name="Text 20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dsupdt  •  Developer &amp; General Usage Guide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11368735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DEVELOPER CONFIGURATION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221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Temporal &amp; Generic Patterns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57200" y="14173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Placeholders in file names, download commands, and descriptions are substituted at update time. Default delimiters </a:t>
            </a:r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1221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 &gt;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(change with -PD).  By default patterns use the period's </a:t>
            </a:r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date/hour.</a:t>
            </a:r>
            <a:endParaRPr lang="en-US" sz="140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103120"/>
          <a:ext cx="7406640" cy="914400"/>
        </p:xfrm>
        <a:graphic>
          <a:graphicData uri="http://schemas.openxmlformats.org/drawingml/2006/table">
            <a:tbl>
              <a:tblPr/>
              <a:tblGrid>
                <a:gridCol w="2286000"/>
                <a:gridCol w="1371600"/>
                <a:gridCol w="3749040"/>
              </a:tblGrid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Pattern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5A8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Basis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5A8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Meaning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5A82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65A8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&lt;YYYYMM&gt;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C729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end date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4-digit year + 2-digit month → 200710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65A8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&lt;YYYY/MM/DD&gt;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C729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end date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path-style date components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65A8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&lt;CYYYY.MM.DDC&gt;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C729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current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wrap in C … C to use the current date/hour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65A8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&lt;BYYYY.MM.DDB&gt;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C729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begin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wrap in B … B to use the period's begin time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65A8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&lt;M*M&gt;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C729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fraction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per-fraction id: C=A,B,C  c=a,b,c  N=1,2,3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65A8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&lt;HH&gt;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C729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end hour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2-digit hour for sub-daily cadence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65A8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&lt;P0&gt; &lt;P1&gt;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C729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runtime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generic values supplied via -GP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8092440" y="2103120"/>
            <a:ext cx="3639312" cy="3246120"/>
          </a:xfrm>
          <a:prstGeom prst="roundRect">
            <a:avLst>
              <a:gd name="adj" fmla="val 2817"/>
            </a:avLst>
          </a:prstGeom>
          <a:solidFill>
            <a:srgbClr val="0E1B2E"/>
          </a:solidFill>
          <a:ln/>
        </p:spPr>
      </p:sp>
      <p:sp>
        <p:nvSpPr>
          <p:cNvPr id="7" name="Text 4"/>
          <p:cNvSpPr/>
          <p:nvPr/>
        </p:nvSpPr>
        <p:spPr>
          <a:xfrm>
            <a:off x="8321040" y="224028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89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8321040" y="2697480"/>
            <a:ext cx="324612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9FC4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-LF </a:t>
            </a:r>
            <a:pPr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9FE0C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uv.&lt;YYYYMM&gt;.bln
</a:t>
            </a:r>
            <a:pPr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9FC4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 date </a:t>
            </a:r>
            <a:pPr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2007-10-31
</a:t>
            </a:r>
            <a:pPr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E896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↓ becomes
</a:t>
            </a:r>
            <a:pPr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9FE0C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uv.200710.bln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457200" y="5486400"/>
            <a:ext cx="11274552" cy="640080"/>
          </a:xfrm>
          <a:prstGeom prst="roundRect">
            <a:avLst>
              <a:gd name="adj" fmla="val 11429"/>
            </a:avLst>
          </a:prstGeom>
          <a:solidFill>
            <a:srgbClr val="E3EEF3"/>
          </a:solidFill>
          <a:ln w="12700">
            <a:solidFill>
              <a:srgbClr val="CBDCE6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685800" y="5532120"/>
            <a:ext cx="10789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Dynamic work dir:  </a:t>
            </a:r>
            <a:pPr indent="0" marL="0">
              <a:buNone/>
            </a:pPr>
            <a:r>
              <a:rPr lang="en-US" sz="12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a server path carries a date the remote name lacks, embed that date in -WD so different dates don't overwrite each other.</a:t>
            </a:r>
            <a:endParaRPr lang="en-US" sz="1250" dirty="0"/>
          </a:p>
        </p:txBody>
      </p:sp>
      <p:sp>
        <p:nvSpPr>
          <p:cNvPr id="11" name="Text 8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dsupdt  •  Developer &amp; General Usage Guide</a:t>
            </a:r>
            <a:endParaRPr lang="en-US" sz="900" dirty="0"/>
          </a:p>
        </p:txBody>
      </p:sp>
      <p:sp>
        <p:nvSpPr>
          <p:cNvPr id="12" name="Text 9"/>
          <p:cNvSpPr/>
          <p:nvPr/>
        </p:nvSpPr>
        <p:spPr>
          <a:xfrm>
            <a:off x="11368735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DEVELOPER CONFIGURATION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221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Custom Commands with  '!'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57200" y="1417320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 fields are shell commands by design </a:t>
            </a:r>
            <a:pPr indent="0" marL="0">
              <a:lnSpc>
                <a:spcPct val="112000"/>
              </a:lnSpc>
              <a:buNone/>
            </a:pPr>
            <a:r>
              <a:rPr lang="en-US" sz="1400" b="1" dirty="0">
                <a:solidFill>
                  <a:srgbClr val="065A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(-DC / -BC / -CL)</a:t>
            </a:r>
            <a:pPr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 Any value field can also become a command by prefixing it with </a:t>
            </a:r>
            <a:pPr indent="0" marL="0">
              <a:lnSpc>
                <a:spcPct val="112000"/>
              </a:lnSpc>
              <a:buNone/>
            </a:pPr>
            <a:r>
              <a:rPr lang="en-US" sz="1400" b="1" dirty="0">
                <a:solidFill>
                  <a:srgbClr val="E896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'!'</a:t>
            </a:r>
            <a:pPr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dsupdt runs it and uses the stdout as the value.  Temporal patterns are substituted first.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457200" y="2331720"/>
            <a:ext cx="5532120" cy="786384"/>
          </a:xfrm>
          <a:prstGeom prst="roundRect">
            <a:avLst>
              <a:gd name="adj" fmla="val 9302"/>
            </a:avLst>
          </a:prstGeom>
          <a:solidFill>
            <a:srgbClr val="EEF4F8"/>
          </a:solidFill>
          <a:ln w="12700">
            <a:solidFill>
              <a:srgbClr val="CBDC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21792" y="2505456"/>
            <a:ext cx="1417320" cy="438912"/>
          </a:xfrm>
          <a:prstGeom prst="roundRect">
            <a:avLst>
              <a:gd name="adj" fmla="val 12500"/>
            </a:avLst>
          </a:prstGeom>
          <a:solidFill>
            <a:srgbClr val="065A82"/>
          </a:solidFill>
          <a:ln/>
        </p:spPr>
      </p:sp>
      <p:sp>
        <p:nvSpPr>
          <p:cNvPr id="7" name="Text 5"/>
          <p:cNvSpPr/>
          <p:nvPr/>
        </p:nvSpPr>
        <p:spPr>
          <a:xfrm>
            <a:off x="621792" y="2505456"/>
            <a:ext cx="14173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-DC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2194560" y="2441448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Download Command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2194560" y="2715768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each remote file is fetched from the server (wget, cp, mftp, …).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6199632" y="2331720"/>
            <a:ext cx="5532120" cy="786384"/>
          </a:xfrm>
          <a:prstGeom prst="roundRect">
            <a:avLst>
              <a:gd name="adj" fmla="val 9302"/>
            </a:avLst>
          </a:prstGeom>
          <a:solidFill>
            <a:srgbClr val="EEF4F8"/>
          </a:solidFill>
          <a:ln w="12700">
            <a:solidFill>
              <a:srgbClr val="CBDCE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364224" y="2505456"/>
            <a:ext cx="1417320" cy="438912"/>
          </a:xfrm>
          <a:prstGeom prst="roundRect">
            <a:avLst>
              <a:gd name="adj" fmla="val 12500"/>
            </a:avLst>
          </a:prstGeom>
          <a:solidFill>
            <a:srgbClr val="065A82"/>
          </a:solidFill>
          <a:ln/>
        </p:spPr>
      </p:sp>
      <p:sp>
        <p:nvSpPr>
          <p:cNvPr id="12" name="Text 10"/>
          <p:cNvSpPr/>
          <p:nvPr/>
        </p:nvSpPr>
        <p:spPr>
          <a:xfrm>
            <a:off x="6364224" y="2505456"/>
            <a:ext cx="14173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-BC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7936992" y="2441448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Command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7936992" y="2715768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External utility that assembles / converts the local file after download.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457200" y="3255264"/>
            <a:ext cx="5532120" cy="786384"/>
          </a:xfrm>
          <a:prstGeom prst="roundRect">
            <a:avLst>
              <a:gd name="adj" fmla="val 9302"/>
            </a:avLst>
          </a:prstGeom>
          <a:solidFill>
            <a:srgbClr val="EEF4F8"/>
          </a:solidFill>
          <a:ln w="12700">
            <a:solidFill>
              <a:srgbClr val="CBDCE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21792" y="3429000"/>
            <a:ext cx="1417320" cy="438912"/>
          </a:xfrm>
          <a:prstGeom prst="roundRect">
            <a:avLst>
              <a:gd name="adj" fmla="val 12500"/>
            </a:avLst>
          </a:prstGeom>
          <a:solidFill>
            <a:srgbClr val="065A82"/>
          </a:solidFill>
          <a:ln/>
        </p:spPr>
      </p:sp>
      <p:sp>
        <p:nvSpPr>
          <p:cNvPr id="17" name="Text 15"/>
          <p:cNvSpPr/>
          <p:nvPr/>
        </p:nvSpPr>
        <p:spPr>
          <a:xfrm>
            <a:off x="621792" y="3429000"/>
            <a:ext cx="14173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-CL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194560" y="3364992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Clean Command</a:t>
            </a:r>
            <a:endParaRPr lang="en-US" sz="1350" dirty="0"/>
          </a:p>
        </p:txBody>
      </p:sp>
      <p:sp>
        <p:nvSpPr>
          <p:cNvPr id="19" name="Text 17"/>
          <p:cNvSpPr/>
          <p:nvPr/>
        </p:nvSpPr>
        <p:spPr>
          <a:xfrm>
            <a:off x="2194560" y="3639312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Post-archive cleanup command for temporary or intermediate files.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6199632" y="3255264"/>
            <a:ext cx="5532120" cy="786384"/>
          </a:xfrm>
          <a:prstGeom prst="roundRect">
            <a:avLst>
              <a:gd name="adj" fmla="val 9302"/>
            </a:avLst>
          </a:prstGeom>
          <a:solidFill>
            <a:srgbClr val="EEF4F8"/>
          </a:solidFill>
          <a:ln w="12700">
            <a:solidFill>
              <a:srgbClr val="CBDCE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364224" y="3429000"/>
            <a:ext cx="1417320" cy="438912"/>
          </a:xfrm>
          <a:prstGeom prst="roundRect">
            <a:avLst>
              <a:gd name="adj" fmla="val 12500"/>
            </a:avLst>
          </a:prstGeom>
          <a:solidFill>
            <a:srgbClr val="E8963A"/>
          </a:solidFill>
          <a:ln/>
        </p:spPr>
      </p:sp>
      <p:sp>
        <p:nvSpPr>
          <p:cNvPr id="22" name="Text 20"/>
          <p:cNvSpPr/>
          <p:nvPr/>
        </p:nvSpPr>
        <p:spPr>
          <a:xfrm>
            <a:off x="6364224" y="3429000"/>
            <a:ext cx="14173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-RF  '!…'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7936992" y="3364992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Remote File</a:t>
            </a:r>
            <a:endParaRPr lang="en-US" sz="1350" dirty="0"/>
          </a:p>
        </p:txBody>
      </p:sp>
      <p:sp>
        <p:nvSpPr>
          <p:cNvPr id="24" name="Text 22"/>
          <p:cNvSpPr/>
          <p:nvPr/>
        </p:nvSpPr>
        <p:spPr>
          <a:xfrm>
            <a:off x="7936992" y="3639312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Name resolved at run time — e.g. pick the newest matching server file.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457200" y="4178808"/>
            <a:ext cx="5532120" cy="786384"/>
          </a:xfrm>
          <a:prstGeom prst="roundRect">
            <a:avLst>
              <a:gd name="adj" fmla="val 9302"/>
            </a:avLst>
          </a:prstGeom>
          <a:solidFill>
            <a:srgbClr val="EEF4F8"/>
          </a:solidFill>
          <a:ln w="12700">
            <a:solidFill>
              <a:srgbClr val="CBDCE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21792" y="4352544"/>
            <a:ext cx="1417320" cy="438912"/>
          </a:xfrm>
          <a:prstGeom prst="roundRect">
            <a:avLst>
              <a:gd name="adj" fmla="val 12500"/>
            </a:avLst>
          </a:prstGeom>
          <a:solidFill>
            <a:srgbClr val="E8963A"/>
          </a:solidFill>
          <a:ln/>
        </p:spPr>
      </p:sp>
      <p:sp>
        <p:nvSpPr>
          <p:cNvPr id="27" name="Text 25"/>
          <p:cNvSpPr/>
          <p:nvPr/>
        </p:nvSpPr>
        <p:spPr>
          <a:xfrm>
            <a:off x="621792" y="4352544"/>
            <a:ext cx="14173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-LF  '!…'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2194560" y="4288536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 File</a:t>
            </a:r>
            <a:endParaRPr lang="en-US" sz="1350" dirty="0"/>
          </a:p>
        </p:txBody>
      </p:sp>
      <p:sp>
        <p:nvSpPr>
          <p:cNvPr id="29" name="Text 27"/>
          <p:cNvSpPr/>
          <p:nvPr/>
        </p:nvSpPr>
        <p:spPr>
          <a:xfrm>
            <a:off x="2194560" y="4562856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Compute the local file name from a script instead of a fixed pattern.</a:t>
            </a:r>
            <a:endParaRPr lang="en-US" sz="1150" dirty="0"/>
          </a:p>
        </p:txBody>
      </p:sp>
      <p:sp>
        <p:nvSpPr>
          <p:cNvPr id="30" name="Shape 28"/>
          <p:cNvSpPr/>
          <p:nvPr/>
        </p:nvSpPr>
        <p:spPr>
          <a:xfrm>
            <a:off x="6199632" y="4178808"/>
            <a:ext cx="5532120" cy="786384"/>
          </a:xfrm>
          <a:prstGeom prst="roundRect">
            <a:avLst>
              <a:gd name="adj" fmla="val 9302"/>
            </a:avLst>
          </a:prstGeom>
          <a:solidFill>
            <a:srgbClr val="EEF4F8"/>
          </a:solidFill>
          <a:ln w="12700">
            <a:solidFill>
              <a:srgbClr val="CBDCE6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6364224" y="4352544"/>
            <a:ext cx="1417320" cy="438912"/>
          </a:xfrm>
          <a:prstGeom prst="roundRect">
            <a:avLst>
              <a:gd name="adj" fmla="val 12500"/>
            </a:avLst>
          </a:prstGeom>
          <a:solidFill>
            <a:srgbClr val="E8963A"/>
          </a:solidFill>
          <a:ln/>
        </p:spPr>
      </p:sp>
      <p:sp>
        <p:nvSpPr>
          <p:cNvPr id="32" name="Text 30"/>
          <p:cNvSpPr/>
          <p:nvPr/>
        </p:nvSpPr>
        <p:spPr>
          <a:xfrm>
            <a:off x="6364224" y="4352544"/>
            <a:ext cx="14173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-DE  '!…'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7936992" y="4288536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Description / note</a:t>
            </a:r>
            <a:endParaRPr lang="en-US" sz="1350" dirty="0"/>
          </a:p>
        </p:txBody>
      </p:sp>
      <p:sp>
        <p:nvSpPr>
          <p:cNvPr id="34" name="Text 32"/>
          <p:cNvSpPr/>
          <p:nvPr/>
        </p:nvSpPr>
        <p:spPr>
          <a:xfrm>
            <a:off x="7936992" y="4562856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Generate a data note dynamically from command output.</a:t>
            </a:r>
            <a:endParaRPr lang="en-US" sz="1150" dirty="0"/>
          </a:p>
        </p:txBody>
      </p:sp>
      <p:sp>
        <p:nvSpPr>
          <p:cNvPr id="35" name="Shape 33"/>
          <p:cNvSpPr/>
          <p:nvPr/>
        </p:nvSpPr>
        <p:spPr>
          <a:xfrm>
            <a:off x="457200" y="5212080"/>
            <a:ext cx="11274552" cy="1170432"/>
          </a:xfrm>
          <a:prstGeom prst="roundRect">
            <a:avLst>
              <a:gd name="adj" fmla="val 7813"/>
            </a:avLst>
          </a:prstGeom>
          <a:solidFill>
            <a:srgbClr val="0E1B2E"/>
          </a:solidFill>
          <a:ln/>
        </p:spPr>
      </p:sp>
      <p:sp>
        <p:nvSpPr>
          <p:cNvPr id="36" name="Text 34"/>
          <p:cNvSpPr/>
          <p:nvPr/>
        </p:nvSpPr>
        <p:spPr>
          <a:xfrm>
            <a:off x="685800" y="534924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89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  —  pick the newest matching file at update time</a:t>
            </a:r>
            <a:endParaRPr lang="en-US" sz="1300" dirty="0"/>
          </a:p>
        </p:txBody>
      </p:sp>
      <p:sp>
        <p:nvSpPr>
          <p:cNvPr id="37" name="Text 35"/>
          <p:cNvSpPr/>
          <p:nvPr/>
        </p:nvSpPr>
        <p:spPr>
          <a:xfrm>
            <a:off x="685800" y="5742432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9FC4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dsupdt </a:t>
            </a:r>
            <a:pPr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d540000 SR -LI 1 </a:t>
            </a:r>
            <a:pPr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9FC4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-RF </a:t>
            </a:r>
            <a:pPr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9FE0C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'!ls -t /glade/incoming/&lt;YYYYMM&gt;*.grib | head -1'</a:t>
            </a:r>
            <a:endParaRPr lang="en-US" sz="1350" dirty="0"/>
          </a:p>
        </p:txBody>
      </p:sp>
      <p:sp>
        <p:nvSpPr>
          <p:cNvPr id="38" name="Text 36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dsupdt  •  Developer &amp; General Usage Guide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11368735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221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Scheduling &amp; Execution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57200" y="14173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production the whole chain is automated — currently under </a:t>
            </a:r>
            <a:pPr indent="0" marL="0">
              <a:buNone/>
            </a:pPr>
            <a:r>
              <a:rPr lang="en-US" sz="1500" b="1" dirty="0">
                <a:solidFill>
                  <a:srgbClr val="E89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PBS batch control</a:t>
            </a:r>
            <a:pPr indent="0" marL="0">
              <a:buNone/>
            </a:pPr>
            <a:r>
              <a:rPr lang="en-US" sz="15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457200" y="1920240"/>
            <a:ext cx="3422904" cy="320040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 w="25400">
            <a:solidFill>
              <a:srgbClr val="065A82"/>
            </a:solidFill>
            <a:prstDash val="solid"/>
          </a:ln>
          <a:effectLst>
            <a:outerShdw sx="100000" sy="100000" kx="0" ky="0" algn="bl" rotWithShape="0" blurRad="76200" dist="25400" dir="5400000">
              <a:srgbClr val="9FB6C6">
                <a:alpha val="3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920240"/>
            <a:ext cx="3422904" cy="731520"/>
          </a:xfrm>
          <a:prstGeom prst="roundRect">
            <a:avLst>
              <a:gd name="adj" fmla="val 12500"/>
            </a:avLst>
          </a:prstGeom>
          <a:solidFill>
            <a:srgbClr val="065A82"/>
          </a:solidFill>
          <a:ln/>
        </p:spPr>
      </p:sp>
      <p:sp>
        <p:nvSpPr>
          <p:cNvPr id="7" name="Shape 5"/>
          <p:cNvSpPr/>
          <p:nvPr/>
        </p:nvSpPr>
        <p:spPr>
          <a:xfrm>
            <a:off x="457200" y="2304288"/>
            <a:ext cx="3422904" cy="347472"/>
          </a:xfrm>
          <a:prstGeom prst="rect">
            <a:avLst/>
          </a:prstGeom>
          <a:solidFill>
            <a:srgbClr val="065A82"/>
          </a:solidFill>
          <a:ln/>
        </p:spPr>
      </p:sp>
      <p:sp>
        <p:nvSpPr>
          <p:cNvPr id="8" name="Shape 6"/>
          <p:cNvSpPr/>
          <p:nvPr/>
        </p:nvSpPr>
        <p:spPr>
          <a:xfrm>
            <a:off x="640080" y="2084832"/>
            <a:ext cx="402336" cy="402336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9" name="Text 7"/>
          <p:cNvSpPr/>
          <p:nvPr/>
        </p:nvSpPr>
        <p:spPr>
          <a:xfrm>
            <a:off x="640080" y="208483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1115568" y="1965960"/>
            <a:ext cx="259994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Update Control Record</a:t>
            </a:r>
            <a:endParaRPr lang="en-US" sz="1550" dirty="0"/>
          </a:p>
        </p:txBody>
      </p:sp>
      <p:sp>
        <p:nvSpPr>
          <p:cNvPr id="11" name="Text 9"/>
          <p:cNvSpPr/>
          <p:nvPr/>
        </p:nvSpPr>
        <p:spPr>
          <a:xfrm>
            <a:off x="685800" y="2788920"/>
            <a:ext cx="2965704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Holds the schedule — frequency (-FQ), due interval (-DI), next-due time; local records link to it via -CI. A cron / daemon dsupdt run in delayed mode (-BP) records each due command in GDEXDB.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658368" y="4462272"/>
            <a:ext cx="3020568" cy="502920"/>
          </a:xfrm>
          <a:prstGeom prst="roundRect">
            <a:avLst>
              <a:gd name="adj" fmla="val 9091"/>
            </a:avLst>
          </a:prstGeom>
          <a:solidFill>
            <a:srgbClr val="E3EEF3"/>
          </a:solidFill>
          <a:ln/>
        </p:spPr>
      </p:sp>
      <p:sp>
        <p:nvSpPr>
          <p:cNvPr id="13" name="Text 11"/>
          <p:cNvSpPr/>
          <p:nvPr/>
        </p:nvSpPr>
        <p:spPr>
          <a:xfrm>
            <a:off x="786384" y="4462272"/>
            <a:ext cx="287426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</a:t>
            </a:r>
            <a:pPr indent="0" marL="0">
              <a:buNone/>
            </a:pPr>
            <a:r>
              <a:rPr lang="en-US" sz="12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generates a dscheck record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3898392" y="3017520"/>
            <a:ext cx="46634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600" dirty="0"/>
          </a:p>
        </p:txBody>
      </p:sp>
      <p:sp>
        <p:nvSpPr>
          <p:cNvPr id="15" name="Shape 13"/>
          <p:cNvSpPr/>
          <p:nvPr/>
        </p:nvSpPr>
        <p:spPr>
          <a:xfrm>
            <a:off x="4383024" y="1920240"/>
            <a:ext cx="3422904" cy="320040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 w="25400">
            <a:solidFill>
              <a:srgbClr val="2E8B7A"/>
            </a:solidFill>
            <a:prstDash val="solid"/>
          </a:ln>
          <a:effectLst>
            <a:outerShdw sx="100000" sy="100000" kx="0" ky="0" algn="bl" rotWithShape="0" blurRad="76200" dist="25400" dir="5400000">
              <a:srgbClr val="9FB6C6">
                <a:alpha val="30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4383024" y="1920240"/>
            <a:ext cx="3422904" cy="731520"/>
          </a:xfrm>
          <a:prstGeom prst="roundRect">
            <a:avLst>
              <a:gd name="adj" fmla="val 12500"/>
            </a:avLst>
          </a:prstGeom>
          <a:solidFill>
            <a:srgbClr val="2E8B7A"/>
          </a:solidFill>
          <a:ln/>
        </p:spPr>
      </p:sp>
      <p:sp>
        <p:nvSpPr>
          <p:cNvPr id="17" name="Shape 15"/>
          <p:cNvSpPr/>
          <p:nvPr/>
        </p:nvSpPr>
        <p:spPr>
          <a:xfrm>
            <a:off x="4383024" y="2304288"/>
            <a:ext cx="3422904" cy="347472"/>
          </a:xfrm>
          <a:prstGeom prst="rect">
            <a:avLst/>
          </a:prstGeom>
          <a:solidFill>
            <a:srgbClr val="2E8B7A"/>
          </a:solidFill>
          <a:ln/>
        </p:spPr>
      </p:sp>
      <p:sp>
        <p:nvSpPr>
          <p:cNvPr id="18" name="Shape 16"/>
          <p:cNvSpPr/>
          <p:nvPr/>
        </p:nvSpPr>
        <p:spPr>
          <a:xfrm>
            <a:off x="4565904" y="2084832"/>
            <a:ext cx="402336" cy="402336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19" name="Text 17"/>
          <p:cNvSpPr/>
          <p:nvPr/>
        </p:nvSpPr>
        <p:spPr>
          <a:xfrm>
            <a:off x="4565904" y="208483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E8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5041392" y="1965960"/>
            <a:ext cx="259994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dscheck daemon / cron</a:t>
            </a:r>
            <a:endParaRPr lang="en-US" sz="1550" dirty="0"/>
          </a:p>
        </p:txBody>
      </p:sp>
      <p:sp>
        <p:nvSpPr>
          <p:cNvPr id="21" name="Text 19"/>
          <p:cNvSpPr/>
          <p:nvPr/>
        </p:nvSpPr>
        <p:spPr>
          <a:xfrm>
            <a:off x="4611624" y="2788920"/>
            <a:ext cx="2965704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Polls GDEXDB, dispatches each recorded command, and retries on failure — -d [hosts] [retries 1-99]. This is the centralized, automatic launcher.</a:t>
            </a:r>
            <a:endParaRPr lang="en-US" sz="1250" dirty="0"/>
          </a:p>
        </p:txBody>
      </p:sp>
      <p:sp>
        <p:nvSpPr>
          <p:cNvPr id="22" name="Shape 20"/>
          <p:cNvSpPr/>
          <p:nvPr/>
        </p:nvSpPr>
        <p:spPr>
          <a:xfrm>
            <a:off x="4584192" y="4462272"/>
            <a:ext cx="3020568" cy="502920"/>
          </a:xfrm>
          <a:prstGeom prst="roundRect">
            <a:avLst>
              <a:gd name="adj" fmla="val 9091"/>
            </a:avLst>
          </a:prstGeom>
          <a:solidFill>
            <a:srgbClr val="E3EEF3"/>
          </a:solidFill>
          <a:ln/>
        </p:spPr>
      </p:sp>
      <p:sp>
        <p:nvSpPr>
          <p:cNvPr id="23" name="Text 21"/>
          <p:cNvSpPr/>
          <p:nvPr/>
        </p:nvSpPr>
        <p:spPr>
          <a:xfrm>
            <a:off x="4712208" y="4462272"/>
            <a:ext cx="287426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E8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</a:t>
            </a:r>
            <a:pPr indent="0" marL="0">
              <a:buNone/>
            </a:pPr>
            <a:r>
              <a:rPr lang="en-US" sz="1200" b="1" dirty="0">
                <a:solidFill>
                  <a:srgbClr val="2E8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starts the real dsupdt process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7824216" y="3017520"/>
            <a:ext cx="46634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600" dirty="0"/>
          </a:p>
        </p:txBody>
      </p:sp>
      <p:sp>
        <p:nvSpPr>
          <p:cNvPr id="25" name="Shape 23"/>
          <p:cNvSpPr/>
          <p:nvPr/>
        </p:nvSpPr>
        <p:spPr>
          <a:xfrm>
            <a:off x="8308848" y="1920240"/>
            <a:ext cx="3422904" cy="320040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 w="25400">
            <a:solidFill>
              <a:srgbClr val="E8963A"/>
            </a:solidFill>
            <a:prstDash val="solid"/>
          </a:ln>
          <a:effectLst>
            <a:outerShdw sx="100000" sy="100000" kx="0" ky="0" algn="bl" rotWithShape="0" blurRad="76200" dist="25400" dir="5400000">
              <a:srgbClr val="9FB6C6">
                <a:alpha val="30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8308848" y="1920240"/>
            <a:ext cx="3422904" cy="731520"/>
          </a:xfrm>
          <a:prstGeom prst="roundRect">
            <a:avLst>
              <a:gd name="adj" fmla="val 12500"/>
            </a:avLst>
          </a:prstGeom>
          <a:solidFill>
            <a:srgbClr val="E896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308848" y="2304288"/>
            <a:ext cx="3422904" cy="347472"/>
          </a:xfrm>
          <a:prstGeom prst="rect">
            <a:avLst/>
          </a:prstGeom>
          <a:solidFill>
            <a:srgbClr val="E8963A"/>
          </a:solidFill>
          <a:ln/>
        </p:spPr>
      </p:sp>
      <p:sp>
        <p:nvSpPr>
          <p:cNvPr id="28" name="Shape 26"/>
          <p:cNvSpPr/>
          <p:nvPr/>
        </p:nvSpPr>
        <p:spPr>
          <a:xfrm>
            <a:off x="8491728" y="2084832"/>
            <a:ext cx="402336" cy="402336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29" name="Text 27"/>
          <p:cNvSpPr/>
          <p:nvPr/>
        </p:nvSpPr>
        <p:spPr>
          <a:xfrm>
            <a:off x="8491728" y="208483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E89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30" name="Text 28"/>
          <p:cNvSpPr/>
          <p:nvPr/>
        </p:nvSpPr>
        <p:spPr>
          <a:xfrm>
            <a:off x="8967216" y="1965960"/>
            <a:ext cx="259994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PBS batch job</a:t>
            </a:r>
            <a:endParaRPr lang="en-US" sz="1550" dirty="0"/>
          </a:p>
        </p:txBody>
      </p:sp>
      <p:sp>
        <p:nvSpPr>
          <p:cNvPr id="31" name="Text 29"/>
          <p:cNvSpPr/>
          <p:nvPr/>
        </p:nvSpPr>
        <p:spPr>
          <a:xfrm>
            <a:off x="8537448" y="2788920"/>
            <a:ext cx="2965704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dsupdt process currently runs as a PBS batch job — -d PBS with -QS qsub options; -PL forks parallel records for heavy datasets.</a:t>
            </a:r>
            <a:endParaRPr lang="en-US" sz="1250" dirty="0"/>
          </a:p>
        </p:txBody>
      </p:sp>
      <p:sp>
        <p:nvSpPr>
          <p:cNvPr id="32" name="Shape 30"/>
          <p:cNvSpPr/>
          <p:nvPr/>
        </p:nvSpPr>
        <p:spPr>
          <a:xfrm>
            <a:off x="8510016" y="4462272"/>
            <a:ext cx="3020568" cy="502920"/>
          </a:xfrm>
          <a:prstGeom prst="roundRect">
            <a:avLst>
              <a:gd name="adj" fmla="val 9091"/>
            </a:avLst>
          </a:prstGeom>
          <a:solidFill>
            <a:srgbClr val="E3EEF3"/>
          </a:solidFill>
          <a:ln/>
        </p:spPr>
      </p:sp>
      <p:sp>
        <p:nvSpPr>
          <p:cNvPr id="33" name="Text 31"/>
          <p:cNvSpPr/>
          <p:nvPr/>
        </p:nvSpPr>
        <p:spPr>
          <a:xfrm>
            <a:off x="8638032" y="4462272"/>
            <a:ext cx="287426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89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</a:t>
            </a:r>
            <a:pPr indent="0" marL="0">
              <a:buNone/>
            </a:pPr>
            <a:r>
              <a:rPr lang="en-US" sz="1200" b="1" dirty="0">
                <a:solidFill>
                  <a:srgbClr val="E89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runs download → build → archive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457200" y="5394960"/>
            <a:ext cx="11274552" cy="822960"/>
          </a:xfrm>
          <a:prstGeom prst="roundRect">
            <a:avLst>
              <a:gd name="adj" fmla="val 11111"/>
            </a:avLst>
          </a:prstGeom>
          <a:solidFill>
            <a:srgbClr val="EEF4F8"/>
          </a:solidFill>
          <a:ln w="12700">
            <a:solidFill>
              <a:srgbClr val="CBDCE6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685800" y="5623560"/>
            <a:ext cx="457200" cy="457200"/>
          </a:xfrm>
          <a:prstGeom prst="ellipse">
            <a:avLst/>
          </a:prstGeom>
          <a:solidFill>
            <a:srgbClr val="065A82"/>
          </a:solidFill>
          <a:ln/>
        </p:spPr>
      </p:sp>
      <p:sp>
        <p:nvSpPr>
          <p:cNvPr id="36" name="Text 34"/>
          <p:cNvSpPr/>
          <p:nvPr/>
        </p:nvSpPr>
        <p:spPr>
          <a:xfrm>
            <a:off x="685800" y="56235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</a:t>
            </a:r>
            <a:endParaRPr lang="en-US" sz="1600" dirty="0"/>
          </a:p>
        </p:txBody>
      </p:sp>
      <p:sp>
        <p:nvSpPr>
          <p:cNvPr id="37" name="Text 35"/>
          <p:cNvSpPr/>
          <p:nvPr/>
        </p:nvSpPr>
        <p:spPr>
          <a:xfrm>
            <a:off x="1280160" y="5394960"/>
            <a:ext cx="10241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Direct / manual: </a:t>
            </a:r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</a:t>
            </a:r>
            <a:pPr indent="0" marL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1221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dsupdt -UF</a:t>
            </a:r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yourself — or from a plain cron job on a specific host — for one-off runs, re-archiving, and debugging. No control record or dscheck needed.</a:t>
            </a:r>
            <a:endParaRPr lang="en-US" sz="1250" dirty="0"/>
          </a:p>
        </p:txBody>
      </p:sp>
      <p:sp>
        <p:nvSpPr>
          <p:cNvPr id="38" name="Text 36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dsupdt  •  Developer &amp; General Usage Guide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11368735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CONCEPTS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221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Valid Interval &amp; Multi-Period Updates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457200" y="1600200"/>
            <a:ext cx="5577840" cy="960120"/>
          </a:xfrm>
          <a:prstGeom prst="roundRect">
            <a:avLst>
              <a:gd name="adj" fmla="val 7619"/>
            </a:avLst>
          </a:prstGeom>
          <a:solidFill>
            <a:srgbClr val="EEF4F8"/>
          </a:solidFill>
          <a:ln w="19050">
            <a:solidFill>
              <a:srgbClr val="065A82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58368" y="1709928"/>
            <a:ext cx="5212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65A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-FQ  Frequency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658368" y="2103120"/>
            <a:ext cx="5212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size of one update period (1D, 6H, 1M, …)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457200" y="2679192"/>
            <a:ext cx="5577840" cy="960120"/>
          </a:xfrm>
          <a:prstGeom prst="roundRect">
            <a:avLst>
              <a:gd name="adj" fmla="val 7619"/>
            </a:avLst>
          </a:prstGeom>
          <a:solidFill>
            <a:srgbClr val="EEF4F8"/>
          </a:solidFill>
          <a:ln w="19050">
            <a:solidFill>
              <a:srgbClr val="2E8B7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58368" y="2788920"/>
            <a:ext cx="5212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8B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-MU  MultipleUpdate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658368" y="3182112"/>
            <a:ext cx="5212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process every elapsed period, not just the newest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457200" y="3758184"/>
            <a:ext cx="5577840" cy="960120"/>
          </a:xfrm>
          <a:prstGeom prst="roundRect">
            <a:avLst>
              <a:gd name="adj" fmla="val 7619"/>
            </a:avLst>
          </a:prstGeom>
          <a:solidFill>
            <a:srgbClr val="EEF4F8"/>
          </a:solidFill>
          <a:ln w="19050">
            <a:solidFill>
              <a:srgbClr val="E8963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58368" y="3867912"/>
            <a:ext cx="5212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896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-VI  ValidInterval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658368" y="4261104"/>
            <a:ext cx="5212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look back this far to re-check / re-archive late data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457200" y="4837176"/>
            <a:ext cx="5577840" cy="960120"/>
          </a:xfrm>
          <a:prstGeom prst="roundRect">
            <a:avLst>
              <a:gd name="adj" fmla="val 7619"/>
            </a:avLst>
          </a:prstGeom>
          <a:solidFill>
            <a:srgbClr val="EEF4F8"/>
          </a:solidFill>
          <a:ln w="19050">
            <a:solidFill>
              <a:srgbClr val="1C7293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58368" y="4946904"/>
            <a:ext cx="5212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C729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-DI  DueInterval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658368" y="5340096"/>
            <a:ext cx="5212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 time from period end until data is expected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6309360" y="1600200"/>
            <a:ext cx="5422392" cy="2788920"/>
          </a:xfrm>
          <a:prstGeom prst="roundRect">
            <a:avLst>
              <a:gd name="adj" fmla="val 3279"/>
            </a:avLst>
          </a:prstGeom>
          <a:solidFill>
            <a:srgbClr val="0E1B2E"/>
          </a:solidFill>
          <a:ln/>
        </p:spPr>
      </p:sp>
      <p:sp>
        <p:nvSpPr>
          <p:cNvPr id="17" name="Text 15"/>
          <p:cNvSpPr/>
          <p:nvPr/>
        </p:nvSpPr>
        <p:spPr>
          <a:xfrm>
            <a:off x="6537960" y="173736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89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Re-check window  (VI = 4D, FQ = 1D)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6629400" y="2651760"/>
            <a:ext cx="4754880" cy="0"/>
          </a:xfrm>
          <a:prstGeom prst="line">
            <a:avLst/>
          </a:prstGeom>
          <a:noFill/>
          <a:ln w="25400">
            <a:solidFill>
              <a:srgbClr val="5A7A94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528816" y="2551176"/>
            <a:ext cx="201168" cy="201168"/>
          </a:xfrm>
          <a:prstGeom prst="ellipse">
            <a:avLst/>
          </a:prstGeom>
          <a:solidFill>
            <a:srgbClr val="E8963A"/>
          </a:solidFill>
          <a:ln/>
        </p:spPr>
      </p:sp>
      <p:sp>
        <p:nvSpPr>
          <p:cNvPr id="20" name="Shape 18"/>
          <p:cNvSpPr/>
          <p:nvPr/>
        </p:nvSpPr>
        <p:spPr>
          <a:xfrm>
            <a:off x="7717536" y="2551176"/>
            <a:ext cx="201168" cy="201168"/>
          </a:xfrm>
          <a:prstGeom prst="ellipse">
            <a:avLst/>
          </a:prstGeom>
          <a:solidFill>
            <a:srgbClr val="E8963A"/>
          </a:solidFill>
          <a:ln/>
        </p:spPr>
      </p:sp>
      <p:sp>
        <p:nvSpPr>
          <p:cNvPr id="21" name="Shape 19"/>
          <p:cNvSpPr/>
          <p:nvPr/>
        </p:nvSpPr>
        <p:spPr>
          <a:xfrm>
            <a:off x="8906256" y="2551176"/>
            <a:ext cx="201168" cy="201168"/>
          </a:xfrm>
          <a:prstGeom prst="ellipse">
            <a:avLst/>
          </a:prstGeom>
          <a:solidFill>
            <a:srgbClr val="E8963A"/>
          </a:solidFill>
          <a:ln/>
        </p:spPr>
      </p:sp>
      <p:sp>
        <p:nvSpPr>
          <p:cNvPr id="22" name="Shape 20"/>
          <p:cNvSpPr/>
          <p:nvPr/>
        </p:nvSpPr>
        <p:spPr>
          <a:xfrm>
            <a:off x="10094976" y="2551176"/>
            <a:ext cx="201168" cy="201168"/>
          </a:xfrm>
          <a:prstGeom prst="ellipse">
            <a:avLst/>
          </a:prstGeom>
          <a:solidFill>
            <a:srgbClr val="E8963A"/>
          </a:solidFill>
          <a:ln/>
        </p:spPr>
      </p:sp>
      <p:sp>
        <p:nvSpPr>
          <p:cNvPr id="23" name="Shape 21"/>
          <p:cNvSpPr/>
          <p:nvPr/>
        </p:nvSpPr>
        <p:spPr>
          <a:xfrm>
            <a:off x="11283696" y="2551176"/>
            <a:ext cx="201168" cy="201168"/>
          </a:xfrm>
          <a:prstGeom prst="ellipse">
            <a:avLst/>
          </a:prstGeom>
          <a:solidFill>
            <a:srgbClr val="9FE0C9"/>
          </a:solidFill>
          <a:ln/>
        </p:spPr>
      </p:sp>
      <p:sp>
        <p:nvSpPr>
          <p:cNvPr id="24" name="Text 22"/>
          <p:cNvSpPr/>
          <p:nvPr/>
        </p:nvSpPr>
        <p:spPr>
          <a:xfrm>
            <a:off x="6263640" y="283464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FC4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− VI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10835640" y="283464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FC4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6537960" y="3200400"/>
            <a:ext cx="5029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D8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period is re-checked. Already-archived periods report “no newer file”; a newer source file triggers </a:t>
            </a:r>
            <a:pPr indent="0" marL="0">
              <a:lnSpc>
                <a:spcPct val="112000"/>
              </a:lnSpc>
              <a:buNone/>
            </a:pPr>
            <a:r>
              <a:rPr lang="en-US" sz="1250" b="1" dirty="0">
                <a:solidFill>
                  <a:srgbClr val="9FE0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re-archive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D8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 VI = 0 → single period, no newer-file check.</a:t>
            </a:r>
            <a:endParaRPr lang="en-US" sz="1250" dirty="0"/>
          </a:p>
        </p:txBody>
      </p:sp>
      <p:sp>
        <p:nvSpPr>
          <p:cNvPr id="27" name="Shape 25"/>
          <p:cNvSpPr/>
          <p:nvPr/>
        </p:nvSpPr>
        <p:spPr>
          <a:xfrm>
            <a:off x="6309360" y="4526280"/>
            <a:ext cx="5422392" cy="1508760"/>
          </a:xfrm>
          <a:prstGeom prst="roundRect">
            <a:avLst>
              <a:gd name="adj" fmla="val 6061"/>
            </a:avLst>
          </a:prstGeom>
          <a:solidFill>
            <a:srgbClr val="E3EEF3"/>
          </a:solidFill>
          <a:ln w="12700">
            <a:solidFill>
              <a:srgbClr val="CBDCE6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537960" y="4645152"/>
            <a:ext cx="5029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Partial updates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6537960" y="4983480"/>
            <a:ext cx="5029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b="1" dirty="0">
                <a:solidFill>
                  <a:srgbClr val="065A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With -MR Y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a many-to-one build tolerates missing remotes. If -VI is also set, the update is held open until the files arrive or the window expires.</a:t>
            </a:r>
            <a:endParaRPr lang="en-US" sz="1250" dirty="0"/>
          </a:p>
        </p:txBody>
      </p:sp>
      <p:sp>
        <p:nvSpPr>
          <p:cNvPr id="30" name="Text 28"/>
          <p:cNvSpPr/>
          <p:nvPr/>
        </p:nvSpPr>
        <p:spPr>
          <a:xfrm>
            <a:off x="457200" y="5989320"/>
            <a:ext cx="5760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E896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-IE / -QE / -EC</a:t>
            </a:r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govern how errors interact with multi-period runs: skip &amp; continue, quit, or normal.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dsupdt  •  Developer &amp; General Usage Guide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11368735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89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221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Email Reporting  (-MC / -EMailControl)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457200" y="1554480"/>
            <a:ext cx="2212848" cy="1691640"/>
          </a:xfrm>
          <a:prstGeom prst="roundRect">
            <a:avLst>
              <a:gd name="adj" fmla="val 5405"/>
            </a:avLst>
          </a:prstGeom>
          <a:solidFill>
            <a:srgbClr val="FFFFFF"/>
          </a:solidFill>
          <a:ln w="25400">
            <a:solidFill>
              <a:srgbClr val="2E8B7A"/>
            </a:solidFill>
            <a:prstDash val="solid"/>
          </a:ln>
          <a:effectLst>
            <a:outerShdw sx="100000" sy="100000" kx="0" ky="0" algn="bl" rotWithShape="0" blurRad="50800" dist="25400" dir="5400000">
              <a:srgbClr val="9FB6C6">
                <a:alpha val="2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1197864" y="1755648"/>
            <a:ext cx="731520" cy="731520"/>
          </a:xfrm>
          <a:prstGeom prst="ellipse">
            <a:avLst/>
          </a:prstGeom>
          <a:solidFill>
            <a:srgbClr val="2E8B7A"/>
          </a:solidFill>
          <a:ln/>
        </p:spPr>
      </p:sp>
      <p:sp>
        <p:nvSpPr>
          <p:cNvPr id="6" name="Text 4"/>
          <p:cNvSpPr/>
          <p:nvPr/>
        </p:nvSpPr>
        <p:spPr>
          <a:xfrm>
            <a:off x="1197864" y="1755648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548640" y="2514600"/>
            <a:ext cx="20299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566928" y="2852928"/>
            <a:ext cx="19933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detailed report, always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2807208" y="1554480"/>
            <a:ext cx="2212848" cy="1691640"/>
          </a:xfrm>
          <a:prstGeom prst="roundRect">
            <a:avLst>
              <a:gd name="adj" fmla="val 5405"/>
            </a:avLst>
          </a:prstGeom>
          <a:solidFill>
            <a:srgbClr val="FFFFFF"/>
          </a:solidFill>
          <a:ln w="25400">
            <a:solidFill>
              <a:srgbClr val="1C7293"/>
            </a:solidFill>
            <a:prstDash val="solid"/>
          </a:ln>
          <a:effectLst>
            <a:outerShdw sx="100000" sy="100000" kx="0" ky="0" algn="bl" rotWithShape="0" blurRad="50800" dist="25400" dir="5400000">
              <a:srgbClr val="9FB6C6">
                <a:alpha val="25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3547872" y="1755648"/>
            <a:ext cx="731520" cy="731520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11" name="Text 9"/>
          <p:cNvSpPr/>
          <p:nvPr/>
        </p:nvSpPr>
        <p:spPr>
          <a:xfrm>
            <a:off x="3547872" y="1755648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</a:t>
            </a:r>
            <a:endParaRPr lang="en-US" sz="3000" dirty="0"/>
          </a:p>
        </p:txBody>
      </p:sp>
      <p:sp>
        <p:nvSpPr>
          <p:cNvPr id="12" name="Text 10"/>
          <p:cNvSpPr/>
          <p:nvPr/>
        </p:nvSpPr>
        <p:spPr>
          <a:xfrm>
            <a:off x="2898648" y="2514600"/>
            <a:ext cx="20299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Summary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2916936" y="2852928"/>
            <a:ext cx="19933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summary only, no detail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157216" y="1554480"/>
            <a:ext cx="2212848" cy="1691640"/>
          </a:xfrm>
          <a:prstGeom prst="roundRect">
            <a:avLst>
              <a:gd name="adj" fmla="val 5405"/>
            </a:avLst>
          </a:prstGeom>
          <a:solidFill>
            <a:srgbClr val="FFFFFF"/>
          </a:solidFill>
          <a:ln w="25400">
            <a:solidFill>
              <a:srgbClr val="E8963A"/>
            </a:solidFill>
            <a:prstDash val="solid"/>
          </a:ln>
          <a:effectLst>
            <a:outerShdw sx="100000" sy="100000" kx="0" ky="0" algn="bl" rotWithShape="0" blurRad="50800" dist="25400" dir="5400000">
              <a:srgbClr val="9FB6C6">
                <a:alpha val="25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5897880" y="1755648"/>
            <a:ext cx="731520" cy="731520"/>
          </a:xfrm>
          <a:prstGeom prst="ellipse">
            <a:avLst/>
          </a:prstGeom>
          <a:solidFill>
            <a:srgbClr val="E8963A"/>
          </a:solidFill>
          <a:ln/>
        </p:spPr>
      </p:sp>
      <p:sp>
        <p:nvSpPr>
          <p:cNvPr id="16" name="Text 14"/>
          <p:cNvSpPr/>
          <p:nvPr/>
        </p:nvSpPr>
        <p:spPr>
          <a:xfrm>
            <a:off x="5897880" y="1755648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</a:t>
            </a:r>
            <a:endParaRPr lang="en-US" sz="3000" dirty="0"/>
          </a:p>
        </p:txBody>
      </p:sp>
      <p:sp>
        <p:nvSpPr>
          <p:cNvPr id="17" name="Text 15"/>
          <p:cNvSpPr/>
          <p:nvPr/>
        </p:nvSpPr>
        <p:spPr>
          <a:xfrm>
            <a:off x="5248656" y="2514600"/>
            <a:ext cx="20299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Error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5266944" y="2852928"/>
            <a:ext cx="19933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detailed report, only on error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7507224" y="1554480"/>
            <a:ext cx="2212848" cy="1691640"/>
          </a:xfrm>
          <a:prstGeom prst="roundRect">
            <a:avLst>
              <a:gd name="adj" fmla="val 5405"/>
            </a:avLst>
          </a:prstGeom>
          <a:solidFill>
            <a:srgbClr val="FFFFFF"/>
          </a:solidFill>
          <a:ln w="25400">
            <a:solidFill>
              <a:srgbClr val="065A82"/>
            </a:solidFill>
            <a:prstDash val="solid"/>
          </a:ln>
          <a:effectLst>
            <a:outerShdw sx="100000" sy="100000" kx="0" ky="0" algn="bl" rotWithShape="0" blurRad="50800" dist="25400" dir="5400000">
              <a:srgbClr val="9FB6C6">
                <a:alpha val="25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8247888" y="1755648"/>
            <a:ext cx="731520" cy="731520"/>
          </a:xfrm>
          <a:prstGeom prst="ellipse">
            <a:avLst/>
          </a:prstGeom>
          <a:solidFill>
            <a:srgbClr val="065A82"/>
          </a:solidFill>
          <a:ln/>
        </p:spPr>
      </p:sp>
      <p:sp>
        <p:nvSpPr>
          <p:cNvPr id="21" name="Text 19"/>
          <p:cNvSpPr/>
          <p:nvPr/>
        </p:nvSpPr>
        <p:spPr>
          <a:xfrm>
            <a:off x="8247888" y="1755648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3000" dirty="0"/>
          </a:p>
        </p:txBody>
      </p:sp>
      <p:sp>
        <p:nvSpPr>
          <p:cNvPr id="22" name="Text 20"/>
          <p:cNvSpPr/>
          <p:nvPr/>
        </p:nvSpPr>
        <p:spPr>
          <a:xfrm>
            <a:off x="7598664" y="2514600"/>
            <a:ext cx="20299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Summary on error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7616952" y="2852928"/>
            <a:ext cx="19933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summary, only on error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9857232" y="1554480"/>
            <a:ext cx="2212848" cy="1691640"/>
          </a:xfrm>
          <a:prstGeom prst="roundRect">
            <a:avLst>
              <a:gd name="adj" fmla="val 5405"/>
            </a:avLst>
          </a:prstGeom>
          <a:solidFill>
            <a:srgbClr val="FFFFFF"/>
          </a:solidFill>
          <a:ln w="25400">
            <a:solidFill>
              <a:srgbClr val="5C6E7C"/>
            </a:solidFill>
            <a:prstDash val="solid"/>
          </a:ln>
          <a:effectLst>
            <a:outerShdw sx="100000" sy="100000" kx="0" ky="0" algn="bl" rotWithShape="0" blurRad="50800" dist="25400" dir="5400000">
              <a:srgbClr val="9FB6C6">
                <a:alpha val="25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10597896" y="1755648"/>
            <a:ext cx="731520" cy="731520"/>
          </a:xfrm>
          <a:prstGeom prst="ellipse">
            <a:avLst/>
          </a:prstGeom>
          <a:solidFill>
            <a:srgbClr val="5C6E7C"/>
          </a:solidFill>
          <a:ln/>
        </p:spPr>
      </p:sp>
      <p:sp>
        <p:nvSpPr>
          <p:cNvPr id="26" name="Text 24"/>
          <p:cNvSpPr/>
          <p:nvPr/>
        </p:nvSpPr>
        <p:spPr>
          <a:xfrm>
            <a:off x="10597896" y="1755648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</a:t>
            </a:r>
            <a:endParaRPr lang="en-US" sz="3000" dirty="0"/>
          </a:p>
        </p:txBody>
      </p:sp>
      <p:sp>
        <p:nvSpPr>
          <p:cNvPr id="27" name="Text 25"/>
          <p:cNvSpPr/>
          <p:nvPr/>
        </p:nvSpPr>
        <p:spPr>
          <a:xfrm>
            <a:off x="9948672" y="2514600"/>
            <a:ext cx="20299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None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9966960" y="2852928"/>
            <a:ext cx="19933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email at all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457200" y="356616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 sections</a:t>
            </a:r>
            <a:endParaRPr lang="en-US" sz="1600" dirty="0"/>
          </a:p>
        </p:txBody>
      </p:sp>
      <p:sp>
        <p:nvSpPr>
          <p:cNvPr id="30" name="Shape 28"/>
          <p:cNvSpPr/>
          <p:nvPr/>
        </p:nvSpPr>
        <p:spPr>
          <a:xfrm>
            <a:off x="457200" y="4023360"/>
            <a:ext cx="11274552" cy="621792"/>
          </a:xfrm>
          <a:prstGeom prst="roundRect">
            <a:avLst>
              <a:gd name="adj" fmla="val 8824"/>
            </a:avLst>
          </a:prstGeom>
          <a:solidFill>
            <a:srgbClr val="EEF4F8"/>
          </a:solidFill>
          <a:ln w="12700">
            <a:solidFill>
              <a:srgbClr val="CBDCE6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457200" y="4023360"/>
            <a:ext cx="1737360" cy="621792"/>
          </a:xfrm>
          <a:prstGeom prst="roundRect">
            <a:avLst>
              <a:gd name="adj" fmla="val 8824"/>
            </a:avLst>
          </a:prstGeom>
          <a:solidFill>
            <a:srgbClr val="C0392B"/>
          </a:solidFill>
          <a:ln/>
        </p:spPr>
      </p:sp>
      <p:sp>
        <p:nvSpPr>
          <p:cNvPr id="32" name="Text 30"/>
          <p:cNvSpPr/>
          <p:nvPr/>
        </p:nvSpPr>
        <p:spPr>
          <a:xfrm>
            <a:off x="457200" y="4023360"/>
            <a:ext cx="17373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Error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2377440" y="4023360"/>
            <a:ext cx="91897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errors — survives in every mode; raw failures are prefixed with the failing command / dataset</a:t>
            </a:r>
            <a:endParaRPr lang="en-US" sz="1300" dirty="0"/>
          </a:p>
        </p:txBody>
      </p:sp>
      <p:sp>
        <p:nvSpPr>
          <p:cNvPr id="34" name="Shape 32"/>
          <p:cNvSpPr/>
          <p:nvPr/>
        </p:nvSpPr>
        <p:spPr>
          <a:xfrm>
            <a:off x="457200" y="4736592"/>
            <a:ext cx="11274552" cy="621792"/>
          </a:xfrm>
          <a:prstGeom prst="roundRect">
            <a:avLst>
              <a:gd name="adj" fmla="val 8824"/>
            </a:avLst>
          </a:prstGeom>
          <a:solidFill>
            <a:srgbClr val="EEF4F8"/>
          </a:solidFill>
          <a:ln w="12700">
            <a:solidFill>
              <a:srgbClr val="CBDCE6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457200" y="4736592"/>
            <a:ext cx="1737360" cy="621792"/>
          </a:xfrm>
          <a:prstGeom prst="roundRect">
            <a:avLst>
              <a:gd name="adj" fmla="val 8824"/>
            </a:avLst>
          </a:prstGeom>
          <a:solidFill>
            <a:srgbClr val="065A82"/>
          </a:solidFill>
          <a:ln/>
        </p:spPr>
      </p:sp>
      <p:sp>
        <p:nvSpPr>
          <p:cNvPr id="36" name="Text 34"/>
          <p:cNvSpPr/>
          <p:nvPr/>
        </p:nvSpPr>
        <p:spPr>
          <a:xfrm>
            <a:off x="457200" y="4736592"/>
            <a:ext cx="17373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Summary</a:t>
            </a:r>
            <a:endParaRPr lang="en-US" sz="1400" dirty="0"/>
          </a:p>
        </p:txBody>
      </p:sp>
      <p:sp>
        <p:nvSpPr>
          <p:cNvPr id="37" name="Text 35"/>
          <p:cNvSpPr/>
          <p:nvPr/>
        </p:nvSpPr>
        <p:spPr>
          <a:xfrm>
            <a:off x="2377440" y="4736592"/>
            <a:ext cx="91897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headline count + rolled-up “N files ARCHIVED” range lines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457200" y="5449824"/>
            <a:ext cx="11274552" cy="621792"/>
          </a:xfrm>
          <a:prstGeom prst="roundRect">
            <a:avLst>
              <a:gd name="adj" fmla="val 8824"/>
            </a:avLst>
          </a:prstGeom>
          <a:solidFill>
            <a:srgbClr val="EEF4F8"/>
          </a:solidFill>
          <a:ln w="12700">
            <a:solidFill>
              <a:srgbClr val="CBDCE6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457200" y="5449824"/>
            <a:ext cx="1737360" cy="621792"/>
          </a:xfrm>
          <a:prstGeom prst="roundRect">
            <a:avLst>
              <a:gd name="adj" fmla="val 8824"/>
            </a:avLst>
          </a:prstGeom>
          <a:solidFill>
            <a:srgbClr val="1C7293"/>
          </a:solidFill>
          <a:ln/>
        </p:spPr>
      </p:sp>
      <p:sp>
        <p:nvSpPr>
          <p:cNvPr id="40" name="Text 38"/>
          <p:cNvSpPr/>
          <p:nvPr/>
        </p:nvSpPr>
        <p:spPr>
          <a:xfrm>
            <a:off x="457200" y="5449824"/>
            <a:ext cx="17373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Detail</a:t>
            </a:r>
            <a:endParaRPr lang="en-US" sz="1400" dirty="0"/>
          </a:p>
        </p:txBody>
      </p:sp>
      <p:sp>
        <p:nvSpPr>
          <p:cNvPr id="41" name="Text 39"/>
          <p:cNvSpPr/>
          <p:nvPr/>
        </p:nvSpPr>
        <p:spPr>
          <a:xfrm>
            <a:off x="2377440" y="5449824"/>
            <a:ext cx="91897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per-file lines; consecutive no-op re-checks collapse into one range line</a:t>
            </a:r>
            <a:endParaRPr lang="en-US" sz="1300" dirty="0"/>
          </a:p>
        </p:txBody>
      </p:sp>
      <p:sp>
        <p:nvSpPr>
          <p:cNvPr id="42" name="Text 40"/>
          <p:cNvSpPr/>
          <p:nvPr/>
        </p:nvSpPr>
        <p:spPr>
          <a:xfrm>
            <a:off x="457200" y="6263640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E89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Related:  </a:t>
            </a:r>
            <a:pPr algn="ctr" indent="0" marL="0">
              <a:buNone/>
            </a:pPr>
            <a:r>
              <a:rPr lang="en-US" sz="1150" b="1" dirty="0">
                <a:solidFill>
                  <a:srgbClr val="5C6E7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-EE</a:t>
            </a:r>
            <a:pPr algn="ctr" indent="0" marL="0">
              <a:buNone/>
            </a:pPr>
            <a:r>
              <a:rPr lang="en-US" sz="115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(=E),  </a:t>
            </a:r>
            <a:pPr algn="ctr" indent="0" marL="0">
              <a:buNone/>
            </a:pPr>
            <a:r>
              <a:rPr lang="en-US" sz="1150" b="1" dirty="0">
                <a:solidFill>
                  <a:srgbClr val="5C6E7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-SE</a:t>
            </a:r>
            <a:pPr algn="ctr" indent="0" marL="0">
              <a:buNone/>
            </a:pPr>
            <a:r>
              <a:rPr lang="en-US" sz="115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(=S),  </a:t>
            </a:r>
            <a:pPr algn="ctr" indent="0" marL="0">
              <a:buNone/>
            </a:pPr>
            <a:r>
              <a:rPr lang="en-US" sz="1150" b="1" dirty="0">
                <a:solidFill>
                  <a:srgbClr val="5C6E7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-NE</a:t>
            </a:r>
            <a:pPr algn="ctr" indent="0" marL="0">
              <a:buNone/>
            </a:pPr>
            <a:r>
              <a:rPr lang="en-US" sz="115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(=N),  </a:t>
            </a:r>
            <a:pPr algn="ctr" indent="0" marL="0">
              <a:buNone/>
            </a:pPr>
            <a:r>
              <a:rPr lang="en-US" sz="1150" b="1" dirty="0">
                <a:solidFill>
                  <a:srgbClr val="5C6E7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-CC</a:t>
            </a:r>
            <a:pPr algn="ctr" indent="0" marL="0">
              <a:buNone/>
            </a:pPr>
            <a:r>
              <a:rPr lang="en-US" sz="115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adds carbon-copy recipients.</a:t>
            </a:r>
            <a:endParaRPr lang="en-US" sz="1150" dirty="0"/>
          </a:p>
        </p:txBody>
      </p:sp>
      <p:sp>
        <p:nvSpPr>
          <p:cNvPr id="43" name="Text 41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dsupdt  •  Developer &amp; General Usage Guide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11368735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221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Key Mode Options at a Glance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457200" y="1600200"/>
            <a:ext cx="3703320" cy="566928"/>
          </a:xfrm>
          <a:prstGeom prst="roundRect">
            <a:avLst>
              <a:gd name="adj" fmla="val 9677"/>
            </a:avLst>
          </a:prstGeom>
          <a:solidFill>
            <a:srgbClr val="EEF4F8"/>
          </a:solidFill>
          <a:ln w="12700">
            <a:solidFill>
              <a:srgbClr val="CBDCE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48640" y="1719072"/>
            <a:ext cx="777240" cy="329184"/>
          </a:xfrm>
          <a:prstGeom prst="roundRect">
            <a:avLst>
              <a:gd name="adj" fmla="val 13889"/>
            </a:avLst>
          </a:prstGeom>
          <a:solidFill>
            <a:srgbClr val="065A82"/>
          </a:solidFill>
          <a:ln/>
        </p:spPr>
      </p:sp>
      <p:sp>
        <p:nvSpPr>
          <p:cNvPr id="6" name="Text 4"/>
          <p:cNvSpPr/>
          <p:nvPr/>
        </p:nvSpPr>
        <p:spPr>
          <a:xfrm>
            <a:off x="548640" y="1719072"/>
            <a:ext cx="777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-MU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1417320" y="1600200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1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process all elapsed periods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4242816" y="1600200"/>
            <a:ext cx="3703320" cy="566928"/>
          </a:xfrm>
          <a:prstGeom prst="roundRect">
            <a:avLst>
              <a:gd name="adj" fmla="val 9677"/>
            </a:avLst>
          </a:prstGeom>
          <a:solidFill>
            <a:srgbClr val="EEF4F8"/>
          </a:solidFill>
          <a:ln w="12700">
            <a:solidFill>
              <a:srgbClr val="CBDCE6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334256" y="1719072"/>
            <a:ext cx="777240" cy="329184"/>
          </a:xfrm>
          <a:prstGeom prst="roundRect">
            <a:avLst>
              <a:gd name="adj" fmla="val 13889"/>
            </a:avLst>
          </a:prstGeom>
          <a:solidFill>
            <a:srgbClr val="065A82"/>
          </a:solidFill>
          <a:ln/>
        </p:spPr>
      </p:sp>
      <p:sp>
        <p:nvSpPr>
          <p:cNvPr id="10" name="Text 8"/>
          <p:cNvSpPr/>
          <p:nvPr/>
        </p:nvSpPr>
        <p:spPr>
          <a:xfrm>
            <a:off x="4334256" y="1719072"/>
            <a:ext cx="777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-FU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5202936" y="1600200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1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force one update even if not due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8028432" y="1600200"/>
            <a:ext cx="3703320" cy="566928"/>
          </a:xfrm>
          <a:prstGeom prst="roundRect">
            <a:avLst>
              <a:gd name="adj" fmla="val 9677"/>
            </a:avLst>
          </a:prstGeom>
          <a:solidFill>
            <a:srgbClr val="EEF4F8"/>
          </a:solidFill>
          <a:ln w="12700">
            <a:solidFill>
              <a:srgbClr val="CBDCE6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8119872" y="1719072"/>
            <a:ext cx="777240" cy="329184"/>
          </a:xfrm>
          <a:prstGeom prst="roundRect">
            <a:avLst>
              <a:gd name="adj" fmla="val 13889"/>
            </a:avLst>
          </a:prstGeom>
          <a:solidFill>
            <a:srgbClr val="065A82"/>
          </a:solidFill>
          <a:ln/>
        </p:spPr>
      </p:sp>
      <p:sp>
        <p:nvSpPr>
          <p:cNvPr id="14" name="Text 12"/>
          <p:cNvSpPr/>
          <p:nvPr/>
        </p:nvSpPr>
        <p:spPr>
          <a:xfrm>
            <a:off x="8119872" y="1719072"/>
            <a:ext cx="777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-CP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8988552" y="1600200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1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allow current, not-yet-due period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457200" y="2276856"/>
            <a:ext cx="3703320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12700">
            <a:solidFill>
              <a:srgbClr val="CBDCE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548640" y="2395728"/>
            <a:ext cx="777240" cy="329184"/>
          </a:xfrm>
          <a:prstGeom prst="roundRect">
            <a:avLst>
              <a:gd name="adj" fmla="val 13889"/>
            </a:avLst>
          </a:prstGeom>
          <a:solidFill>
            <a:srgbClr val="065A82"/>
          </a:solidFill>
          <a:ln/>
        </p:spPr>
      </p:sp>
      <p:sp>
        <p:nvSpPr>
          <p:cNvPr id="18" name="Text 16"/>
          <p:cNvSpPr/>
          <p:nvPr/>
        </p:nvSpPr>
        <p:spPr>
          <a:xfrm>
            <a:off x="548640" y="2395728"/>
            <a:ext cx="777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-MO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1417320" y="2276856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1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not-yet-archived periods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4242816" y="2276856"/>
            <a:ext cx="3703320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12700">
            <a:solidFill>
              <a:srgbClr val="CBDCE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334256" y="2395728"/>
            <a:ext cx="777240" cy="329184"/>
          </a:xfrm>
          <a:prstGeom prst="roundRect">
            <a:avLst>
              <a:gd name="adj" fmla="val 13889"/>
            </a:avLst>
          </a:prstGeom>
          <a:solidFill>
            <a:srgbClr val="065A82"/>
          </a:solidFill>
          <a:ln/>
        </p:spPr>
      </p:sp>
      <p:sp>
        <p:nvSpPr>
          <p:cNvPr id="22" name="Text 20"/>
          <p:cNvSpPr/>
          <p:nvPr/>
        </p:nvSpPr>
        <p:spPr>
          <a:xfrm>
            <a:off x="4334256" y="2395728"/>
            <a:ext cx="777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-RA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5202936" y="2276856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1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force re-archive via dsarch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8028432" y="2276856"/>
            <a:ext cx="3703320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12700">
            <a:solidFill>
              <a:srgbClr val="CBDCE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8119872" y="2395728"/>
            <a:ext cx="777240" cy="329184"/>
          </a:xfrm>
          <a:prstGeom prst="roundRect">
            <a:avLst>
              <a:gd name="adj" fmla="val 13889"/>
            </a:avLst>
          </a:prstGeom>
          <a:solidFill>
            <a:srgbClr val="065A82"/>
          </a:solidFill>
          <a:ln/>
        </p:spPr>
      </p:sp>
      <p:sp>
        <p:nvSpPr>
          <p:cNvPr id="26" name="Text 24"/>
          <p:cNvSpPr/>
          <p:nvPr/>
        </p:nvSpPr>
        <p:spPr>
          <a:xfrm>
            <a:off x="8119872" y="2395728"/>
            <a:ext cx="777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-RD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8988552" y="2276856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1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re-download existing remote file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457200" y="2953512"/>
            <a:ext cx="3703320" cy="566928"/>
          </a:xfrm>
          <a:prstGeom prst="roundRect">
            <a:avLst>
              <a:gd name="adj" fmla="val 9677"/>
            </a:avLst>
          </a:prstGeom>
          <a:solidFill>
            <a:srgbClr val="EEF4F8"/>
          </a:solidFill>
          <a:ln w="12700">
            <a:solidFill>
              <a:srgbClr val="CBDCE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48640" y="3072384"/>
            <a:ext cx="777240" cy="329184"/>
          </a:xfrm>
          <a:prstGeom prst="roundRect">
            <a:avLst>
              <a:gd name="adj" fmla="val 13889"/>
            </a:avLst>
          </a:prstGeom>
          <a:solidFill>
            <a:srgbClr val="065A82"/>
          </a:solidFill>
          <a:ln/>
        </p:spPr>
      </p:sp>
      <p:sp>
        <p:nvSpPr>
          <p:cNvPr id="30" name="Text 28"/>
          <p:cNvSpPr/>
          <p:nvPr/>
        </p:nvSpPr>
        <p:spPr>
          <a:xfrm>
            <a:off x="548640" y="3072384"/>
            <a:ext cx="777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-CN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1417320" y="2953512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1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re-download if changed on server</a:t>
            </a:r>
            <a:endParaRPr lang="en-US" sz="1150" dirty="0"/>
          </a:p>
        </p:txBody>
      </p:sp>
      <p:sp>
        <p:nvSpPr>
          <p:cNvPr id="32" name="Shape 30"/>
          <p:cNvSpPr/>
          <p:nvPr/>
        </p:nvSpPr>
        <p:spPr>
          <a:xfrm>
            <a:off x="4242816" y="2953512"/>
            <a:ext cx="3703320" cy="566928"/>
          </a:xfrm>
          <a:prstGeom prst="roundRect">
            <a:avLst>
              <a:gd name="adj" fmla="val 9677"/>
            </a:avLst>
          </a:prstGeom>
          <a:solidFill>
            <a:srgbClr val="EEF4F8"/>
          </a:solidFill>
          <a:ln w="12700">
            <a:solidFill>
              <a:srgbClr val="CBDCE6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4334256" y="3072384"/>
            <a:ext cx="777240" cy="329184"/>
          </a:xfrm>
          <a:prstGeom prst="roundRect">
            <a:avLst>
              <a:gd name="adj" fmla="val 13889"/>
            </a:avLst>
          </a:prstGeom>
          <a:solidFill>
            <a:srgbClr val="065A82"/>
          </a:solidFill>
          <a:ln/>
        </p:spPr>
      </p:sp>
      <p:sp>
        <p:nvSpPr>
          <p:cNvPr id="34" name="Text 32"/>
          <p:cNvSpPr/>
          <p:nvPr/>
        </p:nvSpPr>
        <p:spPr>
          <a:xfrm>
            <a:off x="4334256" y="3072384"/>
            <a:ext cx="777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-RE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5202936" y="2953512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1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reset end date/hour from file time</a:t>
            </a:r>
            <a:endParaRPr lang="en-US" sz="1150" dirty="0"/>
          </a:p>
        </p:txBody>
      </p:sp>
      <p:sp>
        <p:nvSpPr>
          <p:cNvPr id="36" name="Shape 34"/>
          <p:cNvSpPr/>
          <p:nvPr/>
        </p:nvSpPr>
        <p:spPr>
          <a:xfrm>
            <a:off x="8028432" y="2953512"/>
            <a:ext cx="3703320" cy="566928"/>
          </a:xfrm>
          <a:prstGeom prst="roundRect">
            <a:avLst>
              <a:gd name="adj" fmla="val 9677"/>
            </a:avLst>
          </a:prstGeom>
          <a:solidFill>
            <a:srgbClr val="EEF4F8"/>
          </a:solidFill>
          <a:ln w="12700">
            <a:solidFill>
              <a:srgbClr val="CBDCE6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8119872" y="3072384"/>
            <a:ext cx="777240" cy="329184"/>
          </a:xfrm>
          <a:prstGeom prst="roundRect">
            <a:avLst>
              <a:gd name="adj" fmla="val 13889"/>
            </a:avLst>
          </a:prstGeom>
          <a:solidFill>
            <a:srgbClr val="065A82"/>
          </a:solidFill>
          <a:ln/>
        </p:spPr>
      </p:sp>
      <p:sp>
        <p:nvSpPr>
          <p:cNvPr id="38" name="Text 36"/>
          <p:cNvSpPr/>
          <p:nvPr/>
        </p:nvSpPr>
        <p:spPr>
          <a:xfrm>
            <a:off x="8119872" y="3072384"/>
            <a:ext cx="777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-IE</a:t>
            </a:r>
            <a:endParaRPr lang="en-US" sz="1200" dirty="0"/>
          </a:p>
        </p:txBody>
      </p:sp>
      <p:sp>
        <p:nvSpPr>
          <p:cNvPr id="39" name="Text 37"/>
          <p:cNvSpPr/>
          <p:nvPr/>
        </p:nvSpPr>
        <p:spPr>
          <a:xfrm>
            <a:off x="8988552" y="2953512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1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skip errors, continue (with -MU)</a:t>
            </a:r>
            <a:endParaRPr lang="en-US" sz="1150" dirty="0"/>
          </a:p>
        </p:txBody>
      </p:sp>
      <p:sp>
        <p:nvSpPr>
          <p:cNvPr id="40" name="Shape 38"/>
          <p:cNvSpPr/>
          <p:nvPr/>
        </p:nvSpPr>
        <p:spPr>
          <a:xfrm>
            <a:off x="457200" y="3630168"/>
            <a:ext cx="3703320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12700">
            <a:solidFill>
              <a:srgbClr val="CBDCE6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48640" y="3749040"/>
            <a:ext cx="777240" cy="329184"/>
          </a:xfrm>
          <a:prstGeom prst="roundRect">
            <a:avLst>
              <a:gd name="adj" fmla="val 13889"/>
            </a:avLst>
          </a:prstGeom>
          <a:solidFill>
            <a:srgbClr val="065A82"/>
          </a:solidFill>
          <a:ln/>
        </p:spPr>
      </p:sp>
      <p:sp>
        <p:nvSpPr>
          <p:cNvPr id="42" name="Text 40"/>
          <p:cNvSpPr/>
          <p:nvPr/>
        </p:nvSpPr>
        <p:spPr>
          <a:xfrm>
            <a:off x="548640" y="3749040"/>
            <a:ext cx="777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-QE</a:t>
            </a:r>
            <a:endParaRPr lang="en-US" sz="1200" dirty="0"/>
          </a:p>
        </p:txBody>
      </p:sp>
      <p:sp>
        <p:nvSpPr>
          <p:cNvPr id="43" name="Text 41"/>
          <p:cNvSpPr/>
          <p:nvPr/>
        </p:nvSpPr>
        <p:spPr>
          <a:xfrm>
            <a:off x="1417320" y="3630168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1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quit dataset on first error</a:t>
            </a:r>
            <a:endParaRPr lang="en-US" sz="1150" dirty="0"/>
          </a:p>
        </p:txBody>
      </p:sp>
      <p:sp>
        <p:nvSpPr>
          <p:cNvPr id="44" name="Shape 42"/>
          <p:cNvSpPr/>
          <p:nvPr/>
        </p:nvSpPr>
        <p:spPr>
          <a:xfrm>
            <a:off x="4242816" y="3630168"/>
            <a:ext cx="3703320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12700">
            <a:solidFill>
              <a:srgbClr val="CBDCE6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4334256" y="3749040"/>
            <a:ext cx="777240" cy="329184"/>
          </a:xfrm>
          <a:prstGeom prst="roundRect">
            <a:avLst>
              <a:gd name="adj" fmla="val 13889"/>
            </a:avLst>
          </a:prstGeom>
          <a:solidFill>
            <a:srgbClr val="065A82"/>
          </a:solidFill>
          <a:ln/>
        </p:spPr>
      </p:sp>
      <p:sp>
        <p:nvSpPr>
          <p:cNvPr id="46" name="Text 44"/>
          <p:cNvSpPr/>
          <p:nvPr/>
        </p:nvSpPr>
        <p:spPr>
          <a:xfrm>
            <a:off x="4334256" y="3749040"/>
            <a:ext cx="777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-GZ</a:t>
            </a:r>
            <a:endParaRPr lang="en-US" sz="1200" dirty="0"/>
          </a:p>
        </p:txBody>
      </p:sp>
      <p:sp>
        <p:nvSpPr>
          <p:cNvPr id="47" name="Text 45"/>
          <p:cNvSpPr/>
          <p:nvPr/>
        </p:nvSpPr>
        <p:spPr>
          <a:xfrm>
            <a:off x="5202936" y="3630168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1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GMT as controlling time</a:t>
            </a:r>
            <a:endParaRPr lang="en-US" sz="1150" dirty="0"/>
          </a:p>
        </p:txBody>
      </p:sp>
      <p:sp>
        <p:nvSpPr>
          <p:cNvPr id="48" name="Shape 46"/>
          <p:cNvSpPr/>
          <p:nvPr/>
        </p:nvSpPr>
        <p:spPr>
          <a:xfrm>
            <a:off x="8028432" y="3630168"/>
            <a:ext cx="3703320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12700">
            <a:solidFill>
              <a:srgbClr val="CBDCE6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8119872" y="3749040"/>
            <a:ext cx="777240" cy="329184"/>
          </a:xfrm>
          <a:prstGeom prst="roundRect">
            <a:avLst>
              <a:gd name="adj" fmla="val 13889"/>
            </a:avLst>
          </a:prstGeom>
          <a:solidFill>
            <a:srgbClr val="065A82"/>
          </a:solidFill>
          <a:ln/>
        </p:spPr>
      </p:sp>
      <p:sp>
        <p:nvSpPr>
          <p:cNvPr id="50" name="Text 48"/>
          <p:cNvSpPr/>
          <p:nvPr/>
        </p:nvSpPr>
        <p:spPr>
          <a:xfrm>
            <a:off x="8119872" y="3749040"/>
            <a:ext cx="777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-NY</a:t>
            </a:r>
            <a:endParaRPr lang="en-US" sz="1200" dirty="0"/>
          </a:p>
        </p:txBody>
      </p:sp>
      <p:sp>
        <p:nvSpPr>
          <p:cNvPr id="51" name="Text 49"/>
          <p:cNvSpPr/>
          <p:nvPr/>
        </p:nvSpPr>
        <p:spPr>
          <a:xfrm>
            <a:off x="8988552" y="3630168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1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skip Feb 29 in leap years</a:t>
            </a:r>
            <a:endParaRPr lang="en-US" sz="1150" dirty="0"/>
          </a:p>
        </p:txBody>
      </p:sp>
      <p:sp>
        <p:nvSpPr>
          <p:cNvPr id="52" name="Shape 50"/>
          <p:cNvSpPr/>
          <p:nvPr/>
        </p:nvSpPr>
        <p:spPr>
          <a:xfrm>
            <a:off x="457200" y="4306824"/>
            <a:ext cx="3703320" cy="566928"/>
          </a:xfrm>
          <a:prstGeom prst="roundRect">
            <a:avLst>
              <a:gd name="adj" fmla="val 9677"/>
            </a:avLst>
          </a:prstGeom>
          <a:solidFill>
            <a:srgbClr val="EEF4F8"/>
          </a:solidFill>
          <a:ln w="12700">
            <a:solidFill>
              <a:srgbClr val="CBDCE6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548640" y="4425696"/>
            <a:ext cx="777240" cy="329184"/>
          </a:xfrm>
          <a:prstGeom prst="roundRect">
            <a:avLst>
              <a:gd name="adj" fmla="val 13889"/>
            </a:avLst>
          </a:prstGeom>
          <a:solidFill>
            <a:srgbClr val="065A82"/>
          </a:solidFill>
          <a:ln/>
        </p:spPr>
      </p:sp>
      <p:sp>
        <p:nvSpPr>
          <p:cNvPr id="54" name="Text 52"/>
          <p:cNvSpPr/>
          <p:nvPr/>
        </p:nvSpPr>
        <p:spPr>
          <a:xfrm>
            <a:off x="548640" y="4425696"/>
            <a:ext cx="777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-KR</a:t>
            </a:r>
            <a:endParaRPr lang="en-US" sz="1200" dirty="0"/>
          </a:p>
        </p:txBody>
      </p:sp>
      <p:sp>
        <p:nvSpPr>
          <p:cNvPr id="55" name="Text 53"/>
          <p:cNvSpPr/>
          <p:nvPr/>
        </p:nvSpPr>
        <p:spPr>
          <a:xfrm>
            <a:off x="1417320" y="4306824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1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keep remote file (copy, not move)</a:t>
            </a:r>
            <a:endParaRPr lang="en-US" sz="1150" dirty="0"/>
          </a:p>
        </p:txBody>
      </p:sp>
      <p:sp>
        <p:nvSpPr>
          <p:cNvPr id="56" name="Shape 54"/>
          <p:cNvSpPr/>
          <p:nvPr/>
        </p:nvSpPr>
        <p:spPr>
          <a:xfrm>
            <a:off x="4242816" y="4306824"/>
            <a:ext cx="3703320" cy="566928"/>
          </a:xfrm>
          <a:prstGeom prst="roundRect">
            <a:avLst>
              <a:gd name="adj" fmla="val 9677"/>
            </a:avLst>
          </a:prstGeom>
          <a:solidFill>
            <a:srgbClr val="EEF4F8"/>
          </a:solidFill>
          <a:ln w="12700">
            <a:solidFill>
              <a:srgbClr val="CBDCE6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4334256" y="4425696"/>
            <a:ext cx="777240" cy="329184"/>
          </a:xfrm>
          <a:prstGeom prst="roundRect">
            <a:avLst>
              <a:gd name="adj" fmla="val 13889"/>
            </a:avLst>
          </a:prstGeom>
          <a:solidFill>
            <a:srgbClr val="065A82"/>
          </a:solidFill>
          <a:ln/>
        </p:spPr>
      </p:sp>
      <p:sp>
        <p:nvSpPr>
          <p:cNvPr id="58" name="Text 56"/>
          <p:cNvSpPr/>
          <p:nvPr/>
        </p:nvSpPr>
        <p:spPr>
          <a:xfrm>
            <a:off x="4334256" y="4425696"/>
            <a:ext cx="777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-KS</a:t>
            </a:r>
            <a:endParaRPr lang="en-US" sz="1200" dirty="0"/>
          </a:p>
        </p:txBody>
      </p:sp>
      <p:sp>
        <p:nvSpPr>
          <p:cNvPr id="59" name="Text 57"/>
          <p:cNvSpPr/>
          <p:nvPr/>
        </p:nvSpPr>
        <p:spPr>
          <a:xfrm>
            <a:off x="5202936" y="4306824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1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keep server file (copy, not move)</a:t>
            </a:r>
            <a:endParaRPr lang="en-US" sz="1150" dirty="0"/>
          </a:p>
        </p:txBody>
      </p:sp>
      <p:sp>
        <p:nvSpPr>
          <p:cNvPr id="60" name="Shape 58"/>
          <p:cNvSpPr/>
          <p:nvPr/>
        </p:nvSpPr>
        <p:spPr>
          <a:xfrm>
            <a:off x="8028432" y="4306824"/>
            <a:ext cx="3703320" cy="566928"/>
          </a:xfrm>
          <a:prstGeom prst="roundRect">
            <a:avLst>
              <a:gd name="adj" fmla="val 9677"/>
            </a:avLst>
          </a:prstGeom>
          <a:solidFill>
            <a:srgbClr val="EEF4F8"/>
          </a:solidFill>
          <a:ln w="12700">
            <a:solidFill>
              <a:srgbClr val="CBDCE6"/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>
            <a:off x="8119872" y="4425696"/>
            <a:ext cx="777240" cy="329184"/>
          </a:xfrm>
          <a:prstGeom prst="roundRect">
            <a:avLst>
              <a:gd name="adj" fmla="val 13889"/>
            </a:avLst>
          </a:prstGeom>
          <a:solidFill>
            <a:srgbClr val="065A82"/>
          </a:solidFill>
          <a:ln/>
        </p:spPr>
      </p:sp>
      <p:sp>
        <p:nvSpPr>
          <p:cNvPr id="62" name="Text 60"/>
          <p:cNvSpPr/>
          <p:nvPr/>
        </p:nvSpPr>
        <p:spPr>
          <a:xfrm>
            <a:off x="8119872" y="4425696"/>
            <a:ext cx="777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-UB</a:t>
            </a:r>
            <a:endParaRPr lang="en-US" sz="1200" dirty="0"/>
          </a:p>
        </p:txBody>
      </p:sp>
      <p:sp>
        <p:nvSpPr>
          <p:cNvPr id="63" name="Text 61"/>
          <p:cNvSpPr/>
          <p:nvPr/>
        </p:nvSpPr>
        <p:spPr>
          <a:xfrm>
            <a:off x="8988552" y="4306824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1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period begin time for patterns</a:t>
            </a:r>
            <a:endParaRPr lang="en-US" sz="1150" dirty="0"/>
          </a:p>
        </p:txBody>
      </p:sp>
      <p:sp>
        <p:nvSpPr>
          <p:cNvPr id="64" name="Shape 62"/>
          <p:cNvSpPr/>
          <p:nvPr/>
        </p:nvSpPr>
        <p:spPr>
          <a:xfrm>
            <a:off x="457200" y="4983480"/>
            <a:ext cx="3703320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12700">
            <a:solidFill>
              <a:srgbClr val="CBDCE6"/>
            </a:solidFill>
            <a:prstDash val="solid"/>
          </a:ln>
        </p:spPr>
      </p:sp>
      <p:sp>
        <p:nvSpPr>
          <p:cNvPr id="65" name="Shape 63"/>
          <p:cNvSpPr/>
          <p:nvPr/>
        </p:nvSpPr>
        <p:spPr>
          <a:xfrm>
            <a:off x="548640" y="5102352"/>
            <a:ext cx="777240" cy="329184"/>
          </a:xfrm>
          <a:prstGeom prst="roundRect">
            <a:avLst>
              <a:gd name="adj" fmla="val 13889"/>
            </a:avLst>
          </a:prstGeom>
          <a:solidFill>
            <a:srgbClr val="065A82"/>
          </a:solidFill>
          <a:ln/>
        </p:spPr>
      </p:sp>
      <p:sp>
        <p:nvSpPr>
          <p:cNvPr id="66" name="Text 64"/>
          <p:cNvSpPr/>
          <p:nvPr/>
        </p:nvSpPr>
        <p:spPr>
          <a:xfrm>
            <a:off x="548640" y="5102352"/>
            <a:ext cx="777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-UT</a:t>
            </a:r>
            <a:endParaRPr lang="en-US" sz="1200" dirty="0"/>
          </a:p>
        </p:txBody>
      </p:sp>
      <p:sp>
        <p:nvSpPr>
          <p:cNvPr id="67" name="Text 65"/>
          <p:cNvSpPr/>
          <p:nvPr/>
        </p:nvSpPr>
        <p:spPr>
          <a:xfrm>
            <a:off x="1417320" y="4983480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1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force end/next-due time advance</a:t>
            </a:r>
            <a:endParaRPr lang="en-US" sz="1150" dirty="0"/>
          </a:p>
        </p:txBody>
      </p:sp>
      <p:sp>
        <p:nvSpPr>
          <p:cNvPr id="68" name="Shape 66"/>
          <p:cNvSpPr/>
          <p:nvPr/>
        </p:nvSpPr>
        <p:spPr>
          <a:xfrm>
            <a:off x="4242816" y="4983480"/>
            <a:ext cx="3703320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12700">
            <a:solidFill>
              <a:srgbClr val="CBDCE6"/>
            </a:solidFill>
            <a:prstDash val="solid"/>
          </a:ln>
        </p:spPr>
      </p:sp>
      <p:sp>
        <p:nvSpPr>
          <p:cNvPr id="69" name="Shape 67"/>
          <p:cNvSpPr/>
          <p:nvPr/>
        </p:nvSpPr>
        <p:spPr>
          <a:xfrm>
            <a:off x="4334256" y="5102352"/>
            <a:ext cx="777240" cy="329184"/>
          </a:xfrm>
          <a:prstGeom prst="roundRect">
            <a:avLst>
              <a:gd name="adj" fmla="val 13889"/>
            </a:avLst>
          </a:prstGeom>
          <a:solidFill>
            <a:srgbClr val="065A82"/>
          </a:solidFill>
          <a:ln/>
        </p:spPr>
      </p:sp>
      <p:sp>
        <p:nvSpPr>
          <p:cNvPr id="70" name="Text 68"/>
          <p:cNvSpPr/>
          <p:nvPr/>
        </p:nvSpPr>
        <p:spPr>
          <a:xfrm>
            <a:off x="4334256" y="5102352"/>
            <a:ext cx="777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-BG</a:t>
            </a:r>
            <a:endParaRPr lang="en-US" sz="1200" dirty="0"/>
          </a:p>
        </p:txBody>
      </p:sp>
      <p:sp>
        <p:nvSpPr>
          <p:cNvPr id="71" name="Text 69"/>
          <p:cNvSpPr/>
          <p:nvPr/>
        </p:nvSpPr>
        <p:spPr>
          <a:xfrm>
            <a:off x="5202936" y="4983480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1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background; suppress screen output</a:t>
            </a:r>
            <a:endParaRPr lang="en-US" sz="1150" dirty="0"/>
          </a:p>
        </p:txBody>
      </p:sp>
      <p:sp>
        <p:nvSpPr>
          <p:cNvPr id="72" name="Shape 70"/>
          <p:cNvSpPr/>
          <p:nvPr/>
        </p:nvSpPr>
        <p:spPr>
          <a:xfrm>
            <a:off x="8028432" y="4983480"/>
            <a:ext cx="3703320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12700">
            <a:solidFill>
              <a:srgbClr val="CBDCE6"/>
            </a:solidFill>
            <a:prstDash val="solid"/>
          </a:ln>
        </p:spPr>
      </p:sp>
      <p:sp>
        <p:nvSpPr>
          <p:cNvPr id="73" name="Shape 71"/>
          <p:cNvSpPr/>
          <p:nvPr/>
        </p:nvSpPr>
        <p:spPr>
          <a:xfrm>
            <a:off x="8119872" y="5102352"/>
            <a:ext cx="777240" cy="329184"/>
          </a:xfrm>
          <a:prstGeom prst="roundRect">
            <a:avLst>
              <a:gd name="adj" fmla="val 13889"/>
            </a:avLst>
          </a:prstGeom>
          <a:solidFill>
            <a:srgbClr val="065A82"/>
          </a:solidFill>
          <a:ln/>
        </p:spPr>
      </p:sp>
      <p:sp>
        <p:nvSpPr>
          <p:cNvPr id="74" name="Text 72"/>
          <p:cNvSpPr/>
          <p:nvPr/>
        </p:nvSpPr>
        <p:spPr>
          <a:xfrm>
            <a:off x="8119872" y="5102352"/>
            <a:ext cx="777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-NE</a:t>
            </a:r>
            <a:endParaRPr lang="en-US" sz="1200" dirty="0"/>
          </a:p>
        </p:txBody>
      </p:sp>
      <p:sp>
        <p:nvSpPr>
          <p:cNvPr id="75" name="Text 73"/>
          <p:cNvSpPr/>
          <p:nvPr/>
        </p:nvSpPr>
        <p:spPr>
          <a:xfrm>
            <a:off x="8988552" y="4983480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1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suppress notification email</a:t>
            </a:r>
            <a:endParaRPr lang="en-US" sz="1150" dirty="0"/>
          </a:p>
        </p:txBody>
      </p:sp>
      <p:sp>
        <p:nvSpPr>
          <p:cNvPr id="76" name="Text 74"/>
          <p:cNvSpPr/>
          <p:nvPr/>
        </p:nvSpPr>
        <p:spPr>
          <a:xfrm>
            <a:off x="457200" y="6263640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 modes can be preset in the control record via -UC (single letters) and -KF / -MC / -EC.</a:t>
            </a:r>
            <a:endParaRPr lang="en-US" sz="1200" dirty="0"/>
          </a:p>
        </p:txBody>
      </p:sp>
      <p:sp>
        <p:nvSpPr>
          <p:cNvPr id="77" name="Text 75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dsupdt  •  Developer &amp; General Usage Guide</a:t>
            </a:r>
            <a:endParaRPr lang="en-US" sz="900" dirty="0"/>
          </a:p>
        </p:txBody>
      </p:sp>
      <p:sp>
        <p:nvSpPr>
          <p:cNvPr id="78" name="Text 76"/>
          <p:cNvSpPr/>
          <p:nvPr/>
        </p:nvSpPr>
        <p:spPr>
          <a:xfrm>
            <a:off x="11368735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DEVELOPER CONFIGURATION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221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Environment &amp; Prerequisites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457200" y="1554480"/>
            <a:ext cx="553212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CBDCE6"/>
            </a:solidFill>
            <a:prstDash val="solid"/>
          </a:ln>
          <a:effectLst>
            <a:outerShdw sx="100000" sy="100000" kx="0" ky="0" algn="bl" rotWithShape="0" blurRad="50800" dist="25400" dir="5400000">
              <a:srgbClr val="9FB6C6">
                <a:alpha val="2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76656" y="1773936"/>
            <a:ext cx="566928" cy="566928"/>
          </a:xfrm>
          <a:prstGeom prst="ellipse">
            <a:avLst/>
          </a:prstGeom>
          <a:solidFill>
            <a:srgbClr val="065A82"/>
          </a:solidFill>
          <a:ln/>
        </p:spPr>
      </p:sp>
      <p:sp>
        <p:nvSpPr>
          <p:cNvPr id="6" name="Text 4"/>
          <p:cNvSpPr/>
          <p:nvPr/>
        </p:nvSpPr>
        <p:spPr>
          <a:xfrm>
            <a:off x="676656" y="177393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⌘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371600" y="1737360"/>
            <a:ext cx="4434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 dsarch/dsupdt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1371600" y="2121408"/>
            <a:ext cx="4434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operational datasets run under dsupdt/dsarch control; dsupdt hands its local files to dsarch for archiving onto GDEX.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199632" y="1554480"/>
            <a:ext cx="553212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CBDCE6"/>
            </a:solidFill>
            <a:prstDash val="solid"/>
          </a:ln>
          <a:effectLst>
            <a:outerShdw sx="100000" sy="100000" kx="0" ky="0" algn="bl" rotWithShape="0" blurRad="50800" dist="25400" dir="5400000">
              <a:srgbClr val="9FB6C6">
                <a:alpha val="25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6419088" y="1773936"/>
            <a:ext cx="566928" cy="566928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11" name="Text 9"/>
          <p:cNvSpPr/>
          <p:nvPr/>
        </p:nvSpPr>
        <p:spPr>
          <a:xfrm>
            <a:off x="6419088" y="177393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7114032" y="1737360"/>
            <a:ext cx="4434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$UPDTWKP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7114032" y="2121408"/>
            <a:ext cx="4434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 for working dirs. If set to /lustre/gdex/work, then $UPDTWKP/zji/icoads resolves under it; if unset, -WD is used as given.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457200" y="3108960"/>
            <a:ext cx="553212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CBDCE6"/>
            </a:solidFill>
            <a:prstDash val="solid"/>
          </a:ln>
          <a:effectLst>
            <a:outerShdw sx="100000" sy="100000" kx="0" ky="0" algn="bl" rotWithShape="0" blurRad="50800" dist="25400" dir="5400000">
              <a:srgbClr val="9FB6C6">
                <a:alpha val="25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676656" y="3328416"/>
            <a:ext cx="566928" cy="566928"/>
          </a:xfrm>
          <a:prstGeom prst="ellipse">
            <a:avLst/>
          </a:prstGeom>
          <a:solidFill>
            <a:srgbClr val="E8963A"/>
          </a:solidFill>
          <a:ln/>
        </p:spPr>
      </p:sp>
      <p:sp>
        <p:nvSpPr>
          <p:cNvPr id="16" name="Text 14"/>
          <p:cNvSpPr/>
          <p:nvPr/>
        </p:nvSpPr>
        <p:spPr>
          <a:xfrm>
            <a:off x="676656" y="332841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🔒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371600" y="3291840"/>
            <a:ext cx="4434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Ownership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1371600" y="3675888"/>
            <a:ext cx="4434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the owning specialist may run a record. Use -MD to override, or -LN to run on behalf of another (auto-adds -MD to dsarch).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6199632" y="3108960"/>
            <a:ext cx="553212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CBDCE6"/>
            </a:solidFill>
            <a:prstDash val="solid"/>
          </a:ln>
          <a:effectLst>
            <a:outerShdw sx="100000" sy="100000" kx="0" ky="0" algn="bl" rotWithShape="0" blurRad="50800" dist="25400" dir="5400000">
              <a:srgbClr val="9FB6C6">
                <a:alpha val="25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6419088" y="3328416"/>
            <a:ext cx="566928" cy="566928"/>
          </a:xfrm>
          <a:prstGeom prst="ellipse">
            <a:avLst/>
          </a:prstGeom>
          <a:solidFill>
            <a:srgbClr val="2E8B7A"/>
          </a:solidFill>
          <a:ln/>
        </p:spPr>
      </p:sp>
      <p:sp>
        <p:nvSpPr>
          <p:cNvPr id="21" name="Text 19"/>
          <p:cNvSpPr/>
          <p:nvPr/>
        </p:nvSpPr>
        <p:spPr>
          <a:xfrm>
            <a:off x="6419088" y="332841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7114032" y="3291840"/>
            <a:ext cx="4434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dNNNNNN.*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7114032" y="3675888"/>
            <a:ext cx="4434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Input files must start with the dataset number and match -DS — a guard against operating on the wrong dataset.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457200" y="4663440"/>
            <a:ext cx="553212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CBDCE6"/>
            </a:solidFill>
            <a:prstDash val="solid"/>
          </a:ln>
          <a:effectLst>
            <a:outerShdw sx="100000" sy="100000" kx="0" ky="0" algn="bl" rotWithShape="0" blurRad="50800" dist="25400" dir="5400000">
              <a:srgbClr val="9FB6C6">
                <a:alpha val="25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676656" y="4882896"/>
            <a:ext cx="566928" cy="566928"/>
          </a:xfrm>
          <a:prstGeom prst="ellipse">
            <a:avLst/>
          </a:prstGeom>
          <a:solidFill>
            <a:srgbClr val="065A82"/>
          </a:solidFill>
          <a:ln/>
        </p:spPr>
      </p:sp>
      <p:sp>
        <p:nvSpPr>
          <p:cNvPr id="26" name="Text 24"/>
          <p:cNvSpPr/>
          <p:nvPr/>
        </p:nvSpPr>
        <p:spPr>
          <a:xfrm>
            <a:off x="676656" y="488289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∥</a:t>
            </a:r>
            <a:endParaRPr lang="en-US" sz="1800" dirty="0"/>
          </a:p>
        </p:txBody>
      </p:sp>
      <p:sp>
        <p:nvSpPr>
          <p:cNvPr id="27" name="Text 25"/>
          <p:cNvSpPr/>
          <p:nvPr/>
        </p:nvSpPr>
        <p:spPr>
          <a:xfrm>
            <a:off x="1371600" y="4846320"/>
            <a:ext cx="4434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-PL parallelism</a:t>
            </a:r>
            <a:endParaRPr lang="en-US" sz="1500" dirty="0"/>
          </a:p>
        </p:txBody>
      </p:sp>
      <p:sp>
        <p:nvSpPr>
          <p:cNvPr id="28" name="Text 26"/>
          <p:cNvSpPr/>
          <p:nvPr/>
        </p:nvSpPr>
        <p:spPr>
          <a:xfrm>
            <a:off x="1371600" y="5230368"/>
            <a:ext cx="4434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Fork N child processes, each handling one record, for datasets with many independent, time-consuming updates.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6199632" y="4663440"/>
            <a:ext cx="553212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CBDCE6"/>
            </a:solidFill>
            <a:prstDash val="solid"/>
          </a:ln>
          <a:effectLst>
            <a:outerShdw sx="100000" sy="100000" kx="0" ky="0" algn="bl" rotWithShape="0" blurRad="50800" dist="25400" dir="5400000">
              <a:srgbClr val="9FB6C6">
                <a:alpha val="25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6419088" y="4882896"/>
            <a:ext cx="566928" cy="566928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31" name="Text 29"/>
          <p:cNvSpPr/>
          <p:nvPr/>
        </p:nvSpPr>
        <p:spPr>
          <a:xfrm>
            <a:off x="6419088" y="488289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✉</a:t>
            </a:r>
            <a:endParaRPr lang="en-US" sz="1800" dirty="0"/>
          </a:p>
        </p:txBody>
      </p:sp>
      <p:sp>
        <p:nvSpPr>
          <p:cNvPr id="32" name="Text 30"/>
          <p:cNvSpPr/>
          <p:nvPr/>
        </p:nvSpPr>
        <p:spPr>
          <a:xfrm>
            <a:off x="7114032" y="4846320"/>
            <a:ext cx="4434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-DB / logs</a:t>
            </a:r>
            <a:endParaRPr lang="en-US" sz="1500" dirty="0"/>
          </a:p>
        </p:txBody>
      </p:sp>
      <p:sp>
        <p:nvSpPr>
          <p:cNvPr id="33" name="Text 31"/>
          <p:cNvSpPr/>
          <p:nvPr/>
        </p:nvSpPr>
        <p:spPr>
          <a:xfrm>
            <a:off x="7114032" y="5230368"/>
            <a:ext cx="4434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Debug logging via -DB level [path] [file]; default log path $DSSHOME/dssdb/log, file pgdss.dbg.</a:t>
            </a:r>
            <a:endParaRPr lang="en-US" sz="1150" dirty="0"/>
          </a:p>
        </p:txBody>
      </p:sp>
      <p:sp>
        <p:nvSpPr>
          <p:cNvPr id="34" name="Text 32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dsupdt  •  Developer &amp; General Usage Guide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11368735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sz="9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89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OPERATIONS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221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Troubleshooting &amp; Recovery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457200" y="1554480"/>
            <a:ext cx="553212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 w="25400">
            <a:solidFill>
              <a:srgbClr val="065A82"/>
            </a:solidFill>
            <a:prstDash val="solid"/>
          </a:ln>
          <a:effectLst>
            <a:outerShdw sx="100000" sy="100000" kx="0" ky="0" algn="bl" rotWithShape="0" blurRad="63500" dist="25400" dir="5400000">
              <a:srgbClr val="9FB6C6">
                <a:alpha val="2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85800" y="1783080"/>
            <a:ext cx="502920" cy="502920"/>
          </a:xfrm>
          <a:prstGeom prst="ellipse">
            <a:avLst/>
          </a:prstGeom>
          <a:solidFill>
            <a:srgbClr val="065A82"/>
          </a:solidFill>
          <a:ln/>
        </p:spPr>
      </p:sp>
      <p:sp>
        <p:nvSpPr>
          <p:cNvPr id="6" name="Text 4"/>
          <p:cNvSpPr/>
          <p:nvPr/>
        </p:nvSpPr>
        <p:spPr>
          <a:xfrm>
            <a:off x="685800" y="17830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1325880" y="1755648"/>
            <a:ext cx="4480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221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Stuck lock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731520" y="2331720"/>
            <a:ext cx="4983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crashed run may leave PID/host on a record, blocking reprocessing on another host.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713232" y="2743200"/>
            <a:ext cx="5020056" cy="621792"/>
          </a:xfrm>
          <a:prstGeom prst="roundRect">
            <a:avLst>
              <a:gd name="adj" fmla="val 7353"/>
            </a:avLst>
          </a:prstGeom>
          <a:solidFill>
            <a:srgbClr val="0E1B2E"/>
          </a:solidFill>
          <a:ln/>
        </p:spPr>
      </p:sp>
      <p:sp>
        <p:nvSpPr>
          <p:cNvPr id="10" name="Text 8"/>
          <p:cNvSpPr/>
          <p:nvPr/>
        </p:nvSpPr>
        <p:spPr>
          <a:xfrm>
            <a:off x="841248" y="2743200"/>
            <a:ext cx="48006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100" dirty="0">
                <a:solidFill>
                  <a:srgbClr val="9FE0C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dsupdt -UL -CI 57</a:t>
            </a:r>
            <a:endParaRPr lang="en-US" sz="1100" dirty="0"/>
          </a:p>
          <a:p>
            <a:pPr indent="0" marL="0">
              <a:lnSpc>
                <a:spcPct val="95000"/>
              </a:lnSpc>
              <a:buNone/>
            </a:pPr>
            <a:r>
              <a:rPr lang="en-US" sz="1100" dirty="0">
                <a:solidFill>
                  <a:srgbClr val="9FE0C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dsupdt -UL -LI 33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6199632" y="1554480"/>
            <a:ext cx="553212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 w="25400">
            <a:solidFill>
              <a:srgbClr val="1C7293"/>
            </a:solidFill>
            <a:prstDash val="solid"/>
          </a:ln>
          <a:effectLst>
            <a:outerShdw sx="100000" sy="100000" kx="0" ky="0" algn="bl" rotWithShape="0" blurRad="63500" dist="25400" dir="5400000">
              <a:srgbClr val="9FB6C6">
                <a:alpha val="28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6428232" y="1783080"/>
            <a:ext cx="502920" cy="502920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13" name="Text 11"/>
          <p:cNvSpPr/>
          <p:nvPr/>
        </p:nvSpPr>
        <p:spPr>
          <a:xfrm>
            <a:off x="6428232" y="17830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7068312" y="1755648"/>
            <a:ext cx="4480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221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Is data ready?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6473952" y="2331720"/>
            <a:ext cx="4983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remote-file availability before committing to an update.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6455664" y="2743200"/>
            <a:ext cx="5020056" cy="621792"/>
          </a:xfrm>
          <a:prstGeom prst="roundRect">
            <a:avLst>
              <a:gd name="adj" fmla="val 7353"/>
            </a:avLst>
          </a:prstGeom>
          <a:solidFill>
            <a:srgbClr val="0E1B2E"/>
          </a:solidFill>
          <a:ln/>
        </p:spPr>
      </p:sp>
      <p:sp>
        <p:nvSpPr>
          <p:cNvPr id="17" name="Text 15"/>
          <p:cNvSpPr/>
          <p:nvPr/>
        </p:nvSpPr>
        <p:spPr>
          <a:xfrm>
            <a:off x="6583680" y="2743200"/>
            <a:ext cx="48006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100" dirty="0">
                <a:solidFill>
                  <a:srgbClr val="9FE0C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dsupdt d540000 -CU -CA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3749040"/>
            <a:ext cx="553212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 w="25400">
            <a:solidFill>
              <a:srgbClr val="E8963A"/>
            </a:solidFill>
            <a:prstDash val="solid"/>
          </a:ln>
          <a:effectLst>
            <a:outerShdw sx="100000" sy="100000" kx="0" ky="0" algn="bl" rotWithShape="0" blurRad="63500" dist="25400" dir="5400000">
              <a:srgbClr val="9FB6C6">
                <a:alpha val="28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685800" y="3977640"/>
            <a:ext cx="502920" cy="502920"/>
          </a:xfrm>
          <a:prstGeom prst="ellipse">
            <a:avLst/>
          </a:prstGeom>
          <a:solidFill>
            <a:srgbClr val="E8963A"/>
          </a:solidFill>
          <a:ln/>
        </p:spPr>
      </p:sp>
      <p:sp>
        <p:nvSpPr>
          <p:cNvPr id="20" name="Text 18"/>
          <p:cNvSpPr/>
          <p:nvPr/>
        </p:nvSpPr>
        <p:spPr>
          <a:xfrm>
            <a:off x="685800" y="39776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1325880" y="3950208"/>
            <a:ext cx="4480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221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Re-run a period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731520" y="4526280"/>
            <a:ext cx="4983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Substitute a different date to re-archive or recover a deleted action.</a:t>
            </a:r>
            <a:endParaRPr lang="en-US" sz="1250" dirty="0"/>
          </a:p>
        </p:txBody>
      </p:sp>
      <p:sp>
        <p:nvSpPr>
          <p:cNvPr id="23" name="Shape 21"/>
          <p:cNvSpPr/>
          <p:nvPr/>
        </p:nvSpPr>
        <p:spPr>
          <a:xfrm>
            <a:off x="713232" y="4937760"/>
            <a:ext cx="5020056" cy="621792"/>
          </a:xfrm>
          <a:prstGeom prst="roundRect">
            <a:avLst>
              <a:gd name="adj" fmla="val 7353"/>
            </a:avLst>
          </a:prstGeom>
          <a:solidFill>
            <a:srgbClr val="0E1B2E"/>
          </a:solidFill>
          <a:ln/>
        </p:spPr>
      </p:sp>
      <p:sp>
        <p:nvSpPr>
          <p:cNvPr id="24" name="Text 22"/>
          <p:cNvSpPr/>
          <p:nvPr/>
        </p:nvSpPr>
        <p:spPr>
          <a:xfrm>
            <a:off x="841248" y="4937760"/>
            <a:ext cx="48006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100" dirty="0">
                <a:solidFill>
                  <a:srgbClr val="9FE0C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dsupdt d540000 -UF -CD 2026-07-01 -RA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6199632" y="3749040"/>
            <a:ext cx="553212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 w="25400">
            <a:solidFill>
              <a:srgbClr val="2E8B7A"/>
            </a:solidFill>
            <a:prstDash val="solid"/>
          </a:ln>
          <a:effectLst>
            <a:outerShdw sx="100000" sy="100000" kx="0" ky="0" algn="bl" rotWithShape="0" blurRad="63500" dist="25400" dir="5400000">
              <a:srgbClr val="9FB6C6">
                <a:alpha val="28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6428232" y="3977640"/>
            <a:ext cx="502920" cy="502920"/>
          </a:xfrm>
          <a:prstGeom prst="ellipse">
            <a:avLst/>
          </a:prstGeom>
          <a:solidFill>
            <a:srgbClr val="2E8B7A"/>
          </a:solidFill>
          <a:ln/>
        </p:spPr>
      </p:sp>
      <p:sp>
        <p:nvSpPr>
          <p:cNvPr id="27" name="Text 25"/>
          <p:cNvSpPr/>
          <p:nvPr/>
        </p:nvSpPr>
        <p:spPr>
          <a:xfrm>
            <a:off x="6428232" y="39776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7068312" y="3950208"/>
            <a:ext cx="4480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221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Retry on failure</a:t>
            </a:r>
            <a:endParaRPr lang="en-US" sz="1800" dirty="0"/>
          </a:p>
        </p:txBody>
      </p:sp>
      <p:sp>
        <p:nvSpPr>
          <p:cNvPr id="29" name="Text 27"/>
          <p:cNvSpPr/>
          <p:nvPr/>
        </p:nvSpPr>
        <p:spPr>
          <a:xfrm>
            <a:off x="6473952" y="4526280"/>
            <a:ext cx="4983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 records retry automatically after -RI; -EC sets error behavior.</a:t>
            </a:r>
            <a:endParaRPr lang="en-US" sz="1250" dirty="0"/>
          </a:p>
        </p:txBody>
      </p:sp>
      <p:sp>
        <p:nvSpPr>
          <p:cNvPr id="30" name="Shape 28"/>
          <p:cNvSpPr/>
          <p:nvPr/>
        </p:nvSpPr>
        <p:spPr>
          <a:xfrm>
            <a:off x="6455664" y="4937760"/>
            <a:ext cx="5020056" cy="621792"/>
          </a:xfrm>
          <a:prstGeom prst="roundRect">
            <a:avLst>
              <a:gd name="adj" fmla="val 7353"/>
            </a:avLst>
          </a:prstGeom>
          <a:solidFill>
            <a:srgbClr val="0E1B2E"/>
          </a:solidFill>
          <a:ln/>
        </p:spPr>
      </p:sp>
      <p:sp>
        <p:nvSpPr>
          <p:cNvPr id="31" name="Text 29"/>
          <p:cNvSpPr/>
          <p:nvPr/>
        </p:nvSpPr>
        <p:spPr>
          <a:xfrm>
            <a:off x="6583680" y="4937760"/>
            <a:ext cx="48006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100" dirty="0">
                <a:solidFill>
                  <a:srgbClr val="9FE0C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dsupdt d540000 -SC -CI 5 -RI 12H -EC N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dsupdt  •  Developer &amp; General Usage Guide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11368735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</a:t>
            </a:r>
            <a:endParaRPr lang="en-US" sz="9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0E1B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235440" y="4297680"/>
            <a:ext cx="2743200" cy="2743200"/>
          </a:xfrm>
          <a:prstGeom prst="ellipse">
            <a:avLst/>
          </a:prstGeom>
          <a:ln w="12700">
            <a:solidFill>
              <a:srgbClr val="1C3A55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601200" y="4663440"/>
            <a:ext cx="2011680" cy="2011680"/>
          </a:xfrm>
          <a:prstGeom prst="ellipse">
            <a:avLst/>
          </a:prstGeom>
          <a:ln w="12700">
            <a:solidFill>
              <a:srgbClr val="1C3A55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966960" y="5029200"/>
            <a:ext cx="1280160" cy="1280160"/>
          </a:xfrm>
          <a:prstGeom prst="ellipse">
            <a:avLst/>
          </a:prstGeom>
          <a:ln w="25400">
            <a:solidFill>
              <a:srgbClr val="E8963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68580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89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Recap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640080" y="1051560"/>
            <a:ext cx="10058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From Config to Archive</a:t>
            </a:r>
            <a:endParaRPr lang="en-US" sz="3800" dirty="0"/>
          </a:p>
        </p:txBody>
      </p:sp>
      <p:sp>
        <p:nvSpPr>
          <p:cNvPr id="7" name="Shape 5"/>
          <p:cNvSpPr/>
          <p:nvPr/>
        </p:nvSpPr>
        <p:spPr>
          <a:xfrm>
            <a:off x="640080" y="2103120"/>
            <a:ext cx="502920" cy="502920"/>
          </a:xfrm>
          <a:prstGeom prst="ellipse">
            <a:avLst/>
          </a:prstGeom>
          <a:solidFill>
            <a:srgbClr val="065A82"/>
          </a:solidFill>
          <a:ln/>
        </p:spPr>
      </p:sp>
      <p:sp>
        <p:nvSpPr>
          <p:cNvPr id="8" name="Text 6"/>
          <p:cNvSpPr/>
          <p:nvPr/>
        </p:nvSpPr>
        <p:spPr>
          <a:xfrm>
            <a:off x="640080" y="21031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325880" y="2103120"/>
            <a:ext cx="8686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Configure  </a:t>
            </a:r>
            <a:pPr indent="0" marL="0">
              <a:buNone/>
            </a:pPr>
            <a:r>
              <a:rPr lang="en-US" sz="1500" dirty="0">
                <a:solidFill>
                  <a:srgbClr val="9FC4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record types: control (dcupdt), local (dlupdt), remote (drupdt)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640080" y="2816352"/>
            <a:ext cx="502920" cy="502920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11" name="Text 9"/>
          <p:cNvSpPr/>
          <p:nvPr/>
        </p:nvSpPr>
        <p:spPr>
          <a:xfrm>
            <a:off x="640080" y="281635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1325880" y="2816352"/>
            <a:ext cx="8686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 </a:t>
            </a:r>
            <a:pPr indent="0" marL="0">
              <a:buNone/>
            </a:pPr>
            <a:r>
              <a:rPr lang="en-US" sz="1500" dirty="0">
                <a:solidFill>
                  <a:srgbClr val="9FC4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-UF drives download → build → archive → clean in one command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640080" y="3529584"/>
            <a:ext cx="502920" cy="502920"/>
          </a:xfrm>
          <a:prstGeom prst="ellipse">
            <a:avLst/>
          </a:prstGeom>
          <a:solidFill>
            <a:srgbClr val="065A82"/>
          </a:solidFill>
          <a:ln/>
        </p:spPr>
      </p:sp>
      <p:sp>
        <p:nvSpPr>
          <p:cNvPr id="14" name="Text 12"/>
          <p:cNvSpPr/>
          <p:nvPr/>
        </p:nvSpPr>
        <p:spPr>
          <a:xfrm>
            <a:off x="640080" y="3529584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1325880" y="3529584"/>
            <a:ext cx="8686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Automate  </a:t>
            </a:r>
            <a:pPr indent="0" marL="0">
              <a:buNone/>
            </a:pPr>
            <a:r>
              <a:rPr lang="en-US" sz="1500" dirty="0">
                <a:solidFill>
                  <a:srgbClr val="9FC4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link to a control record; dscheck dispatches, retries, and reports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640080" y="4242816"/>
            <a:ext cx="502920" cy="502920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17" name="Text 15"/>
          <p:cNvSpPr/>
          <p:nvPr/>
        </p:nvSpPr>
        <p:spPr>
          <a:xfrm>
            <a:off x="640080" y="4242816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1325880" y="4242816"/>
            <a:ext cx="8686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Tune  </a:t>
            </a:r>
            <a:pPr indent="0" marL="0">
              <a:buNone/>
            </a:pPr>
            <a:r>
              <a:rPr lang="en-US" sz="1500" dirty="0">
                <a:solidFill>
                  <a:srgbClr val="9FC4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patterns, valid interval, parallelism, and email controls per record</a:t>
            </a:r>
            <a:endParaRPr lang="en-US" sz="1500" dirty="0"/>
          </a:p>
        </p:txBody>
      </p:sp>
      <p:sp>
        <p:nvSpPr>
          <p:cNvPr id="19" name="Shape 17"/>
          <p:cNvSpPr/>
          <p:nvPr/>
        </p:nvSpPr>
        <p:spPr>
          <a:xfrm>
            <a:off x="640080" y="5257800"/>
            <a:ext cx="10881360" cy="1005840"/>
          </a:xfrm>
          <a:prstGeom prst="roundRect">
            <a:avLst>
              <a:gd name="adj" fmla="val 9091"/>
            </a:avLst>
          </a:prstGeom>
          <a:solidFill>
            <a:srgbClr val="16273D"/>
          </a:solidFill>
          <a:ln w="12700">
            <a:solidFill>
              <a:srgbClr val="2A425C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68680" y="5257800"/>
            <a:ext cx="104241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b="1" dirty="0">
                <a:solidFill>
                  <a:srgbClr val="E89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 more   </a:t>
            </a:r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9FE0C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dsupdt -h &lt;OPT&gt;</a:t>
            </a:r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8FB0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•   full guide: dsupdt.usg   •   docs: gdex-docs-dsupdt.readthedocs.io   •   repo: github.com/NCAR/rda-python-dsupdt</a:t>
            </a:r>
            <a:endParaRPr lang="en-US" sz="13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0E1B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084168" y="320040"/>
            <a:ext cx="4023360" cy="4023360"/>
          </a:xfrm>
          <a:prstGeom prst="ellipse">
            <a:avLst/>
          </a:prstGeom>
          <a:ln w="12700">
            <a:solidFill>
              <a:srgbClr val="1C3A55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87088" y="822960"/>
            <a:ext cx="3017520" cy="3017520"/>
          </a:xfrm>
          <a:prstGeom prst="ellipse">
            <a:avLst/>
          </a:prstGeom>
          <a:ln w="12700">
            <a:solidFill>
              <a:srgbClr val="1C3A55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090008" y="1325880"/>
            <a:ext cx="2011680" cy="2011680"/>
          </a:xfrm>
          <a:prstGeom prst="ellipse">
            <a:avLst/>
          </a:prstGeom>
          <a:ln w="25400">
            <a:solidFill>
              <a:srgbClr val="E8963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592928" y="1828800"/>
            <a:ext cx="1005840" cy="1005840"/>
          </a:xfrm>
          <a:prstGeom prst="ellipse">
            <a:avLst/>
          </a:prstGeom>
          <a:solidFill>
            <a:srgbClr val="E8963A"/>
          </a:solidFill>
          <a:ln/>
        </p:spPr>
      </p:sp>
      <p:sp>
        <p:nvSpPr>
          <p:cNvPr id="6" name="Text 4"/>
          <p:cNvSpPr/>
          <p:nvPr/>
        </p:nvSpPr>
        <p:spPr>
          <a:xfrm>
            <a:off x="5592928" y="1828800"/>
            <a:ext cx="1005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600" b="1" dirty="0">
                <a:solidFill>
                  <a:srgbClr val="0E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?</a:t>
            </a:r>
            <a:endParaRPr lang="en-US" sz="4600" dirty="0"/>
          </a:p>
        </p:txBody>
      </p:sp>
      <p:sp>
        <p:nvSpPr>
          <p:cNvPr id="7" name="Text 5"/>
          <p:cNvSpPr/>
          <p:nvPr/>
        </p:nvSpPr>
        <p:spPr>
          <a:xfrm>
            <a:off x="457200" y="3246120"/>
            <a:ext cx="112745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Any Questions?</a:t>
            </a:r>
            <a:endParaRPr lang="en-US" sz="5200" dirty="0"/>
          </a:p>
        </p:txBody>
      </p:sp>
      <p:sp>
        <p:nvSpPr>
          <p:cNvPr id="8" name="Text 6"/>
          <p:cNvSpPr/>
          <p:nvPr/>
        </p:nvSpPr>
        <p:spPr>
          <a:xfrm>
            <a:off x="457200" y="41605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rgbClr val="8FB0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Thank you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1752448" y="5074920"/>
            <a:ext cx="8686800" cy="822960"/>
          </a:xfrm>
          <a:prstGeom prst="roundRect">
            <a:avLst>
              <a:gd name="adj" fmla="val 11111"/>
            </a:avLst>
          </a:prstGeom>
          <a:solidFill>
            <a:srgbClr val="16273D"/>
          </a:solidFill>
          <a:ln w="12700">
            <a:solidFill>
              <a:srgbClr val="2A425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752448" y="5074920"/>
            <a:ext cx="8686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9FE0C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dsupdt -h &lt;OPT&gt;</a:t>
            </a:r>
            <a:pPr algn="ctr" indent="0" marL="0">
              <a:buNone/>
            </a:pPr>
            <a:r>
              <a:rPr lang="en-US" sz="1300" dirty="0">
                <a:solidFill>
                  <a:srgbClr val="8FB0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•   dsupdt.usg   •   </a:t>
            </a:r>
            <a:pPr algn="ctr" indent="0" marL="0">
              <a:buNone/>
            </a:pPr>
            <a:r>
              <a:rPr lang="en-US" sz="1300" dirty="0">
                <a:solidFill>
                  <a:srgbClr val="8FB0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github.com/NCAR/rda-python-dsupdt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24</Slides>
  <Notes>24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24</vt:i4>
      </vt:variant>
    </vt:vector>
  </HeadingPairs>
  <TitlesOfParts>
    <vt:vector size="2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2026-07-13T19:13:24Z</dcterms:created>
  <dcterms:modified xsi:type="dcterms:W3CDTF">2026-07-13T19:13:24Z</dcterms:modified>
</cp:coreProperties>
</file>